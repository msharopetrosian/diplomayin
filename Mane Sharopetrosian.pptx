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4198" r:id="rId2"/>
  </p:sldMasterIdLst>
  <p:notesMasterIdLst>
    <p:notesMasterId r:id="rId22"/>
  </p:notesMasterIdLst>
  <p:sldIdLst>
    <p:sldId id="309" r:id="rId3"/>
    <p:sldId id="335" r:id="rId4"/>
    <p:sldId id="341" r:id="rId5"/>
    <p:sldId id="351" r:id="rId6"/>
    <p:sldId id="350" r:id="rId7"/>
    <p:sldId id="343" r:id="rId8"/>
    <p:sldId id="342" r:id="rId9"/>
    <p:sldId id="344" r:id="rId10"/>
    <p:sldId id="355" r:id="rId11"/>
    <p:sldId id="362" r:id="rId12"/>
    <p:sldId id="352" r:id="rId13"/>
    <p:sldId id="353" r:id="rId14"/>
    <p:sldId id="354" r:id="rId15"/>
    <p:sldId id="361" r:id="rId16"/>
    <p:sldId id="345" r:id="rId17"/>
    <p:sldId id="349" r:id="rId18"/>
    <p:sldId id="346" r:id="rId19"/>
    <p:sldId id="339" r:id="rId20"/>
    <p:sldId id="340" r:id="rId21"/>
  </p:sldIdLst>
  <p:sldSz cx="9144000" cy="6858000" type="screen4x3"/>
  <p:notesSz cx="6797675" cy="9928225"/>
  <p:custDataLst>
    <p:tags r:id="rId23"/>
  </p:custDataLst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Arial Unicode" pitchFamily="34" charset="0"/>
        <a:ea typeface="+mn-ea"/>
        <a:cs typeface="Arial Unicode" pitchFamily="34" charset="0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Arial Unicode" pitchFamily="34" charset="0"/>
        <a:ea typeface="+mn-ea"/>
        <a:cs typeface="Arial Unicode" pitchFamily="34" charset="0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Arial Unicode" pitchFamily="34" charset="0"/>
        <a:ea typeface="+mn-ea"/>
        <a:cs typeface="Arial Unicode" pitchFamily="34" charset="0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Arial Unicode" pitchFamily="34" charset="0"/>
        <a:ea typeface="+mn-ea"/>
        <a:cs typeface="Arial Unicode" pitchFamily="34" charset="0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Arial Unicode" pitchFamily="34" charset="0"/>
        <a:ea typeface="+mn-ea"/>
        <a:cs typeface="Arial Unicode" pitchFamily="34" charset="0"/>
      </a:defRPr>
    </a:lvl5pPr>
    <a:lvl6pPr marL="2286000" algn="l" defTabSz="914400" rtl="0" eaLnBrk="1" latinLnBrk="0" hangingPunct="1">
      <a:defRPr sz="2000" kern="1200">
        <a:solidFill>
          <a:schemeClr val="bg1"/>
        </a:solidFill>
        <a:latin typeface="Arial Unicode" pitchFamily="34" charset="0"/>
        <a:ea typeface="+mn-ea"/>
        <a:cs typeface="Arial Unicode" pitchFamily="34" charset="0"/>
      </a:defRPr>
    </a:lvl6pPr>
    <a:lvl7pPr marL="2743200" algn="l" defTabSz="914400" rtl="0" eaLnBrk="1" latinLnBrk="0" hangingPunct="1">
      <a:defRPr sz="2000" kern="1200">
        <a:solidFill>
          <a:schemeClr val="bg1"/>
        </a:solidFill>
        <a:latin typeface="Arial Unicode" pitchFamily="34" charset="0"/>
        <a:ea typeface="+mn-ea"/>
        <a:cs typeface="Arial Unicode" pitchFamily="34" charset="0"/>
      </a:defRPr>
    </a:lvl7pPr>
    <a:lvl8pPr marL="3200400" algn="l" defTabSz="914400" rtl="0" eaLnBrk="1" latinLnBrk="0" hangingPunct="1">
      <a:defRPr sz="2000" kern="1200">
        <a:solidFill>
          <a:schemeClr val="bg1"/>
        </a:solidFill>
        <a:latin typeface="Arial Unicode" pitchFamily="34" charset="0"/>
        <a:ea typeface="+mn-ea"/>
        <a:cs typeface="Arial Unicode" pitchFamily="34" charset="0"/>
      </a:defRPr>
    </a:lvl8pPr>
    <a:lvl9pPr marL="3657600" algn="l" defTabSz="914400" rtl="0" eaLnBrk="1" latinLnBrk="0" hangingPunct="1">
      <a:defRPr sz="2000" kern="1200">
        <a:solidFill>
          <a:schemeClr val="bg1"/>
        </a:solidFill>
        <a:latin typeface="Arial Unicode" pitchFamily="34" charset="0"/>
        <a:ea typeface="+mn-ea"/>
        <a:cs typeface="Arial Unicode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21B6B"/>
    <a:srgbClr val="B97B6D"/>
    <a:srgbClr val="95979C"/>
    <a:srgbClr val="B4B6B6"/>
    <a:srgbClr val="E5E5E7"/>
    <a:srgbClr val="D7D9DA"/>
    <a:srgbClr val="DAE8FC"/>
    <a:srgbClr val="F5D6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9B0B1F-7097-4C80-AB45-62F4F750AD2D}" v="76" dt="2026-04-14T20:40:44.1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Средний стиль 1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Светлый стиль 3 -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Светлый стиль 2 -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Светлый стиль 1 -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Светлый стиль 3 -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-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32" autoAdjust="0"/>
    <p:restoredTop sz="87037" autoAdjust="0"/>
  </p:normalViewPr>
  <p:slideViewPr>
    <p:cSldViewPr>
      <p:cViewPr varScale="1">
        <p:scale>
          <a:sx n="55" d="100"/>
          <a:sy n="55" d="100"/>
        </p:scale>
        <p:origin x="1712" y="3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-24736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gs" Target="tags/tag1.xml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e Sharopetrosian" userId="8e65a1233c07c606" providerId="LiveId" clId="{271439AA-6CA9-4A26-B6E1-B90C5C219DC1}"/>
    <pc:docChg chg="undo custSel addSld delSld modSld sldOrd">
      <pc:chgData name="Mane Sharopetrosian" userId="8e65a1233c07c606" providerId="LiveId" clId="{271439AA-6CA9-4A26-B6E1-B90C5C219DC1}" dt="2026-04-14T20:40:44.163" v="1556"/>
      <pc:docMkLst>
        <pc:docMk/>
      </pc:docMkLst>
      <pc:sldChg chg="modSp mod">
        <pc:chgData name="Mane Sharopetrosian" userId="8e65a1233c07c606" providerId="LiveId" clId="{271439AA-6CA9-4A26-B6E1-B90C5C219DC1}" dt="2026-04-14T20:40:44.163" v="1556"/>
        <pc:sldMkLst>
          <pc:docMk/>
          <pc:sldMk cId="0" sldId="339"/>
        </pc:sldMkLst>
        <pc:spChg chg="mod">
          <ac:chgData name="Mane Sharopetrosian" userId="8e65a1233c07c606" providerId="LiveId" clId="{271439AA-6CA9-4A26-B6E1-B90C5C219DC1}" dt="2026-04-14T20:40:44.163" v="1556"/>
          <ac:spMkLst>
            <pc:docMk/>
            <pc:sldMk cId="0" sldId="339"/>
            <ac:spMk id="38915" creationId="{76E10D1B-5D78-2BA1-7553-D05F33E9C3C2}"/>
          </ac:spMkLst>
        </pc:spChg>
      </pc:sldChg>
      <pc:sldChg chg="modSp">
        <pc:chgData name="Mane Sharopetrosian" userId="8e65a1233c07c606" providerId="LiveId" clId="{271439AA-6CA9-4A26-B6E1-B90C5C219DC1}" dt="2026-04-14T20:00:16.628" v="1295" actId="1076"/>
        <pc:sldMkLst>
          <pc:docMk/>
          <pc:sldMk cId="0" sldId="340"/>
        </pc:sldMkLst>
        <pc:spChg chg="mod">
          <ac:chgData name="Mane Sharopetrosian" userId="8e65a1233c07c606" providerId="LiveId" clId="{271439AA-6CA9-4A26-B6E1-B90C5C219DC1}" dt="2026-04-14T20:00:16.628" v="1295" actId="1076"/>
          <ac:spMkLst>
            <pc:docMk/>
            <pc:sldMk cId="0" sldId="340"/>
            <ac:spMk id="39938" creationId="{E6E15E15-5CB7-87C1-96F9-1E669CE94B43}"/>
          </ac:spMkLst>
        </pc:spChg>
      </pc:sldChg>
      <pc:sldChg chg="modSp">
        <pc:chgData name="Mane Sharopetrosian" userId="8e65a1233c07c606" providerId="LiveId" clId="{271439AA-6CA9-4A26-B6E1-B90C5C219DC1}" dt="2026-04-14T17:47:47.241" v="55" actId="1076"/>
        <pc:sldMkLst>
          <pc:docMk/>
          <pc:sldMk cId="0" sldId="341"/>
        </pc:sldMkLst>
        <pc:spChg chg="mod">
          <ac:chgData name="Mane Sharopetrosian" userId="8e65a1233c07c606" providerId="LiveId" clId="{271439AA-6CA9-4A26-B6E1-B90C5C219DC1}" dt="2026-04-14T17:47:47.241" v="55" actId="1076"/>
          <ac:spMkLst>
            <pc:docMk/>
            <pc:sldMk cId="0" sldId="341"/>
            <ac:spMk id="11" creationId="{F1BEF557-3EC2-CC2A-15D9-E684852C296A}"/>
          </ac:spMkLst>
        </pc:spChg>
        <pc:spChg chg="mod">
          <ac:chgData name="Mane Sharopetrosian" userId="8e65a1233c07c606" providerId="LiveId" clId="{271439AA-6CA9-4A26-B6E1-B90C5C219DC1}" dt="2026-04-14T17:47:47.241" v="55" actId="1076"/>
          <ac:spMkLst>
            <pc:docMk/>
            <pc:sldMk cId="0" sldId="341"/>
            <ac:spMk id="9219" creationId="{5BCA3D6D-A403-0680-1455-468F6D5A1D2E}"/>
          </ac:spMkLst>
        </pc:spChg>
        <pc:spChg chg="mod">
          <ac:chgData name="Mane Sharopetrosian" userId="8e65a1233c07c606" providerId="LiveId" clId="{271439AA-6CA9-4A26-B6E1-B90C5C219DC1}" dt="2026-04-14T17:47:47.241" v="55" actId="1076"/>
          <ac:spMkLst>
            <pc:docMk/>
            <pc:sldMk cId="0" sldId="341"/>
            <ac:spMk id="9220" creationId="{167763D6-787F-6CCE-50B5-5E1F79C1FDD5}"/>
          </ac:spMkLst>
        </pc:spChg>
        <pc:spChg chg="mod">
          <ac:chgData name="Mane Sharopetrosian" userId="8e65a1233c07c606" providerId="LiveId" clId="{271439AA-6CA9-4A26-B6E1-B90C5C219DC1}" dt="2026-04-14T17:47:47.241" v="55" actId="1076"/>
          <ac:spMkLst>
            <pc:docMk/>
            <pc:sldMk cId="0" sldId="341"/>
            <ac:spMk id="9221" creationId="{13BE4888-00BE-ECE5-4A5E-0DFF59C80200}"/>
          </ac:spMkLst>
        </pc:spChg>
        <pc:spChg chg="mod">
          <ac:chgData name="Mane Sharopetrosian" userId="8e65a1233c07c606" providerId="LiveId" clId="{271439AA-6CA9-4A26-B6E1-B90C5C219DC1}" dt="2026-04-14T17:47:47.241" v="55" actId="1076"/>
          <ac:spMkLst>
            <pc:docMk/>
            <pc:sldMk cId="0" sldId="341"/>
            <ac:spMk id="9222" creationId="{23216855-C46B-ACB9-2500-8511E9F361A1}"/>
          </ac:spMkLst>
        </pc:spChg>
        <pc:spChg chg="mod">
          <ac:chgData name="Mane Sharopetrosian" userId="8e65a1233c07c606" providerId="LiveId" clId="{271439AA-6CA9-4A26-B6E1-B90C5C219DC1}" dt="2026-04-14T17:47:47.241" v="55" actId="1076"/>
          <ac:spMkLst>
            <pc:docMk/>
            <pc:sldMk cId="0" sldId="341"/>
            <ac:spMk id="9223" creationId="{82E39AE0-B89E-A931-DE37-EA82B594DEC1}"/>
          </ac:spMkLst>
        </pc:spChg>
        <pc:spChg chg="mod">
          <ac:chgData name="Mane Sharopetrosian" userId="8e65a1233c07c606" providerId="LiveId" clId="{271439AA-6CA9-4A26-B6E1-B90C5C219DC1}" dt="2026-04-14T17:47:47.241" v="55" actId="1076"/>
          <ac:spMkLst>
            <pc:docMk/>
            <pc:sldMk cId="0" sldId="341"/>
            <ac:spMk id="9227" creationId="{6362BE80-C9F2-C204-0C63-E9803FABC713}"/>
          </ac:spMkLst>
        </pc:spChg>
        <pc:spChg chg="mod">
          <ac:chgData name="Mane Sharopetrosian" userId="8e65a1233c07c606" providerId="LiveId" clId="{271439AA-6CA9-4A26-B6E1-B90C5C219DC1}" dt="2026-04-14T17:47:47.241" v="55" actId="1076"/>
          <ac:spMkLst>
            <pc:docMk/>
            <pc:sldMk cId="0" sldId="341"/>
            <ac:spMk id="9231" creationId="{0934662D-1BDE-11EB-174C-3B94290D5AAE}"/>
          </ac:spMkLst>
        </pc:spChg>
        <pc:spChg chg="mod">
          <ac:chgData name="Mane Sharopetrosian" userId="8e65a1233c07c606" providerId="LiveId" clId="{271439AA-6CA9-4A26-B6E1-B90C5C219DC1}" dt="2026-04-14T17:47:47.241" v="55" actId="1076"/>
          <ac:spMkLst>
            <pc:docMk/>
            <pc:sldMk cId="0" sldId="341"/>
            <ac:spMk id="9232" creationId="{DAD93AD8-20A5-02DB-8BCD-29852B60D169}"/>
          </ac:spMkLst>
        </pc:spChg>
        <pc:spChg chg="mod">
          <ac:chgData name="Mane Sharopetrosian" userId="8e65a1233c07c606" providerId="LiveId" clId="{271439AA-6CA9-4A26-B6E1-B90C5C219DC1}" dt="2026-04-14T17:47:47.241" v="55" actId="1076"/>
          <ac:spMkLst>
            <pc:docMk/>
            <pc:sldMk cId="0" sldId="341"/>
            <ac:spMk id="9236" creationId="{7E5A2996-3C19-ECFE-0378-0E133EADBAEA}"/>
          </ac:spMkLst>
        </pc:spChg>
      </pc:sldChg>
      <pc:sldChg chg="modSp mod">
        <pc:chgData name="Mane Sharopetrosian" userId="8e65a1233c07c606" providerId="LiveId" clId="{271439AA-6CA9-4A26-B6E1-B90C5C219DC1}" dt="2026-04-14T17:45:01.717" v="44" actId="20577"/>
        <pc:sldMkLst>
          <pc:docMk/>
          <pc:sldMk cId="0" sldId="342"/>
        </pc:sldMkLst>
        <pc:spChg chg="mod">
          <ac:chgData name="Mane Sharopetrosian" userId="8e65a1233c07c606" providerId="LiveId" clId="{271439AA-6CA9-4A26-B6E1-B90C5C219DC1}" dt="2026-04-14T17:45:01.717" v="44" actId="20577"/>
          <ac:spMkLst>
            <pc:docMk/>
            <pc:sldMk cId="0" sldId="342"/>
            <ac:spMk id="19479" creationId="{4B4C2287-8DEB-2E90-3A4E-294C92F184ED}"/>
          </ac:spMkLst>
        </pc:spChg>
      </pc:sldChg>
      <pc:sldChg chg="addSp delSp modSp mod modNotesTx">
        <pc:chgData name="Mane Sharopetrosian" userId="8e65a1233c07c606" providerId="LiveId" clId="{271439AA-6CA9-4A26-B6E1-B90C5C219DC1}" dt="2026-04-14T18:29:58.153" v="328" actId="122"/>
        <pc:sldMkLst>
          <pc:docMk/>
          <pc:sldMk cId="0" sldId="343"/>
        </pc:sldMkLst>
        <pc:spChg chg="add mod">
          <ac:chgData name="Mane Sharopetrosian" userId="8e65a1233c07c606" providerId="LiveId" clId="{271439AA-6CA9-4A26-B6E1-B90C5C219DC1}" dt="2026-04-14T18:21:03.387" v="273" actId="1076"/>
          <ac:spMkLst>
            <pc:docMk/>
            <pc:sldMk cId="0" sldId="343"/>
            <ac:spMk id="5" creationId="{953E1725-48DE-C04A-6E9F-C27686C32971}"/>
          </ac:spMkLst>
        </pc:spChg>
        <pc:spChg chg="mod">
          <ac:chgData name="Mane Sharopetrosian" userId="8e65a1233c07c606" providerId="LiveId" clId="{271439AA-6CA9-4A26-B6E1-B90C5C219DC1}" dt="2026-04-14T17:46:31.821" v="53" actId="20577"/>
          <ac:spMkLst>
            <pc:docMk/>
            <pc:sldMk cId="0" sldId="343"/>
            <ac:spMk id="13314" creationId="{F4D7B0D1-6A9C-2367-7D4B-6E9BE209426F}"/>
          </ac:spMkLst>
        </pc:spChg>
        <pc:spChg chg="mod">
          <ac:chgData name="Mane Sharopetrosian" userId="8e65a1233c07c606" providerId="LiveId" clId="{271439AA-6CA9-4A26-B6E1-B90C5C219DC1}" dt="2026-04-14T18:29:58.153" v="328" actId="122"/>
          <ac:spMkLst>
            <pc:docMk/>
            <pc:sldMk cId="0" sldId="343"/>
            <ac:spMk id="13332" creationId="{7A452B4D-2108-C433-41C4-E1EC2B9B6252}"/>
          </ac:spMkLst>
        </pc:spChg>
        <pc:spChg chg="mod">
          <ac:chgData name="Mane Sharopetrosian" userId="8e65a1233c07c606" providerId="LiveId" clId="{271439AA-6CA9-4A26-B6E1-B90C5C219DC1}" dt="2026-04-14T18:17:34.831" v="220" actId="1076"/>
          <ac:spMkLst>
            <pc:docMk/>
            <pc:sldMk cId="0" sldId="343"/>
            <ac:spMk id="13333" creationId="{85A091B6-B3C9-01C3-31FD-B3FFCE2B02BC}"/>
          </ac:spMkLst>
        </pc:spChg>
        <pc:spChg chg="del mod">
          <ac:chgData name="Mane Sharopetrosian" userId="8e65a1233c07c606" providerId="LiveId" clId="{271439AA-6CA9-4A26-B6E1-B90C5C219DC1}" dt="2026-04-14T18:14:40.235" v="210" actId="478"/>
          <ac:spMkLst>
            <pc:docMk/>
            <pc:sldMk cId="0" sldId="343"/>
            <ac:spMk id="13336" creationId="{05D506B7-BD20-861A-F9EB-1E8E6B418636}"/>
          </ac:spMkLst>
        </pc:spChg>
        <pc:graphicFrameChg chg="mod modGraphic">
          <ac:chgData name="Mane Sharopetrosian" userId="8e65a1233c07c606" providerId="LiveId" clId="{271439AA-6CA9-4A26-B6E1-B90C5C219DC1}" dt="2026-04-14T18:20:33.985" v="266" actId="1036"/>
          <ac:graphicFrameMkLst>
            <pc:docMk/>
            <pc:sldMk cId="0" sldId="343"/>
            <ac:graphicFrameMk id="2" creationId="{992E7288-AC8A-4E2F-BF73-3370EE9ECAE5}"/>
          </ac:graphicFrameMkLst>
        </pc:graphicFrameChg>
        <pc:picChg chg="add mod">
          <ac:chgData name="Mane Sharopetrosian" userId="8e65a1233c07c606" providerId="LiveId" clId="{271439AA-6CA9-4A26-B6E1-B90C5C219DC1}" dt="2026-04-14T18:19:34.145" v="258" actId="1076"/>
          <ac:picMkLst>
            <pc:docMk/>
            <pc:sldMk cId="0" sldId="343"/>
            <ac:picMk id="4" creationId="{EE62421F-9D64-2AC1-5685-B9A9E91B3DBA}"/>
          </ac:picMkLst>
        </pc:picChg>
        <pc:picChg chg="del">
          <ac:chgData name="Mane Sharopetrosian" userId="8e65a1233c07c606" providerId="LiveId" clId="{271439AA-6CA9-4A26-B6E1-B90C5C219DC1}" dt="2026-04-14T18:14:33.549" v="207" actId="478"/>
          <ac:picMkLst>
            <pc:docMk/>
            <pc:sldMk cId="0" sldId="343"/>
            <ac:picMk id="13334" creationId="{95A95937-9EDB-9522-E66D-15D4139F694F}"/>
          </ac:picMkLst>
        </pc:picChg>
        <pc:picChg chg="del">
          <ac:chgData name="Mane Sharopetrosian" userId="8e65a1233c07c606" providerId="LiveId" clId="{271439AA-6CA9-4A26-B6E1-B90C5C219DC1}" dt="2026-04-14T18:14:32.051" v="206" actId="478"/>
          <ac:picMkLst>
            <pc:docMk/>
            <pc:sldMk cId="0" sldId="343"/>
            <ac:picMk id="13335" creationId="{F383C42A-5E98-A8C2-9E27-9B44277151F3}"/>
          </ac:picMkLst>
        </pc:picChg>
        <pc:cxnChg chg="del">
          <ac:chgData name="Mane Sharopetrosian" userId="8e65a1233c07c606" providerId="LiveId" clId="{271439AA-6CA9-4A26-B6E1-B90C5C219DC1}" dt="2026-04-14T18:14:37.243" v="208" actId="478"/>
          <ac:cxnSpMkLst>
            <pc:docMk/>
            <pc:sldMk cId="0" sldId="343"/>
            <ac:cxnSpMk id="13337" creationId="{C3B285C8-1791-B78D-A926-9B61B4693C01}"/>
          </ac:cxnSpMkLst>
        </pc:cxnChg>
      </pc:sldChg>
      <pc:sldChg chg="addSp delSp modSp mod">
        <pc:chgData name="Mane Sharopetrosian" userId="8e65a1233c07c606" providerId="LiveId" clId="{271439AA-6CA9-4A26-B6E1-B90C5C219DC1}" dt="2026-04-14T18:33:10.024" v="332" actId="1076"/>
        <pc:sldMkLst>
          <pc:docMk/>
          <pc:sldMk cId="0" sldId="344"/>
        </pc:sldMkLst>
        <pc:spChg chg="mod">
          <ac:chgData name="Mane Sharopetrosian" userId="8e65a1233c07c606" providerId="LiveId" clId="{271439AA-6CA9-4A26-B6E1-B90C5C219DC1}" dt="2026-04-14T18:28:01.579" v="315" actId="3626"/>
          <ac:spMkLst>
            <pc:docMk/>
            <pc:sldMk cId="0" sldId="344"/>
            <ac:spMk id="21507" creationId="{134B4A92-747A-D194-9262-DA15AACCF741}"/>
          </ac:spMkLst>
        </pc:spChg>
        <pc:spChg chg="mod">
          <ac:chgData name="Mane Sharopetrosian" userId="8e65a1233c07c606" providerId="LiveId" clId="{271439AA-6CA9-4A26-B6E1-B90C5C219DC1}" dt="2026-04-14T18:24:40.697" v="308" actId="20577"/>
          <ac:spMkLst>
            <pc:docMk/>
            <pc:sldMk cId="0" sldId="344"/>
            <ac:spMk id="21509" creationId="{FBEE05CE-1B15-E025-67E3-432A84F201F1}"/>
          </ac:spMkLst>
        </pc:spChg>
        <pc:grpChg chg="del">
          <ac:chgData name="Mane Sharopetrosian" userId="8e65a1233c07c606" providerId="LiveId" clId="{271439AA-6CA9-4A26-B6E1-B90C5C219DC1}" dt="2026-04-14T18:23:08.553" v="275" actId="478"/>
          <ac:grpSpMkLst>
            <pc:docMk/>
            <pc:sldMk cId="0" sldId="344"/>
            <ac:grpSpMk id="21510" creationId="{33633ED3-6A70-756E-C38A-958B3A5B6D81}"/>
          </ac:grpSpMkLst>
        </pc:grpChg>
        <pc:picChg chg="add del mod">
          <ac:chgData name="Mane Sharopetrosian" userId="8e65a1233c07c606" providerId="LiveId" clId="{271439AA-6CA9-4A26-B6E1-B90C5C219DC1}" dt="2026-04-14T18:27:21.270" v="309" actId="478"/>
          <ac:picMkLst>
            <pc:docMk/>
            <pc:sldMk cId="0" sldId="344"/>
            <ac:picMk id="3" creationId="{B6FF646B-2C84-17E1-C89A-A5BD7850B603}"/>
          </ac:picMkLst>
        </pc:picChg>
        <pc:picChg chg="add del mod modCrop">
          <ac:chgData name="Mane Sharopetrosian" userId="8e65a1233c07c606" providerId="LiveId" clId="{271439AA-6CA9-4A26-B6E1-B90C5C219DC1}" dt="2026-04-14T18:32:57.654" v="329" actId="478"/>
          <ac:picMkLst>
            <pc:docMk/>
            <pc:sldMk cId="0" sldId="344"/>
            <ac:picMk id="5" creationId="{F7F43817-5275-858E-6E25-1A2F91FEB7A4}"/>
          </ac:picMkLst>
        </pc:picChg>
        <pc:picChg chg="add mod">
          <ac:chgData name="Mane Sharopetrosian" userId="8e65a1233c07c606" providerId="LiveId" clId="{271439AA-6CA9-4A26-B6E1-B90C5C219DC1}" dt="2026-04-14T18:33:10.024" v="332" actId="1076"/>
          <ac:picMkLst>
            <pc:docMk/>
            <pc:sldMk cId="0" sldId="344"/>
            <ac:picMk id="7" creationId="{1791DCA7-ADC5-476B-5447-B2F1BB586DC5}"/>
          </ac:picMkLst>
        </pc:picChg>
      </pc:sldChg>
      <pc:sldChg chg="addSp delSp modSp mod">
        <pc:chgData name="Mane Sharopetrosian" userId="8e65a1233c07c606" providerId="LiveId" clId="{271439AA-6CA9-4A26-B6E1-B90C5C219DC1}" dt="2026-04-14T20:30:24.867" v="1553" actId="1076"/>
        <pc:sldMkLst>
          <pc:docMk/>
          <pc:sldMk cId="0" sldId="345"/>
        </pc:sldMkLst>
        <pc:spChg chg="add mod">
          <ac:chgData name="Mane Sharopetrosian" userId="8e65a1233c07c606" providerId="LiveId" clId="{271439AA-6CA9-4A26-B6E1-B90C5C219DC1}" dt="2026-04-14T20:30:18.360" v="1552" actId="1076"/>
          <ac:spMkLst>
            <pc:docMk/>
            <pc:sldMk cId="0" sldId="345"/>
            <ac:spMk id="6" creationId="{057FCD4B-3CF7-F577-08D4-107533418BD9}"/>
          </ac:spMkLst>
        </pc:spChg>
        <pc:spChg chg="add mod">
          <ac:chgData name="Mane Sharopetrosian" userId="8e65a1233c07c606" providerId="LiveId" clId="{271439AA-6CA9-4A26-B6E1-B90C5C219DC1}" dt="2026-04-14T20:17:24.587" v="1459"/>
          <ac:spMkLst>
            <pc:docMk/>
            <pc:sldMk cId="0" sldId="345"/>
            <ac:spMk id="7" creationId="{C45DE02F-C3E8-4945-0D29-C2AF1D0EEAF5}"/>
          </ac:spMkLst>
        </pc:spChg>
        <pc:picChg chg="add mod">
          <ac:chgData name="Mane Sharopetrosian" userId="8e65a1233c07c606" providerId="LiveId" clId="{271439AA-6CA9-4A26-B6E1-B90C5C219DC1}" dt="2026-04-14T20:16:42.878" v="1456" actId="1035"/>
          <ac:picMkLst>
            <pc:docMk/>
            <pc:sldMk cId="0" sldId="345"/>
            <ac:picMk id="3" creationId="{8CA2B8EE-176E-000A-BC4B-0C88C338E127}"/>
          </ac:picMkLst>
        </pc:picChg>
        <pc:picChg chg="add mod modCrop">
          <ac:chgData name="Mane Sharopetrosian" userId="8e65a1233c07c606" providerId="LiveId" clId="{271439AA-6CA9-4A26-B6E1-B90C5C219DC1}" dt="2026-04-14T20:30:24.867" v="1553" actId="1076"/>
          <ac:picMkLst>
            <pc:docMk/>
            <pc:sldMk cId="0" sldId="345"/>
            <ac:picMk id="5" creationId="{6F263D29-7B9E-F81D-57E0-321B3FA19C02}"/>
          </ac:picMkLst>
        </pc:picChg>
        <pc:picChg chg="del">
          <ac:chgData name="Mane Sharopetrosian" userId="8e65a1233c07c606" providerId="LiveId" clId="{271439AA-6CA9-4A26-B6E1-B90C5C219DC1}" dt="2026-04-14T20:04:02.896" v="1313" actId="478"/>
          <ac:picMkLst>
            <pc:docMk/>
            <pc:sldMk cId="0" sldId="345"/>
            <ac:picMk id="35843" creationId="{07FD20DB-C184-E14C-DDAD-E97FC2C1F050}"/>
          </ac:picMkLst>
        </pc:picChg>
        <pc:picChg chg="del">
          <ac:chgData name="Mane Sharopetrosian" userId="8e65a1233c07c606" providerId="LiveId" clId="{271439AA-6CA9-4A26-B6E1-B90C5C219DC1}" dt="2026-04-14T20:04:04.407" v="1314" actId="478"/>
          <ac:picMkLst>
            <pc:docMk/>
            <pc:sldMk cId="0" sldId="345"/>
            <ac:picMk id="35844" creationId="{4CAB4694-4E53-A6FB-CD23-A16C66A165F8}"/>
          </ac:picMkLst>
        </pc:picChg>
      </pc:sldChg>
      <pc:sldChg chg="modSp mod">
        <pc:chgData name="Mane Sharopetrosian" userId="8e65a1233c07c606" providerId="LiveId" clId="{271439AA-6CA9-4A26-B6E1-B90C5C219DC1}" dt="2026-04-14T20:08:44.483" v="1329" actId="1076"/>
        <pc:sldMkLst>
          <pc:docMk/>
          <pc:sldMk cId="0" sldId="346"/>
        </pc:sldMkLst>
        <pc:spChg chg="mod">
          <ac:chgData name="Mane Sharopetrosian" userId="8e65a1233c07c606" providerId="LiveId" clId="{271439AA-6CA9-4A26-B6E1-B90C5C219DC1}" dt="2026-04-14T20:08:44.483" v="1329" actId="1076"/>
          <ac:spMkLst>
            <pc:docMk/>
            <pc:sldMk cId="0" sldId="346"/>
            <ac:spMk id="3" creationId="{1BE87C18-26DD-831F-04B2-DDAE7F013E6E}"/>
          </ac:spMkLst>
        </pc:spChg>
      </pc:sldChg>
      <pc:sldChg chg="addSp delSp modSp mod">
        <pc:chgData name="Mane Sharopetrosian" userId="8e65a1233c07c606" providerId="LiveId" clId="{271439AA-6CA9-4A26-B6E1-B90C5C219DC1}" dt="2026-04-14T20:30:00.302" v="1550" actId="120"/>
        <pc:sldMkLst>
          <pc:docMk/>
          <pc:sldMk cId="0" sldId="349"/>
        </pc:sldMkLst>
        <pc:spChg chg="add mod">
          <ac:chgData name="Mane Sharopetrosian" userId="8e65a1233c07c606" providerId="LiveId" clId="{271439AA-6CA9-4A26-B6E1-B90C5C219DC1}" dt="2026-04-14T20:30:00.302" v="1550" actId="120"/>
          <ac:spMkLst>
            <pc:docMk/>
            <pc:sldMk cId="0" sldId="349"/>
            <ac:spMk id="7" creationId="{5CF627F0-BAE8-FA85-89DA-800A30715797}"/>
          </ac:spMkLst>
        </pc:spChg>
        <pc:picChg chg="add del mod">
          <ac:chgData name="Mane Sharopetrosian" userId="8e65a1233c07c606" providerId="LiveId" clId="{271439AA-6CA9-4A26-B6E1-B90C5C219DC1}" dt="2026-04-14T20:22:18.879" v="1464" actId="478"/>
          <ac:picMkLst>
            <pc:docMk/>
            <pc:sldMk cId="0" sldId="349"/>
            <ac:picMk id="3" creationId="{A2A1DCF3-5BAE-5564-B048-E3CEF78A8ECE}"/>
          </ac:picMkLst>
        </pc:picChg>
        <pc:picChg chg="add mod modCrop">
          <ac:chgData name="Mane Sharopetrosian" userId="8e65a1233c07c606" providerId="LiveId" clId="{271439AA-6CA9-4A26-B6E1-B90C5C219DC1}" dt="2026-04-14T20:26:10.227" v="1479" actId="1076"/>
          <ac:picMkLst>
            <pc:docMk/>
            <pc:sldMk cId="0" sldId="349"/>
            <ac:picMk id="5" creationId="{2CC30A5D-990C-C0D9-B539-949F0B8AAB18}"/>
          </ac:picMkLst>
        </pc:picChg>
        <pc:picChg chg="add mod modCrop">
          <ac:chgData name="Mane Sharopetrosian" userId="8e65a1233c07c606" providerId="LiveId" clId="{271439AA-6CA9-4A26-B6E1-B90C5C219DC1}" dt="2026-04-14T20:26:33.649" v="1482" actId="1076"/>
          <ac:picMkLst>
            <pc:docMk/>
            <pc:sldMk cId="0" sldId="349"/>
            <ac:picMk id="6" creationId="{7035C6A6-D3E2-C00F-DFE8-7B7C35FD835E}"/>
          </ac:picMkLst>
        </pc:picChg>
        <pc:picChg chg="del">
          <ac:chgData name="Mane Sharopetrosian" userId="8e65a1233c07c606" providerId="LiveId" clId="{271439AA-6CA9-4A26-B6E1-B90C5C219DC1}" dt="2026-04-14T20:21:53.879" v="1460" actId="478"/>
          <ac:picMkLst>
            <pc:docMk/>
            <pc:sldMk cId="0" sldId="349"/>
            <ac:picMk id="36867" creationId="{4BA88BC9-97C5-AEEE-16BF-3B4E85FF1E75}"/>
          </ac:picMkLst>
        </pc:picChg>
      </pc:sldChg>
      <pc:sldChg chg="modSp mod ord modNotesTx">
        <pc:chgData name="Mane Sharopetrosian" userId="8e65a1233c07c606" providerId="LiveId" clId="{271439AA-6CA9-4A26-B6E1-B90C5C219DC1}" dt="2026-04-14T18:08:19.746" v="129" actId="20577"/>
        <pc:sldMkLst>
          <pc:docMk/>
          <pc:sldMk cId="0" sldId="350"/>
        </pc:sldMkLst>
        <pc:spChg chg="mod">
          <ac:chgData name="Mane Sharopetrosian" userId="8e65a1233c07c606" providerId="LiveId" clId="{271439AA-6CA9-4A26-B6E1-B90C5C219DC1}" dt="2026-04-14T17:46:24.701" v="49" actId="20577"/>
          <ac:spMkLst>
            <pc:docMk/>
            <pc:sldMk cId="0" sldId="350"/>
            <ac:spMk id="15362" creationId="{85EAC82D-EA2B-9A30-97C2-426E9457A4A2}"/>
          </ac:spMkLst>
        </pc:spChg>
      </pc:sldChg>
      <pc:sldChg chg="modNotesTx">
        <pc:chgData name="Mane Sharopetrosian" userId="8e65a1233c07c606" providerId="LiveId" clId="{271439AA-6CA9-4A26-B6E1-B90C5C219DC1}" dt="2026-04-14T19:57:39.712" v="1278" actId="20577"/>
        <pc:sldMkLst>
          <pc:docMk/>
          <pc:sldMk cId="0" sldId="352"/>
        </pc:sldMkLst>
      </pc:sldChg>
      <pc:sldChg chg="addSp delSp modSp mod modNotesTx">
        <pc:chgData name="Mane Sharopetrosian" userId="8e65a1233c07c606" providerId="LiveId" clId="{271439AA-6CA9-4A26-B6E1-B90C5C219DC1}" dt="2026-04-14T19:59:25.788" v="1292" actId="1582"/>
        <pc:sldMkLst>
          <pc:docMk/>
          <pc:sldMk cId="0" sldId="353"/>
        </pc:sldMkLst>
        <pc:picChg chg="mod">
          <ac:chgData name="Mane Sharopetrosian" userId="8e65a1233c07c606" providerId="LiveId" clId="{271439AA-6CA9-4A26-B6E1-B90C5C219DC1}" dt="2026-04-14T19:58:03.145" v="1283" actId="14100"/>
          <ac:picMkLst>
            <pc:docMk/>
            <pc:sldMk cId="0" sldId="353"/>
            <ac:picMk id="29699" creationId="{64AA603A-45CA-0583-D628-EBFBAED9A9D7}"/>
          </ac:picMkLst>
        </pc:picChg>
        <pc:picChg chg="mod">
          <ac:chgData name="Mane Sharopetrosian" userId="8e65a1233c07c606" providerId="LiveId" clId="{271439AA-6CA9-4A26-B6E1-B90C5C219DC1}" dt="2026-04-14T19:58:12.443" v="1286" actId="1076"/>
          <ac:picMkLst>
            <pc:docMk/>
            <pc:sldMk cId="0" sldId="353"/>
            <ac:picMk id="29700" creationId="{7C7F2612-130A-8FC7-C846-54DFFF82B200}"/>
          </ac:picMkLst>
        </pc:picChg>
        <pc:cxnChg chg="add mod">
          <ac:chgData name="Mane Sharopetrosian" userId="8e65a1233c07c606" providerId="LiveId" clId="{271439AA-6CA9-4A26-B6E1-B90C5C219DC1}" dt="2026-04-14T19:59:25.788" v="1292" actId="1582"/>
          <ac:cxnSpMkLst>
            <pc:docMk/>
            <pc:sldMk cId="0" sldId="353"/>
            <ac:cxnSpMk id="4" creationId="{3EC29C96-B0CE-0034-992F-7CE0E68C9B9A}"/>
          </ac:cxnSpMkLst>
        </pc:cxnChg>
        <pc:cxnChg chg="del mod">
          <ac:chgData name="Mane Sharopetrosian" userId="8e65a1233c07c606" providerId="LiveId" clId="{271439AA-6CA9-4A26-B6E1-B90C5C219DC1}" dt="2026-04-14T19:58:26.530" v="1288" actId="478"/>
          <ac:cxnSpMkLst>
            <pc:docMk/>
            <pc:sldMk cId="0" sldId="353"/>
            <ac:cxnSpMk id="29701" creationId="{AF4AEAFB-E8E0-6DFF-B47C-C3CC99E994E5}"/>
          </ac:cxnSpMkLst>
        </pc:cxnChg>
      </pc:sldChg>
      <pc:sldChg chg="modNotesTx">
        <pc:chgData name="Mane Sharopetrosian" userId="8e65a1233c07c606" providerId="LiveId" clId="{271439AA-6CA9-4A26-B6E1-B90C5C219DC1}" dt="2026-04-14T19:59:44.723" v="1293" actId="20577"/>
        <pc:sldMkLst>
          <pc:docMk/>
          <pc:sldMk cId="0" sldId="354"/>
        </pc:sldMkLst>
      </pc:sldChg>
      <pc:sldChg chg="addSp modSp">
        <pc:chgData name="Mane Sharopetrosian" userId="8e65a1233c07c606" providerId="LiveId" clId="{271439AA-6CA9-4A26-B6E1-B90C5C219DC1}" dt="2026-04-14T19:55:08.465" v="1262" actId="1035"/>
        <pc:sldMkLst>
          <pc:docMk/>
          <pc:sldMk cId="0" sldId="355"/>
        </pc:sldMkLst>
        <pc:spChg chg="add mod">
          <ac:chgData name="Mane Sharopetrosian" userId="8e65a1233c07c606" providerId="LiveId" clId="{271439AA-6CA9-4A26-B6E1-B90C5C219DC1}" dt="2026-04-14T19:55:08.465" v="1262" actId="1035"/>
          <ac:spMkLst>
            <pc:docMk/>
            <pc:sldMk cId="0" sldId="355"/>
            <ac:spMk id="2" creationId="{BD1D21CB-AF9C-1C26-9913-CEB7E67F9033}"/>
          </ac:spMkLst>
        </pc:spChg>
      </pc:sldChg>
      <pc:sldChg chg="del">
        <pc:chgData name="Mane Sharopetrosian" userId="8e65a1233c07c606" providerId="LiveId" clId="{271439AA-6CA9-4A26-B6E1-B90C5C219DC1}" dt="2026-04-14T18:35:18.678" v="333" actId="2696"/>
        <pc:sldMkLst>
          <pc:docMk/>
          <pc:sldMk cId="0" sldId="360"/>
        </pc:sldMkLst>
      </pc:sldChg>
      <pc:sldChg chg="modNotesTx">
        <pc:chgData name="Mane Sharopetrosian" userId="8e65a1233c07c606" providerId="LiveId" clId="{271439AA-6CA9-4A26-B6E1-B90C5C219DC1}" dt="2026-04-14T19:59:53.849" v="1294" actId="20577"/>
        <pc:sldMkLst>
          <pc:docMk/>
          <pc:sldMk cId="0" sldId="361"/>
        </pc:sldMkLst>
      </pc:sldChg>
      <pc:sldChg chg="addSp delSp modSp add mod modNotesTx">
        <pc:chgData name="Mane Sharopetrosian" userId="8e65a1233c07c606" providerId="LiveId" clId="{271439AA-6CA9-4A26-B6E1-B90C5C219DC1}" dt="2026-04-14T19:57:27.568" v="1277" actId="1076"/>
        <pc:sldMkLst>
          <pc:docMk/>
          <pc:sldMk cId="1772881105" sldId="362"/>
        </pc:sldMkLst>
        <pc:spChg chg="add mod">
          <ac:chgData name="Mane Sharopetrosian" userId="8e65a1233c07c606" providerId="LiveId" clId="{271439AA-6CA9-4A26-B6E1-B90C5C219DC1}" dt="2026-04-14T19:56:10.904" v="1268" actId="1076"/>
          <ac:spMkLst>
            <pc:docMk/>
            <pc:sldMk cId="1772881105" sldId="362"/>
            <ac:spMk id="4" creationId="{FD1AC65F-944B-4861-9A99-44B874FB14B9}"/>
          </ac:spMkLst>
        </pc:spChg>
        <pc:spChg chg="add del mod">
          <ac:chgData name="Mane Sharopetrosian" userId="8e65a1233c07c606" providerId="LiveId" clId="{271439AA-6CA9-4A26-B6E1-B90C5C219DC1}" dt="2026-04-14T19:49:42.998" v="768" actId="478"/>
          <ac:spMkLst>
            <pc:docMk/>
            <pc:sldMk cId="1772881105" sldId="362"/>
            <ac:spMk id="6" creationId="{D77BED3C-0ACF-62A9-301D-350F8BB9F5A4}"/>
          </ac:spMkLst>
        </pc:spChg>
        <pc:spChg chg="add mod">
          <ac:chgData name="Mane Sharopetrosian" userId="8e65a1233c07c606" providerId="LiveId" clId="{271439AA-6CA9-4A26-B6E1-B90C5C219DC1}" dt="2026-04-14T19:53:57.878" v="1257" actId="1076"/>
          <ac:spMkLst>
            <pc:docMk/>
            <pc:sldMk cId="1772881105" sldId="362"/>
            <ac:spMk id="7" creationId="{D5566B30-8BC1-B09B-6A4A-8A0B5BDE68BF}"/>
          </ac:spMkLst>
        </pc:spChg>
        <pc:spChg chg="add mod">
          <ac:chgData name="Mane Sharopetrosian" userId="8e65a1233c07c606" providerId="LiveId" clId="{271439AA-6CA9-4A26-B6E1-B90C5C219DC1}" dt="2026-04-14T19:57:27.568" v="1277" actId="1076"/>
          <ac:spMkLst>
            <pc:docMk/>
            <pc:sldMk cId="1772881105" sldId="362"/>
            <ac:spMk id="8" creationId="{13A571D8-07D8-B798-D7D2-74197783580E}"/>
          </ac:spMkLst>
        </pc:spChg>
        <pc:spChg chg="mod">
          <ac:chgData name="Mane Sharopetrosian" userId="8e65a1233c07c606" providerId="LiveId" clId="{271439AA-6CA9-4A26-B6E1-B90C5C219DC1}" dt="2026-04-14T18:35:44.688" v="381" actId="20577"/>
          <ac:spMkLst>
            <pc:docMk/>
            <pc:sldMk cId="1772881105" sldId="362"/>
            <ac:spMk id="23554" creationId="{C82CC6D9-738A-7B9C-BA9C-8F7347162A54}"/>
          </ac:spMkLst>
        </pc:spChg>
        <pc:graphicFrameChg chg="add mod modGraphic">
          <ac:chgData name="Mane Sharopetrosian" userId="8e65a1233c07c606" providerId="LiveId" clId="{271439AA-6CA9-4A26-B6E1-B90C5C219DC1}" dt="2026-04-14T19:04:41.799" v="454" actId="14100"/>
          <ac:graphicFrameMkLst>
            <pc:docMk/>
            <pc:sldMk cId="1772881105" sldId="362"/>
            <ac:graphicFrameMk id="2" creationId="{06B441C7-7C9A-8480-6348-C53D4C332B6D}"/>
          </ac:graphicFrameMkLst>
        </pc:graphicFrameChg>
        <pc:graphicFrameChg chg="add del mod modGraphic">
          <ac:chgData name="Mane Sharopetrosian" userId="8e65a1233c07c606" providerId="LiveId" clId="{271439AA-6CA9-4A26-B6E1-B90C5C219DC1}" dt="2026-04-14T19:24:11.589" v="486" actId="21"/>
          <ac:graphicFrameMkLst>
            <pc:docMk/>
            <pc:sldMk cId="1772881105" sldId="362"/>
            <ac:graphicFrameMk id="3" creationId="{9F6916F1-C167-F4E1-851D-68E8042B0765}"/>
          </ac:graphicFrameMkLst>
        </pc:graphicFrameChg>
        <pc:picChg chg="add mod modCrop">
          <ac:chgData name="Mane Sharopetrosian" userId="8e65a1233c07c606" providerId="LiveId" clId="{271439AA-6CA9-4A26-B6E1-B90C5C219DC1}" dt="2026-04-14T19:20:11.851" v="468" actId="1076"/>
          <ac:picMkLst>
            <pc:docMk/>
            <pc:sldMk cId="1772881105" sldId="362"/>
            <ac:picMk id="5" creationId="{714CF6BE-30F0-EE11-B87F-16A3D6678397}"/>
          </ac:picMkLst>
        </pc:picChg>
        <pc:picChg chg="del">
          <ac:chgData name="Mane Sharopetrosian" userId="8e65a1233c07c606" providerId="LiveId" clId="{271439AA-6CA9-4A26-B6E1-B90C5C219DC1}" dt="2026-04-14T18:36:03.224" v="383" actId="478"/>
          <ac:picMkLst>
            <pc:docMk/>
            <pc:sldMk cId="1772881105" sldId="362"/>
            <ac:picMk id="23555" creationId="{B0F204D2-B2EE-BB50-3FA4-B72A8821EDD6}"/>
          </ac:picMkLst>
        </pc:picChg>
      </pc:sldChg>
      <pc:sldChg chg="del">
        <pc:chgData name="Mane Sharopetrosian" userId="8e65a1233c07c606" providerId="LiveId" clId="{271439AA-6CA9-4A26-B6E1-B90C5C219DC1}" dt="2026-04-14T18:21:29.547" v="274" actId="2696"/>
        <pc:sldMkLst>
          <pc:docMk/>
          <pc:sldMk cId="0" sldId="363"/>
        </pc:sldMkLst>
      </pc:sldChg>
      <pc:sldChg chg="addSp delSp modSp add del mod">
        <pc:chgData name="Mane Sharopetrosian" userId="8e65a1233c07c606" providerId="LiveId" clId="{271439AA-6CA9-4A26-B6E1-B90C5C219DC1}" dt="2026-04-14T18:38:46.170" v="445" actId="47"/>
        <pc:sldMkLst>
          <pc:docMk/>
          <pc:sldMk cId="3714995432" sldId="363"/>
        </pc:sldMkLst>
        <pc:spChg chg="mod">
          <ac:chgData name="Mane Sharopetrosian" userId="8e65a1233c07c606" providerId="LiveId" clId="{271439AA-6CA9-4A26-B6E1-B90C5C219DC1}" dt="2026-04-14T18:35:58.605" v="382"/>
          <ac:spMkLst>
            <pc:docMk/>
            <pc:sldMk cId="3714995432" sldId="363"/>
            <ac:spMk id="23554" creationId="{DE422E3B-38A4-2915-C0B2-E2C5BBC00971}"/>
          </ac:spMkLst>
        </pc:spChg>
        <pc:picChg chg="add del mod">
          <ac:chgData name="Mane Sharopetrosian" userId="8e65a1233c07c606" providerId="LiveId" clId="{271439AA-6CA9-4A26-B6E1-B90C5C219DC1}" dt="2026-04-14T18:37:02.549" v="386" actId="931"/>
          <ac:picMkLst>
            <pc:docMk/>
            <pc:sldMk cId="3714995432" sldId="363"/>
            <ac:picMk id="3" creationId="{781BECDE-4AB9-D24A-9728-ABA87C85C25F}"/>
          </ac:picMkLst>
        </pc:picChg>
        <pc:picChg chg="add del mod">
          <ac:chgData name="Mane Sharopetrosian" userId="8e65a1233c07c606" providerId="LiveId" clId="{271439AA-6CA9-4A26-B6E1-B90C5C219DC1}" dt="2026-04-14T18:37:35.247" v="392" actId="21"/>
          <ac:picMkLst>
            <pc:docMk/>
            <pc:sldMk cId="3714995432" sldId="363"/>
            <ac:picMk id="5" creationId="{714CF6BE-30F0-EE11-B87F-16A3D6678397}"/>
          </ac:picMkLst>
        </pc:picChg>
        <pc:picChg chg="del">
          <ac:chgData name="Mane Sharopetrosian" userId="8e65a1233c07c606" providerId="LiveId" clId="{271439AA-6CA9-4A26-B6E1-B90C5C219DC1}" dt="2026-04-14T18:36:06.374" v="384" actId="478"/>
          <ac:picMkLst>
            <pc:docMk/>
            <pc:sldMk cId="3714995432" sldId="363"/>
            <ac:picMk id="23555" creationId="{25648600-BADF-7A99-1894-D5986BAE1A6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">
            <a:extLst>
              <a:ext uri="{FF2B5EF4-FFF2-40B4-BE49-F238E27FC236}">
                <a16:creationId xmlns:a16="http://schemas.microsoft.com/office/drawing/2014/main" id="{60C625F4-81BB-438B-9477-CB53C50C5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797675" cy="992822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ru-RU">
              <a:cs typeface="Lucida Sans Unicode" panose="020B0602030504020204" pitchFamily="34" charset="0"/>
            </a:endParaRPr>
          </a:p>
        </p:txBody>
      </p:sp>
      <p:sp>
        <p:nvSpPr>
          <p:cNvPr id="4099" name="AutoShape 2">
            <a:extLst>
              <a:ext uri="{FF2B5EF4-FFF2-40B4-BE49-F238E27FC236}">
                <a16:creationId xmlns:a16="http://schemas.microsoft.com/office/drawing/2014/main" id="{0820A10C-5CAA-F26F-AA4E-ECF4E5105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797675" cy="992822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ru-RU">
              <a:cs typeface="Lucida Sans Unicode" panose="020B0602030504020204" pitchFamily="34" charset="0"/>
            </a:endParaRP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EEE0A4BD-B73C-171A-7908-557FCC0B2CC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14887575" y="-12807950"/>
            <a:ext cx="18076863" cy="13558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E3DE73AF-463A-7820-6A35-9586A369086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79450" y="4716463"/>
            <a:ext cx="5434013" cy="44624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>
            <a:extLst>
              <a:ext uri="{FF2B5EF4-FFF2-40B4-BE49-F238E27FC236}">
                <a16:creationId xmlns:a16="http://schemas.microsoft.com/office/drawing/2014/main" id="{A913B7A2-C0AA-19CA-60EF-4B46C9BB7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755650"/>
            <a:ext cx="2549525" cy="37226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ru-RU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EBC838F-5C98-CA94-1D7F-C2C69CD86D4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79450" y="4716463"/>
            <a:ext cx="5435600" cy="44640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hy-AM" altLang="ru-RU">
                <a:latin typeface="Times New Roman" panose="02020603050405020304" pitchFamily="18" charset="0"/>
              </a:rPr>
              <a:t>Բարև ձեզ։ Ավարտական աշխատանքի թեման է ․․․ ։ Ղեկավար տեխնիկական գիտությունների թեկնածու ․․․</a:t>
            </a:r>
            <a:endParaRPr lang="en-US" altLang="ru-RU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BA466F64-03E7-A877-4CA4-E29B11145F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65A2CED0-53EE-EBE6-89F5-6668722880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hy-AM" altLang="en-US">
                <a:latin typeface="Times New Roman" panose="02020603050405020304" pitchFamily="18" charset="0"/>
              </a:rPr>
              <a:t>Այսօր կներկայացնեմ բովանդակության հետևյալ կետերը</a:t>
            </a: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CD599D6B-FB36-0D16-824F-E8CCAA84C7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E73F88D8-F735-BF39-7F08-D5C54DCB4F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r>
              <a:rPr lang="hy-AM" altLang="en-US" dirty="0">
                <a:latin typeface="Times New Roman" panose="02020603050405020304" pitchFamily="18" charset="0"/>
              </a:rPr>
              <a:t>Ժամանակակից Ինտեգրալ Սխեմաներում հիմնական նպատակն է ապահովել, որ ինտեգրալ սխեմաների ֆիզիկական նախագծումը համապատասխանի արտադրական գործընթացի պահանջներին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hy-AM" altLang="en-US" dirty="0">
                <a:latin typeface="Times New Roman" panose="02020603050405020304" pitchFamily="18" charset="0"/>
              </a:rPr>
              <a:t>և խուսափել արտադրական թերություններից: Ավանդական ֆիզիկական </a:t>
            </a:r>
            <a:r>
              <a:rPr lang="hy-AM" altLang="en-US" dirty="0">
                <a:solidFill>
                  <a:srgbClr val="321B6B"/>
                </a:solidFill>
                <a:latin typeface="Times New Roman" panose="02020603050405020304" pitchFamily="18" charset="0"/>
              </a:rPr>
              <a:t>նախագծման կանոնների ստուգումը</a:t>
            </a:r>
            <a:r>
              <a:rPr lang="hy-AM" altLang="en-US" dirty="0">
                <a:latin typeface="Times New Roman" panose="02020603050405020304" pitchFamily="18" charset="0"/>
              </a:rPr>
              <a:t> հիմնվում է ստուգման գործիքների վրա, որոնք թեև ճշգրիտ են, բայց հաշվողականորեն ինտենսիվ և թանկ են: Ամբողջական չիպի մակարդակի բարդ նախագծերի համար ստուգման գործընթացը կարող է տևել մի քանի ժամ կամ նույնիսկ օրեր, ուստի մինչև վերջնական ստուգումները խախտումների կանխատեսումը կարող է նվազեցնել նախագծման ժամանակը: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hy-AM" altLang="en-US" dirty="0">
                <a:latin typeface="Times New Roman" panose="02020603050405020304" pitchFamily="18" charset="0"/>
              </a:rPr>
              <a:t>Այդ պատճառով առաջարկվում է օգտագործել ջերմային քարտեզ, որը ընդգծում է ֆիզիկական նախագծման այն շրջանները, որոնք, ամենայն հավանականությամբ, պարունակում են </a:t>
            </a:r>
            <a:r>
              <a:rPr lang="hy-AM" altLang="en-US" dirty="0">
                <a:solidFill>
                  <a:srgbClr val="321B6B"/>
                </a:solidFill>
              </a:rPr>
              <a:t>Նախագծման</a:t>
            </a:r>
            <a:r>
              <a:rPr lang="hy-AM" altLang="en-US" dirty="0">
                <a:latin typeface="Times New Roman" panose="02020603050405020304" pitchFamily="18" charset="0"/>
              </a:rPr>
              <a:t> կանոնների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hy-AM" altLang="en-US" dirty="0">
                <a:latin typeface="Times New Roman" panose="02020603050405020304" pitchFamily="18" charset="0"/>
              </a:rPr>
              <a:t>խախտումներ։ Այդ դեպքում աշխատանքային հոսքը կունենա հետևյալ տեսքը ՝</a:t>
            </a:r>
          </a:p>
          <a:p>
            <a:pPr>
              <a:defRPr/>
            </a:pPr>
            <a:endParaRPr lang="hy-AM" altLang="en-US" dirty="0">
              <a:latin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hy-AM" altLang="en-US" dirty="0">
                <a:latin typeface="Times New Roman" panose="02020603050405020304" pitchFamily="18" charset="0"/>
              </a:rPr>
              <a:t>Տրամաբանական սինթեզ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hy-AM" altLang="en-US" dirty="0">
                <a:latin typeface="Times New Roman" panose="02020603050405020304" pitchFamily="18" charset="0"/>
              </a:rPr>
              <a:t>Գործընթացը սկսվում է բարձր մակարդակի սխեմաների նկարագրությունները (օրինակ՝ </a:t>
            </a:r>
            <a:r>
              <a:rPr lang="en-US" altLang="en-US" dirty="0">
                <a:latin typeface="Times New Roman" panose="02020603050405020304" pitchFamily="18" charset="0"/>
              </a:rPr>
              <a:t>RTL </a:t>
            </a:r>
            <a:r>
              <a:rPr lang="hy-AM" altLang="en-US" dirty="0">
                <a:latin typeface="Times New Roman" panose="02020603050405020304" pitchFamily="18" charset="0"/>
              </a:rPr>
              <a:t>կոդը </a:t>
            </a:r>
            <a:r>
              <a:rPr lang="en-US" altLang="en-US" dirty="0">
                <a:latin typeface="Times New Roman" panose="02020603050405020304" pitchFamily="18" charset="0"/>
              </a:rPr>
              <a:t>Verilog-</a:t>
            </a:r>
            <a:r>
              <a:rPr lang="hy-AM" altLang="en-US" dirty="0">
                <a:latin typeface="Times New Roman" panose="02020603050405020304" pitchFamily="18" charset="0"/>
              </a:rPr>
              <a:t>ում) փոխակերպելով փականային մակարդակի </a:t>
            </a:r>
            <a:r>
              <a:rPr lang="en-US" altLang="en-US" dirty="0">
                <a:latin typeface="Times New Roman" panose="02020603050405020304" pitchFamily="18" charset="0"/>
              </a:rPr>
              <a:t>(Gate-level)</a:t>
            </a:r>
            <a:r>
              <a:rPr lang="hy-AM" altLang="en-US" dirty="0">
                <a:latin typeface="Times New Roman" panose="02020603050405020304" pitchFamily="18" charset="0"/>
              </a:rPr>
              <a:t>, որը սահմանում է չիպի տրամաբանական կառուցվածքը: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hy-AM" altLang="en-US" dirty="0">
              <a:latin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hy-AM" altLang="en-US" dirty="0">
                <a:latin typeface="Times New Roman" panose="02020603050405020304" pitchFamily="18" charset="0"/>
              </a:rPr>
              <a:t>Բաժանում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hy-AM" altLang="en-US" dirty="0">
                <a:latin typeface="Times New Roman" panose="02020603050405020304" pitchFamily="18" charset="0"/>
              </a:rPr>
              <a:t>Սինթեզված սխեման բաժանվում է ավելի փոքր ֆունկցիոնալ բլոկների՝ նախագծման հետագա քայլերը պարզեցնելու համար: Այս քայլն օգնում է արդյունավետորեն կառավարել խոշոր և բարդ </a:t>
            </a:r>
            <a:r>
              <a:rPr lang="hy-AM" altLang="en-US" dirty="0">
                <a:solidFill>
                  <a:srgbClr val="321B6B"/>
                </a:solidFill>
                <a:latin typeface="Times New Roman" panose="02020603050405020304" pitchFamily="18" charset="0"/>
              </a:rPr>
              <a:t>ն</a:t>
            </a:r>
            <a:r>
              <a:rPr lang="hy-AM" altLang="en-US" dirty="0">
                <a:solidFill>
                  <a:srgbClr val="321B6B"/>
                </a:solidFill>
              </a:rPr>
              <a:t>ախագծերը</a:t>
            </a:r>
            <a:r>
              <a:rPr lang="hy-AM" altLang="en-US" dirty="0">
                <a:latin typeface="Times New Roman" panose="02020603050405020304" pitchFamily="18" charset="0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hy-AM" altLang="en-US" dirty="0">
              <a:latin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hy-AM" altLang="en-US" dirty="0">
                <a:latin typeface="Times New Roman" panose="02020603050405020304" pitchFamily="18" charset="0"/>
              </a:rPr>
              <a:t>Հատակաբաժնի տեղադրում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hy-AM" altLang="en-US" b="1" dirty="0">
                <a:latin typeface="Times New Roman" panose="02020603050405020304" pitchFamily="18" charset="0"/>
              </a:rPr>
              <a:t>Բլոկների և հիմնական սխեմայի բաղադրիչների ֆիզիկական դիրքերը որոշվում են չիպի տարածքում: </a:t>
            </a:r>
            <a:r>
              <a:rPr lang="hy-AM" altLang="en-US" dirty="0">
                <a:latin typeface="Times New Roman" panose="02020603050405020304" pitchFamily="18" charset="0"/>
              </a:rPr>
              <a:t>Սա սահմանում է, թե ինչպես է ֆիզիկական նախագիծը կազմակերպվելու տարածականորեն: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hy-AM" altLang="en-US" dirty="0">
              <a:solidFill>
                <a:srgbClr val="321B6B"/>
              </a:solidFill>
              <a:latin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hy-AM" altLang="en-US" dirty="0">
                <a:solidFill>
                  <a:srgbClr val="321B6B"/>
                </a:solidFill>
              </a:rPr>
              <a:t>Նախագծման կանոնների ստուգման ջերմային կետի կանխատեսում</a:t>
            </a:r>
            <a:endParaRPr lang="en-US" altLang="en-US" dirty="0">
              <a:solidFill>
                <a:srgbClr val="321B6B"/>
              </a:solidFill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hy-AM" altLang="en-US" dirty="0">
                <a:latin typeface="Times New Roman" panose="02020603050405020304" pitchFamily="18" charset="0"/>
              </a:rPr>
              <a:t>Նախքան երթուղավորումը սկսելը, </a:t>
            </a:r>
            <a:r>
              <a:rPr lang="hy-AM" altLang="en-US" dirty="0">
                <a:solidFill>
                  <a:srgbClr val="321B6B"/>
                </a:solidFill>
              </a:rPr>
              <a:t>Նախագծման</a:t>
            </a:r>
            <a:r>
              <a:rPr lang="hy-AM" altLang="en-US" dirty="0">
                <a:latin typeface="Times New Roman" panose="02020603050405020304" pitchFamily="18" charset="0"/>
              </a:rPr>
              <a:t> կանոնների ստուգման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hy-AM" altLang="en-US" dirty="0">
                <a:latin typeface="Times New Roman" panose="02020603050405020304" pitchFamily="18" charset="0"/>
              </a:rPr>
              <a:t>ջերմային կետի կանխատեսման մոդելը (օրինակ՝ ՓՆՑ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hy-AM" altLang="en-US" dirty="0">
                <a:latin typeface="Times New Roman" panose="02020603050405020304" pitchFamily="18" charset="0"/>
              </a:rPr>
              <a:t>մոդելը, որը պատրաստված է ֆիզիկական նախագծման ջերմային քարտեզների վրա) </a:t>
            </a:r>
            <a:r>
              <a:rPr lang="hy-AM" altLang="en-US" b="1" dirty="0">
                <a:latin typeface="Times New Roman" panose="02020603050405020304" pitchFamily="18" charset="0"/>
              </a:rPr>
              <a:t>կիրառվում է հատակագծի կամ տեղաբաշխման տվյալների վրա՝ կանխատեսելու նախագծման կանոնների հնարավոր խախտումները, </a:t>
            </a:r>
            <a:r>
              <a:rPr lang="hy-AM" altLang="en-US" dirty="0">
                <a:latin typeface="Times New Roman" panose="02020603050405020304" pitchFamily="18" charset="0"/>
              </a:rPr>
              <a:t>ինչպիսիք են տարածությունը, լայնությունը կամ խտության սխալները, որոնք կարող են առաջանալ ավելի ուշ երթուղման փուլում: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hy-AM" altLang="en-US" dirty="0">
              <a:latin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hy-AM" altLang="en-US" dirty="0">
                <a:solidFill>
                  <a:srgbClr val="321B6B"/>
                </a:solidFill>
              </a:rPr>
              <a:t>Նախագծման կանոնների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hy-AM" altLang="en-US" dirty="0">
                <a:latin typeface="Times New Roman" panose="02020603050405020304" pitchFamily="18" charset="0"/>
              </a:rPr>
              <a:t>խախտումների ստուգում.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hy-AM" altLang="en-US" dirty="0">
                <a:latin typeface="Times New Roman" panose="02020603050405020304" pitchFamily="18" charset="0"/>
              </a:rPr>
              <a:t>Արվում է նրա համար, որպեսզի պոտենցիալ խախտումի դեպքում նախագծողը կամ ավտոմատացված համակարգը կարողանան ավելի շուտ ուղղիչ գործողություններ ձեռնարկել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hy-AM" altLang="en-US" dirty="0">
              <a:latin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hy-AM" altLang="en-US" dirty="0">
                <a:latin typeface="Times New Roman" panose="02020603050405020304" pitchFamily="18" charset="0"/>
              </a:rPr>
              <a:t>Երթուղավորում (գլոբալ և մանրամասն).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hy-AM" altLang="en-US" dirty="0">
                <a:latin typeface="Times New Roman" panose="02020603050405020304" pitchFamily="18" charset="0"/>
              </a:rPr>
              <a:t>Եթե ​​խախտումներ չեն կանխատեսվում, գործընթացը շարունակվում է գլոբալ երթուղավորումով (մոտավոր լարերի ուղիների որոշումով) և մանրամասն երթուղավորումով (վերջնականացնելով մետաղալարերի ճշգրիտ երկրաչափությունները)։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46E6C66D-057B-D18E-2309-C81A8ACB88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EFD663D9-D58E-BA08-75CE-50BBA65191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hy-AM" altLang="en-US">
                <a:latin typeface="Times New Roman" panose="02020603050405020304" pitchFamily="18" charset="0"/>
              </a:rPr>
              <a:t>Վերջին տարիներին մեքենայական ուսուցման օգտագործումը կարևոր մեթոդ է դարձել </a:t>
            </a:r>
            <a:r>
              <a:rPr lang="hy-AM" altLang="en-US">
                <a:solidFill>
                  <a:srgbClr val="321B6B"/>
                </a:solidFill>
                <a:latin typeface="Times New Roman" panose="02020603050405020304" pitchFamily="18" charset="0"/>
              </a:rPr>
              <a:t>Նախագծման կանոնների ստուգման</a:t>
            </a:r>
            <a:r>
              <a:rPr lang="hy-AM" altLang="en-US">
                <a:latin typeface="Times New Roman" panose="02020603050405020304" pitchFamily="18" charset="0"/>
              </a:rPr>
              <a:t> համար</a:t>
            </a:r>
            <a:r>
              <a:rPr lang="en-US" altLang="en-US">
                <a:latin typeface="Times New Roman" panose="02020603050405020304" pitchFamily="18" charset="0"/>
              </a:rPr>
              <a:t>: </a:t>
            </a:r>
            <a:r>
              <a:rPr lang="hy-AM" altLang="en-US">
                <a:latin typeface="Times New Roman" panose="02020603050405020304" pitchFamily="18" charset="0"/>
              </a:rPr>
              <a:t>Այն ներառում է ֆիզիկական նախագծման առանձնահատկությունների մոդելավորում՝ որպես պատկերներ</a:t>
            </a:r>
            <a:r>
              <a:rPr lang="en-US" altLang="en-US">
                <a:latin typeface="Times New Roman" panose="02020603050405020304" pitchFamily="18" charset="0"/>
              </a:rPr>
              <a:t>, </a:t>
            </a:r>
            <a:r>
              <a:rPr lang="hy-AM" altLang="en-US">
                <a:latin typeface="Times New Roman" panose="02020603050405020304" pitchFamily="18" charset="0"/>
              </a:rPr>
              <a:t>և փաթույթային նեյրոնային ցանցերի (</a:t>
            </a:r>
            <a:r>
              <a:rPr lang="en-US" altLang="en-US">
                <a:latin typeface="Times New Roman" panose="02020603050405020304" pitchFamily="18" charset="0"/>
              </a:rPr>
              <a:t>CNN)</a:t>
            </a:r>
            <a:r>
              <a:rPr lang="hy-AM" altLang="en-US">
                <a:latin typeface="Times New Roman" panose="02020603050405020304" pitchFamily="18" charset="0"/>
              </a:rPr>
              <a:t> կիրառում ՝ օրինաչափությունները և կանոնների խախտումները հայտնաբերելու համար: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hy-AM" altLang="en-US">
                <a:latin typeface="Times New Roman" panose="02020603050405020304" pitchFamily="18" charset="0"/>
              </a:rPr>
              <a:t>	</a:t>
            </a:r>
          </a:p>
          <a:p>
            <a:r>
              <a:rPr lang="hy-AM" altLang="en-US">
                <a:latin typeface="Times New Roman" panose="02020603050405020304" pitchFamily="18" charset="0"/>
              </a:rPr>
              <a:t>	Այստեղ պատկերված է ջերմային կետերի հայտնաբերման մեթոդի աշխատանքի ընթացքը, որը հիմնված է փոխանցման ուսուցման վրա՝ օգտագործելով նախապես վերապատրաստված խորը ՓՆՑ-ն։ Նախապատրաստման փուլում պատրաստվում են և՛ տվյալները, և՛ մոդելը: Մոդելի ուսուցման ծախսերը նվազեցնելու համար մուտքային ֆիզիկական նախագծման տվյալները օրինաչափության տվյալների վերածվելուց հետո անհրաժեշտ է տվյալների սեղմում: </a:t>
            </a:r>
            <a:r>
              <a:rPr lang="hy-AM" altLang="en-US" b="1">
                <a:latin typeface="Times New Roman" panose="02020603050405020304" pitchFamily="18" charset="0"/>
              </a:rPr>
              <a:t>Հաջորդ փուլում անհրաժեշտ է փոփոխել նախապես պատրաստված ցանցի ճարտարապետությունը, </a:t>
            </a:r>
            <a:r>
              <a:rPr lang="hy-AM" altLang="en-US">
                <a:latin typeface="Times New Roman" panose="02020603050405020304" pitchFamily="18" charset="0"/>
              </a:rPr>
              <a:t>որպեսզի այն հարմար լինի ջերմային կետերի հայտնաբերման համար, այնուհետև մոդելը պետք է վերապատրաստվի </a:t>
            </a:r>
            <a:r>
              <a:rPr lang="hy-AM" altLang="en-US">
                <a:solidFill>
                  <a:srgbClr val="321B6B"/>
                </a:solidFill>
                <a:latin typeface="Times New Roman" panose="02020603050405020304" pitchFamily="18" charset="0"/>
              </a:rPr>
              <a:t>այս փուլի համար նախատեսված</a:t>
            </a:r>
            <a:r>
              <a:rPr lang="hy-AM" altLang="en-US">
                <a:latin typeface="Times New Roman" panose="02020603050405020304" pitchFamily="18" charset="0"/>
              </a:rPr>
              <a:t> տվյալների հետ: Մոդելի ստուգման փուլում փորձարկման ֆիզիկական նախագծման տվյալները օգտագործվում են վերապատրաստված մոդելի կատարումը գնահատելու համար: 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16F090CD-AFFA-E9CD-4963-1E982C9E3F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C2910-0EC8-9669-1C94-BEB18E7D7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>
                <a:latin typeface="Sylfaen" panose="010A0502050306030303" pitchFamily="18" charset="0"/>
              </a:rPr>
              <a:t>Avelacnel</a:t>
            </a:r>
            <a:r>
              <a:rPr lang="en-US" dirty="0">
                <a:latin typeface="Sylfaen" panose="010A0502050306030303" pitchFamily="18" charset="0"/>
              </a:rPr>
              <a:t> article for using a CNN-based model (</a:t>
            </a:r>
            <a:r>
              <a:rPr lang="en-US" dirty="0" err="1">
                <a:latin typeface="Sylfaen" panose="010A0502050306030303" pitchFamily="18" charset="0"/>
              </a:rPr>
              <a:t>Grak</a:t>
            </a:r>
            <a:r>
              <a:rPr lang="en-US" dirty="0">
                <a:latin typeface="Sylfaen" panose="010A0502050306030303" pitchFamily="18" charset="0"/>
              </a:rPr>
              <a:t> </a:t>
            </a:r>
            <a:r>
              <a:rPr lang="en-US" dirty="0" err="1">
                <a:latin typeface="Sylfaen" panose="010A0502050306030303" pitchFamily="18" charset="0"/>
              </a:rPr>
              <a:t>aknark</a:t>
            </a:r>
            <a:r>
              <a:rPr lang="en-US" dirty="0">
                <a:latin typeface="Sylfaen" panose="010A0502050306030303" pitchFamily="18" charset="0"/>
              </a:rPr>
              <a:t> 1.2) </a:t>
            </a:r>
          </a:p>
          <a:p>
            <a:pPr>
              <a:defRPr/>
            </a:pPr>
            <a:endParaRPr lang="en-US" dirty="0">
              <a:latin typeface="Sylfaen" panose="010A0502050306030303" pitchFamily="18" charset="0"/>
            </a:endParaRPr>
          </a:p>
          <a:p>
            <a:pPr>
              <a:defRPr/>
            </a:pPr>
            <a:r>
              <a:rPr lang="hy-AM" dirty="0">
                <a:latin typeface="Sylfaen" panose="010A0502050306030303" pitchFamily="18" charset="0"/>
              </a:rPr>
              <a:t>ՓՆՑ-ն շատ արդյունավետ է տարածական առանձնահատկությունների քաղվածքներ կատարելու համար</a:t>
            </a:r>
            <a:r>
              <a:rPr lang="en-US" dirty="0">
                <a:latin typeface="Sylfaen" panose="010A0502050306030303" pitchFamily="18" charset="0"/>
              </a:rPr>
              <a:t>:</a:t>
            </a:r>
            <a:r>
              <a:rPr lang="hy-AM" dirty="0">
                <a:latin typeface="Sylfaen" panose="010A0502050306030303" pitchFamily="18" charset="0"/>
              </a:rPr>
              <a:t> Սեգմենտավորման ցանցերը (օրինակ՝ </a:t>
            </a:r>
            <a:r>
              <a:rPr lang="en-US" dirty="0">
                <a:latin typeface="Sylfaen" panose="010A0502050306030303" pitchFamily="18" charset="0"/>
              </a:rPr>
              <a:t>U-Net </a:t>
            </a:r>
            <a:r>
              <a:rPr lang="hy-AM" dirty="0">
                <a:latin typeface="Sylfaen" panose="010A0502050306030303" pitchFamily="18" charset="0"/>
              </a:rPr>
              <a:t>կամ </a:t>
            </a:r>
            <a:r>
              <a:rPr lang="en-US" dirty="0">
                <a:latin typeface="Sylfaen" panose="010A0502050306030303" pitchFamily="18" charset="0"/>
              </a:rPr>
              <a:t>FCN) </a:t>
            </a:r>
            <a:r>
              <a:rPr lang="hy-AM" dirty="0">
                <a:latin typeface="Sylfaen" panose="010A0502050306030303" pitchFamily="18" charset="0"/>
              </a:rPr>
              <a:t>կարող են սովորել պիքսելային մակարդակի օրինաչափություններ, որոնք ներկայացնում են </a:t>
            </a:r>
            <a:r>
              <a:rPr lang="hy-AM" dirty="0">
                <a:solidFill>
                  <a:srgbClr val="321B6B"/>
                </a:solidFill>
                <a:latin typeface="Sylfaen" panose="010A0502050306030303" pitchFamily="18" charset="0"/>
              </a:rPr>
              <a:t>ն</a:t>
            </a:r>
            <a:r>
              <a:rPr lang="hy-AM" altLang="en-US" dirty="0">
                <a:solidFill>
                  <a:srgbClr val="321B6B"/>
                </a:solidFill>
              </a:rPr>
              <a:t>ախագծման</a:t>
            </a:r>
            <a:r>
              <a:rPr lang="hy-AM" dirty="0">
                <a:latin typeface="Sylfaen" panose="010A0502050306030303" pitchFamily="18" charset="0"/>
              </a:rPr>
              <a:t> կանոնների խախտումները:</a:t>
            </a:r>
            <a:r>
              <a:rPr lang="en-US" dirty="0">
                <a:latin typeface="Sylfaen" panose="010A0502050306030303" pitchFamily="18" charset="0"/>
              </a:rPr>
              <a:t> </a:t>
            </a:r>
            <a:r>
              <a:rPr lang="hy-AM" dirty="0">
                <a:latin typeface="Sylfaen" panose="010A0502050306030303" pitchFamily="18" charset="0"/>
              </a:rPr>
              <a:t>ՓՆՑ-ն ունի պատկերների դասակարգման լավ կատարում, հետևաբար ֆիզիկական նախագծման տվյալները կարող են փոխակերպվել օրինաչափության տվյալների։ Մոդելի վերապատրաստման փուլում ֆիզիկական նախագծման օրինաչափության տվյալները օգտագործվում են ջերմային կետերի հայտնաբերման հարմար մոդել պատրաստելու համար: Վարժեցված մոդելը վերցնում է ֆիզիկական նախագծման օրինաչափությունը որպես մուտքային տվյալ և բացահայտում է ՝ տվյալ օրինաչափությունը ջերմային կետ է, թե ոչ:</a:t>
            </a:r>
          </a:p>
          <a:p>
            <a:pPr>
              <a:defRPr/>
            </a:pPr>
            <a:r>
              <a:rPr lang="en-US" dirty="0">
                <a:latin typeface="Sylfaen" panose="010A0502050306030303" pitchFamily="18" charset="0"/>
              </a:rPr>
              <a:t>	</a:t>
            </a:r>
            <a:r>
              <a:rPr lang="hy-AM" dirty="0">
                <a:latin typeface="Sylfaen" panose="010A0502050306030303" pitchFamily="18" charset="0"/>
              </a:rPr>
              <a:t>Համեմատած ավանդական երկրաչափական </a:t>
            </a:r>
            <a:r>
              <a:rPr lang="hy-AM" altLang="en-US" dirty="0">
                <a:solidFill>
                  <a:srgbClr val="321B6B"/>
                </a:solidFill>
                <a:latin typeface="Sylfaen" panose="010A0502050306030303" pitchFamily="18" charset="0"/>
              </a:rPr>
              <a:t>Նախագծման կանոնների խախտումների </a:t>
            </a:r>
            <a:r>
              <a:rPr lang="hy-AM" dirty="0">
                <a:latin typeface="Sylfaen" panose="010A0502050306030303" pitchFamily="18" charset="0"/>
              </a:rPr>
              <a:t>ստուգումների ՝ ՓՆՑ-երի վրա հիմնված մոդելները կարող են սովորել նախկինում արված ֆիզիկական նախագծումներից և </a:t>
            </a:r>
            <a:r>
              <a:rPr lang="hy-AM" b="1" dirty="0">
                <a:latin typeface="Sylfaen" panose="010A0502050306030303" pitchFamily="18" charset="0"/>
              </a:rPr>
              <a:t>ընդհանրացնել չտեսնված նմուշները </a:t>
            </a:r>
            <a:r>
              <a:rPr lang="en-US" b="1" dirty="0">
                <a:latin typeface="Sylfaen" panose="010A0502050306030303" pitchFamily="18" charset="0"/>
              </a:rPr>
              <a:t>: </a:t>
            </a:r>
            <a:r>
              <a:rPr lang="hy-AM" dirty="0">
                <a:latin typeface="Sylfaen" panose="010A0502050306030303" pitchFamily="18" charset="0"/>
              </a:rPr>
              <a:t>Քանի որ ՓՆՑ-ի դեպքում մուտքին տրվում են պատկերներ դա տեսողականորեն հեշտացնում է աշխատանքը, և բացի դրանից ելքային ջերմային քարտեզի պատկերը ստանալու դեպքում </a:t>
            </a:r>
            <a:r>
              <a:rPr lang="hy-AM" b="1" dirty="0">
                <a:latin typeface="Sylfaen" panose="010A0502050306030303" pitchFamily="18" charset="0"/>
              </a:rPr>
              <a:t>այն կարող է ուղղակիորեն համեմատվել </a:t>
            </a:r>
            <a:r>
              <a:rPr lang="en-US" b="1" dirty="0">
                <a:latin typeface="Sylfaen" panose="010A0502050306030303" pitchFamily="18" charset="0"/>
              </a:rPr>
              <a:t>DRC </a:t>
            </a:r>
            <a:r>
              <a:rPr lang="hy-AM" b="1" dirty="0">
                <a:latin typeface="Sylfaen" panose="010A0502050306030303" pitchFamily="18" charset="0"/>
              </a:rPr>
              <a:t>դիմակի հետ՝ օգտագործելով ստանդարտ կորստի գործառույթներ</a:t>
            </a:r>
            <a:r>
              <a:rPr lang="hy-AM" dirty="0">
                <a:latin typeface="Sylfaen" panose="010A0502050306030303" pitchFamily="18" charset="0"/>
              </a:rPr>
              <a:t>, ինչպիսին է օրինակ խաչաձև էնտրոպիան </a:t>
            </a:r>
            <a:r>
              <a:rPr lang="en-US" dirty="0">
                <a:latin typeface="Sylfaen" panose="010A0502050306030303" pitchFamily="18" charset="0"/>
              </a:rPr>
              <a:t>(cross-entropy)</a:t>
            </a:r>
            <a:r>
              <a:rPr lang="hy-AM" dirty="0">
                <a:latin typeface="Sylfaen" panose="010A0502050306030303" pitchFamily="18" charset="0"/>
              </a:rPr>
              <a:t>: </a:t>
            </a:r>
          </a:p>
          <a:p>
            <a:pPr>
              <a:defRPr/>
            </a:pPr>
            <a:r>
              <a:rPr lang="hy-AM" b="1" kern="100" dirty="0">
                <a:latin typeface="Sylfaen" panose="010A0502050306030303" pitchFamily="18" charset="0"/>
                <a:cs typeface="Times New Roman" panose="02020603050405020304" pitchFamily="18" charset="0"/>
              </a:rPr>
              <a:t>ՓՆՑ-ն միաժամանակ տեսնում է պատկերի միայն մի փոքր մասը։ Դրա թերություններից է այն, որ նա կենտրոնանում է տեղային մանրամասների վրա (օրինակ՝ գծերի, անկյունների և տարածությունների)</a:t>
            </a:r>
            <a:r>
              <a:rPr lang="hy-AM" kern="100" dirty="0">
                <a:latin typeface="Sylfaen" panose="010A0502050306030303" pitchFamily="18" charset="0"/>
                <a:cs typeface="Times New Roman" panose="02020603050405020304" pitchFamily="18" charset="0"/>
              </a:rPr>
              <a:t>, բայց հեշտությամբ չի հասկանում, թե ինչպես են այդ մասերը միանում ամբողջ ֆիզիկական նախագծման մեջ: </a:t>
            </a:r>
            <a:r>
              <a:rPr lang="hy-AM" altLang="en-US" dirty="0">
                <a:solidFill>
                  <a:srgbClr val="321B6B"/>
                </a:solidFill>
              </a:rPr>
              <a:t>Նախագծման</a:t>
            </a:r>
            <a:r>
              <a:rPr lang="en-US" kern="100" dirty="0">
                <a:latin typeface="Sylfaen" panose="010A0502050306030303" pitchFamily="18" charset="0"/>
                <a:cs typeface="Times New Roman" panose="02020603050405020304" pitchFamily="18" charset="0"/>
              </a:rPr>
              <a:t> </a:t>
            </a:r>
            <a:r>
              <a:rPr lang="hy-AM" kern="100" dirty="0">
                <a:latin typeface="Sylfaen" panose="010A0502050306030303" pitchFamily="18" charset="0"/>
                <a:cs typeface="Times New Roman" panose="02020603050405020304" pitchFamily="18" charset="0"/>
              </a:rPr>
              <a:t>կանոնները, ինչպիսիք են «տարբեր շերտերի վրա միևնույն ցանցի ձևերի միջև նվազագույն տարածությունը», կարող է պահանջել գլոբալ հիմնավորում, որտեղ ՓՆՑ</a:t>
            </a:r>
            <a:r>
              <a:rPr lang="en-US" kern="100" dirty="0">
                <a:latin typeface="Sylfaen" panose="010A0502050306030303" pitchFamily="18" charset="0"/>
                <a:cs typeface="Times New Roman" panose="02020603050405020304" pitchFamily="18" charset="0"/>
              </a:rPr>
              <a:t>-</a:t>
            </a:r>
            <a:r>
              <a:rPr lang="hy-AM" kern="100" dirty="0">
                <a:latin typeface="Sylfaen" panose="010A0502050306030303" pitchFamily="18" charset="0"/>
                <a:cs typeface="Times New Roman" panose="02020603050405020304" pitchFamily="18" charset="0"/>
              </a:rPr>
              <a:t>երը թերանում են: </a:t>
            </a:r>
          </a:p>
          <a:p>
            <a:pPr>
              <a:defRPr/>
            </a:pPr>
            <a:r>
              <a:rPr lang="hy-AM" kern="100" dirty="0">
                <a:latin typeface="Sylfaen" panose="010A0502050306030303" pitchFamily="18" charset="0"/>
                <a:cs typeface="Times New Roman" panose="02020603050405020304" pitchFamily="18" charset="0"/>
              </a:rPr>
              <a:t>Եվս մեկ թերություն է այն, որ </a:t>
            </a:r>
            <a:r>
              <a:rPr lang="en-US" dirty="0">
                <a:solidFill>
                  <a:schemeClr val="tx1"/>
                </a:solidFill>
              </a:rPr>
              <a:t>GDSII </a:t>
            </a:r>
            <a:r>
              <a:rPr lang="hy-AM" dirty="0">
                <a:solidFill>
                  <a:schemeClr val="tx1"/>
                </a:solidFill>
              </a:rPr>
              <a:t>վեկտորային տվյալները պատկերների վերածելիս կարող ենք ունենալ ճշգրտության կորուստ: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hy-AM" kern="100" dirty="0">
              <a:latin typeface="Sylfaen" panose="010A0502050306030303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0AED67D1-FFDB-07EB-353E-F98E1C17FC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65BDF82B-DFF0-BA59-AE45-3E20CDBC30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err="1">
                <a:latin typeface="Times New Roman" panose="02020603050405020304" pitchFamily="18" charset="0"/>
              </a:rPr>
              <a:t>Avelacnel</a:t>
            </a:r>
            <a:r>
              <a:rPr lang="en-US" altLang="en-US" dirty="0">
                <a:latin typeface="Times New Roman" panose="02020603050405020304" pitchFamily="18" charset="0"/>
              </a:rPr>
              <a:t> GNN and CNN-based mixed articles (</a:t>
            </a:r>
            <a:r>
              <a:rPr lang="en-US" altLang="en-US" dirty="0" err="1">
                <a:latin typeface="Times New Roman" panose="02020603050405020304" pitchFamily="18" charset="0"/>
              </a:rPr>
              <a:t>Grak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aknark</a:t>
            </a:r>
            <a:r>
              <a:rPr lang="en-US" altLang="en-US" dirty="0">
                <a:latin typeface="Times New Roman" panose="02020603050405020304" pitchFamily="18" charset="0"/>
              </a:rPr>
              <a:t> 1.3.1 and 1.3.2)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hy-AM" altLang="en-US" dirty="0">
                <a:latin typeface="Times New Roman" panose="02020603050405020304" pitchFamily="18" charset="0"/>
              </a:rPr>
              <a:t>Հասկանալու համար, թե ինչու եմ ընտրել հենց Փաթույթային նեյրոնային ցանցերը իմ աշխատանքի համար հաջորդ էջում կներկայացնեմ նրա և Գրաֆային նեյրոնային ցանցերի տարբերությունները։ </a:t>
            </a:r>
          </a:p>
          <a:p>
            <a:r>
              <a:rPr lang="hy-AM" altLang="en-US" dirty="0">
                <a:latin typeface="Times New Roman" panose="02020603050405020304" pitchFamily="18" charset="0"/>
              </a:rPr>
              <a:t>	ՓՆՑ-ի և ԳՆՑ-ի գլխավոր տարբերությունն է մուտքին տրվող պարամետրերը։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hy-AM" altLang="en-US" dirty="0">
                <a:latin typeface="Times New Roman" panose="02020603050405020304" pitchFamily="18" charset="0"/>
              </a:rPr>
              <a:t>ՓՆՑ-ի դեպքում մուտքին տրվում է երկչափանի</a:t>
            </a:r>
            <a:r>
              <a:rPr lang="en-US" altLang="en-US" dirty="0">
                <a:latin typeface="Times New Roman" panose="02020603050405020304" pitchFamily="18" charset="0"/>
              </a:rPr>
              <a:t> (2D) </a:t>
            </a:r>
            <a:r>
              <a:rPr lang="hy-AM" altLang="en-US" dirty="0">
                <a:latin typeface="Times New Roman" panose="02020603050405020304" pitchFamily="18" charset="0"/>
              </a:rPr>
              <a:t>պատկեր, իսկ ԳՆՑ-ի դեպքում ՝ գրաֆ։ Ներկայացնելով ֆիզիկական նախագիծը որպես գրաֆ, այսինքն հանգույցները ներկայացնում են ձևեր </a:t>
            </a:r>
            <a:r>
              <a:rPr lang="en-US" altLang="en-US" dirty="0">
                <a:latin typeface="Times New Roman" panose="02020603050405020304" pitchFamily="18" charset="0"/>
              </a:rPr>
              <a:t>(shapes)</a:t>
            </a:r>
            <a:r>
              <a:rPr lang="hy-AM" altLang="en-US" dirty="0">
                <a:latin typeface="Times New Roman" panose="02020603050405020304" pitchFamily="18" charset="0"/>
              </a:rPr>
              <a:t>, եզրերը ՝ հարևանություն կամ ցանցային կապեր, </a:t>
            </a:r>
            <a:r>
              <a:rPr lang="en-US" altLang="en-US" dirty="0">
                <a:latin typeface="Times New Roman" panose="02020603050405020304" pitchFamily="18" charset="0"/>
              </a:rPr>
              <a:t>կ</a:t>
            </a:r>
            <a:r>
              <a:rPr lang="hy-AM" altLang="en-US" dirty="0">
                <a:latin typeface="Times New Roman" panose="02020603050405020304" pitchFamily="18" charset="0"/>
              </a:rPr>
              <a:t>արողանում ենք դիտարկել ձևերի միջև հարաբերությունները, այլ ոչ միայն դրանց դիրքերը:</a:t>
            </a:r>
          </a:p>
          <a:p>
            <a:r>
              <a:rPr lang="hy-AM" altLang="en-US" dirty="0">
                <a:latin typeface="Times New Roman" panose="02020603050405020304" pitchFamily="18" charset="0"/>
              </a:rPr>
              <a:t>	Փաթույթային նեյրոնային ցանցերը հաշվողականորեն հարմար են, այսինքն ավելի արագ են և մասշտաբային, հատկապես ջերմային քարտեզի</a:t>
            </a:r>
            <a:r>
              <a:rPr lang="en-US" altLang="en-US" dirty="0">
                <a:latin typeface="Times New Roman" panose="02020603050405020304" pitchFamily="18" charset="0"/>
              </a:rPr>
              <a:t> (heatmap)</a:t>
            </a:r>
            <a:r>
              <a:rPr lang="hy-AM" altLang="en-US" dirty="0">
                <a:latin typeface="Times New Roman" panose="02020603050405020304" pitchFamily="18" charset="0"/>
              </a:rPr>
              <a:t> համար, որտեղ նպատակն է պիտակավորել յուրաքանչյուր պիքսել: </a:t>
            </a:r>
            <a:r>
              <a:rPr lang="hy-AM" altLang="en-US" b="1" dirty="0">
                <a:latin typeface="Times New Roman" panose="02020603050405020304" pitchFamily="18" charset="0"/>
              </a:rPr>
              <a:t>ԳՆՑ-ն մշակում է գրաֆը մի շարք կոնվոլյուցիոն շերտերի միջոցով, որտեղ հիմնական գործողությունները ցանցերի և հարակից տարածքների անցնող հաղորդագրություններն են: Յուրաքանչյուր շերտում, ամեն հանգույցը թարմացնում է իր ներդրումը` համախմբելով իր առանձնահատկությունները հարևան հանգույցներ, սովորաբար սովորելի ֆունկցիայի միջոցով: </a:t>
            </a:r>
            <a:r>
              <a:rPr lang="hy-AM" altLang="en-US" dirty="0">
                <a:latin typeface="Times New Roman" panose="02020603050405020304" pitchFamily="18" charset="0"/>
              </a:rPr>
              <a:t>Փոքր բջիջների վրա վերապատրաստված ԳՆՑ-ն կարող է ընդհանրանալ մեծ բլոկների վրա, քանի որ այն նայում է հարաբերություններին, այլ ոչ թե պիքսելային օրինաչափություններին, որը նաև ցույց է տալիս, որ ԳՆՑ-ն ավելի քիչ զգայուն է ֆիզիկական նախագծման չափի կամ </a:t>
            </a:r>
            <a:r>
              <a:rPr lang="hy-AM" altLang="en-US" b="1" dirty="0">
                <a:latin typeface="Times New Roman" panose="02020603050405020304" pitchFamily="18" charset="0"/>
              </a:rPr>
              <a:t>լուծման</a:t>
            </a:r>
            <a:r>
              <a:rPr lang="hy-AM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</a:rPr>
              <a:t>(resolution)</a:t>
            </a:r>
            <a:r>
              <a:rPr lang="hy-AM" altLang="en-US" dirty="0">
                <a:latin typeface="Times New Roman" panose="02020603050405020304" pitchFamily="18" charset="0"/>
              </a:rPr>
              <a:t> նկատմամբ: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7E8B15D3-2DF2-3DE4-2CD6-483CE8F8AD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E691400D-572A-84F5-0BBE-DE41041969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hy-AM" altLang="en-US">
                <a:solidFill>
                  <a:schemeClr val="tx1"/>
                </a:solidFill>
                <a:latin typeface="Sylfaen" panose="010A0502050306030303" pitchFamily="18" charset="0"/>
              </a:rPr>
              <a:t>Խնդրի դրվածքն է մշակել փաթույթային նեյրոնային ցանցերի վրա հիմնված ծրագրային միջոց օգտագործելով </a:t>
            </a:r>
            <a:r>
              <a:rPr lang="en-US" altLang="en-US">
                <a:solidFill>
                  <a:schemeClr val="tx1"/>
                </a:solidFill>
                <a:latin typeface="Sylfaen" panose="010A0502050306030303" pitchFamily="18" charset="0"/>
              </a:rPr>
              <a:t>U-Net</a:t>
            </a:r>
            <a:r>
              <a:rPr lang="hy-AM" altLang="en-US">
                <a:solidFill>
                  <a:schemeClr val="tx1"/>
                </a:solidFill>
                <a:latin typeface="Sylfaen" panose="010A0502050306030303" pitchFamily="18" charset="0"/>
              </a:rPr>
              <a:t> ճարտարապետությունը և </a:t>
            </a:r>
            <a:r>
              <a:rPr lang="en-US" altLang="en-US">
                <a:solidFill>
                  <a:schemeClr val="tx1"/>
                </a:solidFill>
                <a:latin typeface="Sylfaen" panose="010A0502050306030303" pitchFamily="18" charset="0"/>
              </a:rPr>
              <a:t>GDSII </a:t>
            </a:r>
            <a:r>
              <a:rPr lang="hy-AM" altLang="en-US">
                <a:solidFill>
                  <a:schemeClr val="tx1"/>
                </a:solidFill>
                <a:latin typeface="Sylfaen" panose="010A0502050306030303" pitchFamily="18" charset="0"/>
              </a:rPr>
              <a:t>ֆիզիկական նախագծման ֆայլերում ստանալ ջերմային կետերով քարտեզ, որը կընդգծի ստացված պատկերի խնդրահարույց շրջանները։ Օգտագործվելու են ներքևում նշված պարամետրերը։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5D26CE76-0E9D-4C57-EF64-1FB182A1AE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629D32FE-6517-026B-E5A0-4A8549DF2F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hy-AM" altLang="en-US" b="1">
                <a:latin typeface="Times New Roman" panose="02020603050405020304" pitchFamily="18" charset="0"/>
              </a:rPr>
              <a:t>Տվյալ խնդրի դեպքում ՓՆՑ-ն ուսումնասիրում է ֆիզիկական նախագծման պատկերի տեղային կառուցվածքները՝ բացահայտելով գծերի, անկյունների և միջակայքերի նման մանրամասներ։</a:t>
            </a:r>
            <a:r>
              <a:rPr lang="hy-AM" altLang="en-US">
                <a:latin typeface="Times New Roman" panose="02020603050405020304" pitchFamily="18" charset="0"/>
              </a:rPr>
              <a:t> </a:t>
            </a:r>
            <a:endParaRPr lang="en-US" altLang="en-US">
              <a:latin typeface="Times New Roman" panose="02020603050405020304" pitchFamily="18" charset="0"/>
            </a:endParaRPr>
          </a:p>
          <a:p>
            <a:r>
              <a:rPr lang="hy-AM" altLang="en-US">
                <a:latin typeface="Times New Roman" panose="02020603050405020304" pitchFamily="18" charset="0"/>
              </a:rPr>
              <a:t>	ՓՆՑ-երը բաղկացած են մի շարք շերտերից ՝</a:t>
            </a:r>
          </a:p>
          <a:p>
            <a:r>
              <a:rPr lang="hy-AM" altLang="en-US">
                <a:latin typeface="Times New Roman" panose="02020603050405020304" pitchFamily="18" charset="0"/>
              </a:rPr>
              <a:t>• </a:t>
            </a:r>
            <a:r>
              <a:rPr lang="hy-AM" altLang="en-US" b="1">
                <a:latin typeface="Times New Roman" panose="02020603050405020304" pitchFamily="18" charset="0"/>
              </a:rPr>
              <a:t>Մուտքային շերտեր։ </a:t>
            </a:r>
            <a:r>
              <a:rPr lang="hy-AM" altLang="en-US">
                <a:latin typeface="Times New Roman" panose="02020603050405020304" pitchFamily="18" charset="0"/>
              </a:rPr>
              <a:t>Այն շերտն է, որտեղ մենք մուտքագրում ենք մեր տվյալները: </a:t>
            </a:r>
            <a:r>
              <a:rPr lang="en-US" altLang="en-US">
                <a:latin typeface="Times New Roman" panose="02020603050405020304" pitchFamily="18" charset="0"/>
              </a:rPr>
              <a:t>CNN-</a:t>
            </a:r>
            <a:r>
              <a:rPr lang="hy-AM" altLang="en-US">
                <a:latin typeface="Times New Roman" panose="02020603050405020304" pitchFamily="18" charset="0"/>
              </a:rPr>
              <a:t>ում, ընդհանուր առմամբ, մուտքագրումը կլինի պատկեր կամ պատկերների հաջորդականություն:</a:t>
            </a:r>
          </a:p>
          <a:p>
            <a:r>
              <a:rPr lang="hy-AM" altLang="en-US">
                <a:latin typeface="Times New Roman" panose="02020603050405020304" pitchFamily="18" charset="0"/>
              </a:rPr>
              <a:t>• </a:t>
            </a:r>
            <a:r>
              <a:rPr lang="hy-AM" altLang="en-US" b="1">
                <a:latin typeface="Times New Roman" panose="02020603050405020304" pitchFamily="18" charset="0"/>
              </a:rPr>
              <a:t>Փաթույթային շերտեր։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hy-AM" altLang="en-US">
                <a:latin typeface="Times New Roman" panose="02020603050405020304" pitchFamily="18" charset="0"/>
              </a:rPr>
              <a:t>Սա այն շերտն է, որն օգտագործվում է մուտքային տվյալների բազայից հատկանիշը հանելու համար: </a:t>
            </a:r>
          </a:p>
          <a:p>
            <a:r>
              <a:rPr lang="hy-AM" altLang="en-US">
                <a:latin typeface="Times New Roman" panose="02020603050405020304" pitchFamily="18" charset="0"/>
              </a:rPr>
              <a:t>• </a:t>
            </a:r>
            <a:r>
              <a:rPr lang="hy-AM" altLang="en-US" b="1">
                <a:latin typeface="Times New Roman" panose="02020603050405020304" pitchFamily="18" charset="0"/>
              </a:rPr>
              <a:t>Ակտիվացման շերտ։</a:t>
            </a:r>
            <a:r>
              <a:rPr lang="hy-AM" altLang="en-US">
                <a:latin typeface="Times New Roman" panose="02020603050405020304" pitchFamily="18" charset="0"/>
              </a:rPr>
              <a:t> Նախորդ շերտի ելքին ավելացնելով ակտիվացման ֆունկցիա՝ ակտիվացման շերտերը ցանցին ավելացնում են ոչ գծայինություն: </a:t>
            </a:r>
          </a:p>
          <a:p>
            <a:r>
              <a:rPr lang="hy-AM" altLang="en-US">
                <a:latin typeface="Times New Roman" panose="02020603050405020304" pitchFamily="18" charset="0"/>
              </a:rPr>
              <a:t>• </a:t>
            </a:r>
            <a:r>
              <a:rPr lang="hy-AM" altLang="en-US" b="1">
                <a:latin typeface="Times New Roman" panose="02020603050405020304" pitchFamily="18" charset="0"/>
              </a:rPr>
              <a:t>Միավորող շերտ։</a:t>
            </a:r>
            <a:r>
              <a:rPr lang="hy-AM" altLang="en-US">
                <a:latin typeface="Times New Roman" panose="02020603050405020304" pitchFamily="18" charset="0"/>
              </a:rPr>
              <a:t> Այս շերտի հիմնական գործառույթն է նվազեցնել ծավալի չափը, ինչը արագացնում է հաշվարկը, նվազեցնում է հիշողությունը և նաև կանխում է չափից ավելի հարմարեցումը: </a:t>
            </a:r>
          </a:p>
          <a:p>
            <a:r>
              <a:rPr lang="hy-AM" altLang="en-US">
                <a:latin typeface="Times New Roman" panose="02020603050405020304" pitchFamily="18" charset="0"/>
              </a:rPr>
              <a:t>• </a:t>
            </a:r>
            <a:r>
              <a:rPr lang="hy-AM" altLang="en-US" b="1">
                <a:latin typeface="Times New Roman" panose="02020603050405020304" pitchFamily="18" charset="0"/>
              </a:rPr>
              <a:t>Հարթեցում։</a:t>
            </a:r>
            <a:r>
              <a:rPr lang="hy-AM" altLang="en-US">
                <a:latin typeface="Times New Roman" panose="02020603050405020304" pitchFamily="18" charset="0"/>
              </a:rPr>
              <a:t> Արդյունքում ստացված առանձնահատկությունների քարտեզները հարթեցվում են միաչափ վեկտորի մեջ՝ ոլորման և միավորման շերտերից հետո, որպեսզի դրանք կարողանան փոխանցվել ամբողջովին կապված շերտի՝ դասակարգման կամ ռեգրեսիայի համար:</a:t>
            </a:r>
          </a:p>
          <a:p>
            <a:r>
              <a:rPr lang="hy-AM" altLang="en-US">
                <a:latin typeface="Times New Roman" panose="02020603050405020304" pitchFamily="18" charset="0"/>
              </a:rPr>
              <a:t>• </a:t>
            </a:r>
            <a:r>
              <a:rPr lang="hy-AM" altLang="en-US" b="1">
                <a:latin typeface="Times New Roman" panose="02020603050405020304" pitchFamily="18" charset="0"/>
              </a:rPr>
              <a:t>Լիովին միացված շերտեր։</a:t>
            </a:r>
            <a:r>
              <a:rPr lang="hy-AM" altLang="en-US">
                <a:latin typeface="Times New Roman" panose="02020603050405020304" pitchFamily="18" charset="0"/>
              </a:rPr>
              <a:t> Այն վերցնում է մուտքագրումը նախորդ շերտից և </a:t>
            </a:r>
            <a:r>
              <a:rPr lang="hy-AM" altLang="en-US" b="1">
                <a:latin typeface="Times New Roman" panose="02020603050405020304" pitchFamily="18" charset="0"/>
              </a:rPr>
              <a:t>հաշվարկում վերջնական դասակարգման կամ ռեգրեսիայի առաջադրանքը:</a:t>
            </a:r>
          </a:p>
          <a:p>
            <a:r>
              <a:rPr lang="hy-AM" altLang="en-US">
                <a:latin typeface="Times New Roman" panose="02020603050405020304" pitchFamily="18" charset="0"/>
              </a:rPr>
              <a:t>• </a:t>
            </a:r>
            <a:r>
              <a:rPr lang="hy-AM" altLang="en-US" b="1">
                <a:latin typeface="Times New Roman" panose="02020603050405020304" pitchFamily="18" charset="0"/>
              </a:rPr>
              <a:t>Ելքային շերտ։</a:t>
            </a:r>
            <a:r>
              <a:rPr lang="hy-AM" altLang="en-US">
                <a:latin typeface="Times New Roman" panose="02020603050405020304" pitchFamily="18" charset="0"/>
              </a:rPr>
              <a:t> Ամբողջությամբ միացված շերտերից ստացված ելքը </a:t>
            </a:r>
            <a:r>
              <a:rPr lang="hy-AM" altLang="en-US" b="1">
                <a:latin typeface="Times New Roman" panose="02020603050405020304" pitchFamily="18" charset="0"/>
              </a:rPr>
              <a:t>այնուհետև սնվում է լոգիստիկ գործառույթի մեջ ՝ դասակարգման առաջադրանքների համար, որը յուրաքանչյուր դասի արդյունքը փոխակերպում է յուրաքանչյուր դասի հավանականության միավորի:</a:t>
            </a:r>
            <a:endParaRPr lang="en-US" altLang="en-US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539D564D-FD4D-47FD-55F3-E09801462A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1BC80BFC-69BA-8A30-72E2-C43F520C04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hy-AM" altLang="en-US" dirty="0">
                <a:latin typeface="Times New Roman" panose="02020603050405020304" pitchFamily="18" charset="0"/>
              </a:rPr>
              <a:t>Քանի որ իմ ընտրած մոդելը կառուցվածքով նման է </a:t>
            </a:r>
            <a:r>
              <a:rPr lang="en-US" altLang="en-US" dirty="0">
                <a:latin typeface="Times New Roman" panose="02020603050405020304" pitchFamily="18" charset="0"/>
              </a:rPr>
              <a:t>U-Net </a:t>
            </a:r>
            <a:r>
              <a:rPr lang="hy-AM" altLang="en-US" dirty="0">
                <a:latin typeface="Times New Roman" panose="02020603050405020304" pitchFamily="18" charset="0"/>
              </a:rPr>
              <a:t>ճարտարապետությանը սկզբից կներկայացնեմ այն։ </a:t>
            </a:r>
            <a:r>
              <a:rPr lang="en-US" altLang="en-US" dirty="0">
                <a:latin typeface="Times New Roman" panose="02020603050405020304" pitchFamily="18" charset="0"/>
              </a:rPr>
              <a:t>U-Net-</a:t>
            </a:r>
            <a:r>
              <a:rPr lang="hy-AM" altLang="en-US" dirty="0">
                <a:latin typeface="Times New Roman" panose="02020603050405020304" pitchFamily="18" charset="0"/>
              </a:rPr>
              <a:t>ը նեյրոնային ցանցի մի տեսակ է, որը հիմնականում օգտագործվում է պատկերների սեգմենտավորման համար, այսինքն պատկերը բաժանել տարբեր մասերի՝ որոշակի առարկաներ բացահայտելու համար: Այն հաճախ է օգտագործվում, քանի որ այն լավ է գործում նույնիսկ փոքր քանակությամբ պիտակավորված տվյալների դեպքում: Ճարտարապետությունը սիմետրիկ է և ունի երեք հիմնական մաս ՝</a:t>
            </a:r>
          </a:p>
          <a:p>
            <a:r>
              <a:rPr lang="hy-AM" altLang="en-US" b="1" dirty="0">
                <a:latin typeface="Times New Roman" panose="02020603050405020304" pitchFamily="18" charset="0"/>
              </a:rPr>
              <a:t>1. Պայմանագրային ուղի (կոդավորիչ/</a:t>
            </a:r>
            <a:r>
              <a:rPr lang="en-US" altLang="en-US" b="1" dirty="0">
                <a:latin typeface="Times New Roman" panose="02020603050405020304" pitchFamily="18" charset="0"/>
              </a:rPr>
              <a:t>Encoder</a:t>
            </a:r>
            <a:r>
              <a:rPr lang="hy-AM" altLang="en-US" b="1" dirty="0">
                <a:latin typeface="Times New Roman" panose="02020603050405020304" pitchFamily="18" charset="0"/>
              </a:rPr>
              <a:t>) </a:t>
            </a:r>
          </a:p>
          <a:p>
            <a:r>
              <a:rPr lang="hy-AM" altLang="en-US" dirty="0">
                <a:latin typeface="Times New Roman" panose="02020603050405020304" pitchFamily="18" charset="0"/>
              </a:rPr>
              <a:t>• Օգտագործում է փոքր զտիչներ (3×3 պիքսել) պատկերը սկանավորելու և հատկանիշներ գտնելու համար:</a:t>
            </a:r>
          </a:p>
          <a:p>
            <a:r>
              <a:rPr lang="hy-AM" altLang="en-US" dirty="0">
                <a:latin typeface="Times New Roman" panose="02020603050405020304" pitchFamily="18" charset="0"/>
              </a:rPr>
              <a:t>• Կիրառել ակտիվացման ֆունկցիա, որը կոչվում է </a:t>
            </a:r>
            <a:r>
              <a:rPr lang="en-US" altLang="en-US" dirty="0" err="1">
                <a:latin typeface="Times New Roman" panose="02020603050405020304" pitchFamily="18" charset="0"/>
              </a:rPr>
              <a:t>ReLU</a:t>
            </a:r>
            <a:r>
              <a:rPr lang="hy-AM" altLang="en-US" dirty="0">
                <a:latin typeface="Times New Roman" panose="02020603050405020304" pitchFamily="18" charset="0"/>
              </a:rPr>
              <a:t>՝ ոչ գծայինություն ավելացնելու համար, որն օգնում է մոդելին ավելի լավ սովորել:</a:t>
            </a:r>
          </a:p>
          <a:p>
            <a:r>
              <a:rPr lang="hy-AM" altLang="en-US" dirty="0">
                <a:latin typeface="Times New Roman" panose="02020603050405020304" pitchFamily="18" charset="0"/>
              </a:rPr>
              <a:t>• Օգտագործում է առավելագույն միավորում </a:t>
            </a:r>
            <a:r>
              <a:rPr lang="en-US" altLang="en-US" dirty="0">
                <a:latin typeface="Times New Roman" panose="02020603050405020304" pitchFamily="18" charset="0"/>
              </a:rPr>
              <a:t>(pooling) </a:t>
            </a:r>
            <a:r>
              <a:rPr lang="hy-AM" altLang="en-US" dirty="0">
                <a:latin typeface="Times New Roman" panose="02020603050405020304" pitchFamily="18" charset="0"/>
              </a:rPr>
              <a:t>(2×2 զտիչներ) պատկերի չափը փոքրացնելու համար՝ միաժամանակ պահպանելով կարևոր տեղեկատվությունը: Սա օգնում է ցանցին կենտրոնանալ ավելի մեծ հնարավորությունների վրա:</a:t>
            </a:r>
          </a:p>
          <a:p>
            <a:r>
              <a:rPr lang="hy-AM" altLang="en-US" b="1" dirty="0">
                <a:latin typeface="Times New Roman" panose="02020603050405020304" pitchFamily="18" charset="0"/>
              </a:rPr>
              <a:t>2. Խցան </a:t>
            </a:r>
            <a:r>
              <a:rPr lang="en-US" altLang="en-US" b="1" dirty="0">
                <a:latin typeface="Times New Roman" panose="02020603050405020304" pitchFamily="18" charset="0"/>
              </a:rPr>
              <a:t>(Bottleneck)</a:t>
            </a:r>
            <a:endParaRPr lang="hy-AM" altLang="en-US" b="1" dirty="0">
              <a:latin typeface="Times New Roman" panose="02020603050405020304" pitchFamily="18" charset="0"/>
            </a:endParaRPr>
          </a:p>
          <a:p>
            <a:r>
              <a:rPr lang="hy-AM" altLang="en-US" dirty="0">
                <a:latin typeface="Times New Roman" panose="02020603050405020304" pitchFamily="18" charset="0"/>
              </a:rPr>
              <a:t>«</a:t>
            </a:r>
            <a:r>
              <a:rPr lang="en-US" altLang="en-US" dirty="0">
                <a:latin typeface="Times New Roman" panose="02020603050405020304" pitchFamily="18" charset="0"/>
              </a:rPr>
              <a:t>U»-</a:t>
            </a:r>
            <a:r>
              <a:rPr lang="hy-AM" altLang="en-US" dirty="0">
                <a:latin typeface="Times New Roman" panose="02020603050405020304" pitchFamily="18" charset="0"/>
              </a:rPr>
              <a:t>ի մեջտեղի հատվածը, որտեղ պահվում է առավել սեղմված և վերացական տեղեկատվությունը: Այն կապում է կոդավորիչը և վերծանիչը:</a:t>
            </a:r>
          </a:p>
          <a:p>
            <a:r>
              <a:rPr lang="hy-AM" altLang="en-US" b="1" dirty="0">
                <a:latin typeface="Times New Roman" panose="02020603050405020304" pitchFamily="18" charset="0"/>
              </a:rPr>
              <a:t>3. Ընդլայնվող ուղի (վերծանիչ</a:t>
            </a:r>
            <a:r>
              <a:rPr lang="en-US" altLang="en-US" b="1" dirty="0">
                <a:latin typeface="Times New Roman" panose="02020603050405020304" pitchFamily="18" charset="0"/>
              </a:rPr>
              <a:t>/Decoder</a:t>
            </a:r>
            <a:r>
              <a:rPr lang="hy-AM" altLang="en-US" b="1" dirty="0">
                <a:latin typeface="Times New Roman" panose="02020603050405020304" pitchFamily="18" charset="0"/>
              </a:rPr>
              <a:t>):</a:t>
            </a:r>
          </a:p>
          <a:p>
            <a:r>
              <a:rPr lang="hy-AM" altLang="en-US" dirty="0">
                <a:latin typeface="Times New Roman" panose="02020603050405020304" pitchFamily="18" charset="0"/>
              </a:rPr>
              <a:t>• Օգտագործում է նմուշառում` մեծացնելով պատկերի չափը` սկզբնական պատկերի չափը վերադարձնելու համար:</a:t>
            </a:r>
          </a:p>
          <a:p>
            <a:r>
              <a:rPr lang="hy-AM" altLang="en-US" dirty="0">
                <a:latin typeface="Times New Roman" panose="02020603050405020304" pitchFamily="18" charset="0"/>
              </a:rPr>
              <a:t>• Հետևում է նույն օրինաչափությանը, ինչ կոդավորիչը (երկու 3×3 ոլորումներ + </a:t>
            </a:r>
            <a:r>
              <a:rPr lang="en-US" altLang="en-US" dirty="0" err="1">
                <a:latin typeface="Times New Roman" panose="02020603050405020304" pitchFamily="18" charset="0"/>
              </a:rPr>
              <a:t>ReLU</a:t>
            </a:r>
            <a:r>
              <a:rPr lang="en-US" altLang="en-US" dirty="0">
                <a:latin typeface="Times New Roman" panose="02020603050405020304" pitchFamily="18" charset="0"/>
              </a:rPr>
              <a:t>), </a:t>
            </a:r>
            <a:r>
              <a:rPr lang="hy-AM" altLang="en-US" dirty="0">
                <a:latin typeface="Times New Roman" panose="02020603050405020304" pitchFamily="18" charset="0"/>
              </a:rPr>
              <a:t>բայց ալիքների թիվը կիսով չափ կրճատվում է յուրաքանչյուր քայլում:</a:t>
            </a:r>
          </a:p>
          <a:p>
            <a:r>
              <a:rPr lang="hy-AM" altLang="en-US" dirty="0">
                <a:latin typeface="Times New Roman" panose="02020603050405020304" pitchFamily="18" charset="0"/>
              </a:rPr>
              <a:t>• Համատեղում է կոդավորիչից ստացված տեղեկատվությունը` օգտագործելով «կապերի բաց թողում» </a:t>
            </a:r>
            <a:r>
              <a:rPr lang="en-US" altLang="en-US" dirty="0">
                <a:latin typeface="Times New Roman" panose="02020603050405020304" pitchFamily="18" charset="0"/>
              </a:rPr>
              <a:t>(Skip connections)</a:t>
            </a:r>
            <a:r>
              <a:rPr lang="hy-AM" altLang="en-US" dirty="0">
                <a:latin typeface="Times New Roman" panose="02020603050405020304" pitchFamily="18" charset="0"/>
              </a:rPr>
              <a:t>: Այս կապերն օգնում են վերծանիչին ստանալ տարածական մանրամասներ, որոնք կարող էին կորել պատկերը փոքրացնելիս:</a:t>
            </a:r>
          </a:p>
          <a:p>
            <a:r>
              <a:rPr lang="hy-AM" altLang="en-US" dirty="0">
                <a:latin typeface="Times New Roman" panose="02020603050405020304" pitchFamily="18" charset="0"/>
              </a:rPr>
              <a:t>• Կրկին օգտագործում է կոնվուլյացիոն շերտեր՝ ելքը մաքրելու և կատարելագործելու համար:</a:t>
            </a:r>
          </a:p>
          <a:p>
            <a:endParaRPr lang="hy-AM" altLang="en-US" dirty="0">
              <a:latin typeface="Times New Roman" panose="02020603050405020304" pitchFamily="18" charset="0"/>
            </a:endParaRPr>
          </a:p>
          <a:p>
            <a:r>
              <a:rPr lang="hy-AM" altLang="en-US" dirty="0">
                <a:latin typeface="Times New Roman" panose="02020603050405020304" pitchFamily="18" charset="0"/>
              </a:rPr>
              <a:t>Պատկերը ցույց է տալիս, որ </a:t>
            </a:r>
            <a:r>
              <a:rPr lang="en-US" altLang="en-US" dirty="0">
                <a:latin typeface="Times New Roman" panose="02020603050405020304" pitchFamily="18" charset="0"/>
              </a:rPr>
              <a:t>U-Net-</a:t>
            </a:r>
            <a:r>
              <a:rPr lang="hy-AM" altLang="en-US" dirty="0">
                <a:latin typeface="Times New Roman" panose="02020603050405020304" pitchFamily="18" charset="0"/>
              </a:rPr>
              <a:t>ը 572×572 չափսի պատկերը վերածում է ավելի փոքր 388×388 հատվածավորված քարտեզի: Այն փոքրացնում է պատկերը՝ հատկանիշներ նկարահանելու համար, այնուհետև նմուշները վերափոխում է չափը վերականգնելու համար՝ օգտագործելով կապերի բաց թողնում ՝ մանրամասները պահպանելու համար: Արդյունքը պիտակավորում է յուրաքանչյուր պիքսել որպես օբյեկտ կամ ֆոն:</a:t>
            </a:r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0BB01-8AC7-1F74-88D4-D226CB4AC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AED614DC-C1AB-7D06-4786-0B60BBF050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B01493DD-E9D0-CC64-9F96-2F8072F710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CNN </a:t>
            </a:r>
            <a:r>
              <a:rPr lang="en-US" altLang="en-US" dirty="0" err="1">
                <a:latin typeface="Times New Roman" panose="02020603050405020304" pitchFamily="18" charset="0"/>
              </a:rPr>
              <a:t>modeli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yntrutyuny</a:t>
            </a:r>
            <a:r>
              <a:rPr lang="en-US" altLang="en-US" dirty="0">
                <a:latin typeface="Times New Roman" panose="02020603050405020304" pitchFamily="18" charset="0"/>
              </a:rPr>
              <a:t> (</a:t>
            </a:r>
            <a:r>
              <a:rPr lang="en-US" altLang="en-US" dirty="0" err="1">
                <a:latin typeface="Times New Roman" panose="02020603050405020304" pitchFamily="18" charset="0"/>
              </a:rPr>
              <a:t>Cragrayin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</a:rPr>
              <a:t>irakanacum</a:t>
            </a:r>
            <a:r>
              <a:rPr lang="en-US" altLang="en-US" dirty="0">
                <a:latin typeface="Times New Roman" panose="02020603050405020304" pitchFamily="18" charset="0"/>
              </a:rPr>
              <a:t> 3.2)</a:t>
            </a:r>
            <a:r>
              <a:rPr lang="hy-AM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</a:rPr>
              <a:t>and pros and cons of </a:t>
            </a:r>
            <a:r>
              <a:rPr lang="en-US" altLang="en-US" dirty="0" err="1">
                <a:latin typeface="Times New Roman" panose="02020603050405020304" pitchFamily="18" charset="0"/>
              </a:rPr>
              <a:t>RouteNet</a:t>
            </a:r>
            <a:endParaRPr lang="en-US" altLang="en-US" dirty="0">
              <a:latin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sz="1200" b="1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Advantages</a:t>
            </a:r>
            <a:endParaRPr lang="en-US" sz="1200" kern="1200" dirty="0">
              <a:solidFill>
                <a:srgbClr val="000000"/>
              </a:solidFill>
              <a:effectLst/>
              <a:latin typeface="Times New Roman" pitchFamily="16" charset="0"/>
              <a:ea typeface="+mn-ea"/>
              <a:cs typeface="+mn-cs"/>
            </a:endParaRPr>
          </a:p>
          <a:p>
            <a:r>
              <a:rPr lang="en-US" sz="1200" b="1" u="sng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A1 — Computational Efficiency for Practical Deployment</a:t>
            </a:r>
            <a:endParaRPr lang="en-US" sz="1200" kern="1200" dirty="0">
              <a:solidFill>
                <a:srgbClr val="000000"/>
              </a:solidFill>
              <a:effectLst/>
              <a:latin typeface="Times New Roman" pitchFamily="16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With only 120,897 parameters, </a:t>
            </a:r>
            <a:r>
              <a:rPr lang="en-US" sz="1200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CircuitNet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RouteNet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is extremely lightweight and computationally efficient. As demonstrated in this project, a single inference on CPU takes 0.053 seconds — fast enough for real-time use in the GUI application. The lightweight nature of the model also means it can be trained on CPU hardware without a GPU, as demonstrated in this project, making it accessible for academic and research settings without access to high-performance computing.</a:t>
            </a:r>
          </a:p>
          <a:p>
            <a:r>
              <a:rPr lang="en-US" sz="1200" b="1" u="sng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A3 — Direct Spatial Heatmap Output</a:t>
            </a:r>
            <a:endParaRPr lang="en-US" sz="1200" kern="1200" dirty="0">
              <a:solidFill>
                <a:srgbClr val="000000"/>
              </a:solidFill>
              <a:effectLst/>
              <a:latin typeface="Times New Roman" pitchFamily="16" charset="0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CircuitNet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RouteNet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produces a 256x256 spatial heatmap that directly corresponds to the tile grid of the chip. This output format is directly comparable to the </a:t>
            </a:r>
            <a:r>
              <a:rPr lang="en-US" sz="1200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DRC_all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ground truth label using pixel-wise loss functions (MSE), directly </a:t>
            </a:r>
            <a:r>
              <a:rPr lang="en-US" sz="1200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visualisable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as an overlay on the chip layout, and directly usable for hotspot </a:t>
            </a:r>
            <a:r>
              <a:rPr lang="en-US" sz="1200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localisation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. The FCN encoder-decoder's ability to produce full-resolution spatial heatmaps is a key practical advantage over approaches that produce only scalar or per-node predictions.</a:t>
            </a:r>
          </a:p>
          <a:p>
            <a:r>
              <a:rPr lang="en-US" sz="1200" b="1" u="sng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A4 — Effective Handling of Mixed-Size Designs with Macros</a:t>
            </a:r>
            <a:endParaRPr lang="en-US" sz="1200" kern="1200" dirty="0">
              <a:solidFill>
                <a:srgbClr val="000000"/>
              </a:solidFill>
              <a:effectLst/>
              <a:latin typeface="Times New Roman" pitchFamily="16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The encoder-decoder architecture with two </a:t>
            </a:r>
            <a:r>
              <a:rPr lang="en-US" sz="1200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MaxPooling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stages gives neurons at the bottleneck an effective receptive field that spans a large fraction of the 256x256 input. This enables the model to understand the relationship between macro block positions and the routing constraints they create in surrounding standard cell regions — a capability that SVM and logistic regression methods fundamentally lack. The </a:t>
            </a:r>
            <a:r>
              <a:rPr lang="en-US" sz="1200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macro_region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feature (channel 1 of the 9 input channels) works in combination with the large receptive field to let the model learn that narrow channels between macro blocks are high-risk areas for DRC violations.</a:t>
            </a:r>
          </a:p>
          <a:p>
            <a:r>
              <a:rPr lang="en-US" sz="1200" b="1" u="sng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A5 — </a:t>
            </a:r>
            <a:r>
              <a:rPr lang="en-US" sz="1200" b="1" u="sng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Generalisation</a:t>
            </a:r>
            <a:r>
              <a:rPr lang="en-US" sz="1200" b="1" u="sng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from Training to Test Designs</a:t>
            </a:r>
            <a:endParaRPr lang="en-US" sz="1200" kern="1200" dirty="0">
              <a:solidFill>
                <a:srgbClr val="000000"/>
              </a:solidFill>
              <a:effectLst/>
              <a:latin typeface="Times New Roman" pitchFamily="16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CNN-based FCN models </a:t>
            </a:r>
            <a:r>
              <a:rPr lang="en-US" sz="1200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generalise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well across different chip designs when trained on a sufficiently diverse dataset. The CircuitNet-N28 dataset provides 10,244 diverse placements of RISC-V designs, and the test results (NRMSE 0.0195 on never-seen designs) confirm that the trained model captures genuinely generalizable DRC violation patterns rather than </a:t>
            </a:r>
            <a:r>
              <a:rPr lang="en-US" sz="1200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memorising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specific training designs.</a:t>
            </a:r>
          </a:p>
          <a:p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 </a:t>
            </a:r>
          </a:p>
          <a:p>
            <a:r>
              <a:rPr lang="en-US" sz="1200" b="1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Limitations</a:t>
            </a:r>
            <a:endParaRPr lang="en-US" sz="1200" kern="1200" dirty="0">
              <a:solidFill>
                <a:srgbClr val="000000"/>
              </a:solidFill>
              <a:effectLst/>
              <a:latin typeface="Times New Roman" pitchFamily="16" charset="0"/>
              <a:ea typeface="+mn-ea"/>
              <a:cs typeface="+mn-cs"/>
            </a:endParaRPr>
          </a:p>
          <a:p>
            <a:r>
              <a:rPr lang="en-US" sz="1200" b="1" u="sng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L1 — Single Skip Connection Limits Spatial Precision</a:t>
            </a:r>
            <a:endParaRPr lang="en-US" sz="1200" kern="1200" dirty="0">
              <a:solidFill>
                <a:srgbClr val="000000"/>
              </a:solidFill>
              <a:effectLst/>
              <a:latin typeface="Times New Roman" pitchFamily="16" charset="0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CircuitNet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RouteNet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has only one skip connection — from the c1 encoder to the upc2 decoder stage. As demonstrated by the PA-GNN paper [Baek et al., ICCAD 2022], which uses U-Net's four skip connections specifically for its richer spatial preservation, single-level skip connections are less effective at recovering fine-grained spatial detail about hotspot boundary locations. The SSIM of 0.7768 being below the benchmark of 0.80 is partially attributable to this limitation: the model correctly identifies hotspot regions but the spatial boundaries of those regions are not as precisely </a:t>
            </a:r>
            <a:r>
              <a:rPr lang="en-US" sz="1200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localised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as they would be with more skip connections.</a:t>
            </a:r>
          </a:p>
          <a:p>
            <a:r>
              <a:rPr lang="en-US" sz="1200" b="1" u="sng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L2 — Does Not Capture Connectivity and Topological Information</a:t>
            </a:r>
            <a:endParaRPr lang="en-US" sz="1200" kern="1200" dirty="0">
              <a:solidFill>
                <a:srgbClr val="000000"/>
              </a:solidFill>
              <a:effectLst/>
              <a:latin typeface="Times New Roman" pitchFamily="16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The single most important limitation identified across the reviewed articles is that CNN-based methods, including </a:t>
            </a:r>
            <a:r>
              <a:rPr lang="en-US" sz="1200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CircuitNet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RouteNet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, treat the chip layout as a spatial grid and cannot capture the topological information encoded in the circuit netlist. As demonstrated by the Serial GCN+CNN paper [Lin et al., TODAES 2024], which uses GCN to extract structural features before CNN, the netlist graph contains routing connectivity information that determines which nets compete for the same routing resources — information that is not visible in the spatial feature maps. Similarly, the PA-GNN paper [Baek et al., ICCAD 2022] demonstrated that pin accessibility information, which is inherently topological, requires GNN processing to be effectively captured. The 95.78% recall achieved by Serial GCN+CNN versus </a:t>
            </a:r>
            <a:r>
              <a:rPr lang="en-US" sz="1200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RouteNet's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62% TPR at comparable FPR illustrates the improvement available from incorporating graph-structured connectivity features.</a:t>
            </a:r>
          </a:p>
          <a:p>
            <a:r>
              <a:rPr lang="en-US" sz="1200" b="1" u="sng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L3 — Cannot Distinguish Between Violation Types</a:t>
            </a:r>
            <a:endParaRPr lang="en-US" sz="1200" kern="1200" dirty="0">
              <a:solidFill>
                <a:srgbClr val="000000"/>
              </a:solidFill>
              <a:effectLst/>
              <a:latin typeface="Times New Roman" pitchFamily="16" charset="0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CircuitNet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RouteNet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predicts a single </a:t>
            </a:r>
            <a:r>
              <a:rPr lang="en-US" sz="1200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DRC_all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violation density that aggregates all violation types. As demonstrated by the GCN Short Violations paper [Chen et al., ICSICT 2020 / IEEE TCAS-II 2022], different violation types have fundamentally different causes: short violations depend primarily on net membership (which GCN handles better), while spacing violations depend on geometric proximity (which CNN handles well). By predicting only an aggregate violation density, </a:t>
            </a:r>
            <a:r>
              <a:rPr lang="en-US" sz="1200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RouteNet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cannot distinguish between a region where violations are caused by shorts (addressable by net topology </a:t>
            </a:r>
            <a:r>
              <a:rPr lang="en-US" sz="1200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optimisation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) versus spacing violations (addressable by congestion reduction).</a:t>
            </a:r>
          </a:p>
          <a:p>
            <a:r>
              <a:rPr lang="en-US" sz="1200" b="1" u="sng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L4 — Sensitive to Batch Size During Training</a:t>
            </a:r>
            <a:endParaRPr lang="en-US" sz="1200" kern="1200" dirty="0">
              <a:solidFill>
                <a:srgbClr val="000000"/>
              </a:solidFill>
              <a:effectLst/>
              <a:latin typeface="Times New Roman" pitchFamily="16" charset="0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The BatchNorm2d layer in the bottleneck requires sufficiently large batch statistics to produce stable </a:t>
            </a:r>
            <a:r>
              <a:rPr lang="en-US" sz="1200" kern="1200" dirty="0" err="1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normalisation</a:t>
            </a:r>
            <a:r>
              <a:rPr lang="en-US" sz="120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. As observed in this project, training with batch size 4 on CPU produces noisier batch statistics than GPU training with larger batch sizes, which is one reason the SSIM of 0.7768 is slightly below the benchmark of 0.80. This is a practical limitation for CPU-based training environments without access to GPU hardware.</a:t>
            </a:r>
          </a:p>
          <a:p>
            <a:endParaRPr lang="en-US" altLang="en-US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6497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E1F63C7B-7DE8-AF1C-BCF1-30E0A6AEDA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AEF9B8A7-6E3C-18C9-386A-C212F09F61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16E22595-2749-8A59-F710-0FB87CBCE3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A7D2696A-0369-FC9D-537C-73E1865812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F6A9E56F-06C9-42CE-D7C1-BFDEDDF381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EE72CD08-1640-A35B-EBE4-DD515347AB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31E118D0-B1BC-8885-86C7-26B6E1D6FA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ED3A91E3-A995-3AD1-E48F-5E6F738A32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62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A60833-3D0D-80E3-D104-A793CB8E22B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4213" y="333375"/>
            <a:ext cx="7775575" cy="777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9pPr>
          </a:lstStyle>
          <a:p>
            <a:pPr algn="ctr" defTabSz="914400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rial Armenian" pitchFamily="34" charset="0"/>
              <a:buNone/>
            </a:pPr>
            <a:r>
              <a:rPr lang="hy-AM" altLang="ru-RU" sz="2400">
                <a:solidFill>
                  <a:srgbClr val="16165D"/>
                </a:solidFill>
              </a:rPr>
              <a:t>ՀԱՅԱՍՏԱՆԻ ԱԶԳԱՅԻՆ ՊՈԼԻՏԵԽՆԻԿԱԿԱՆ ՀԱՄԱԼՍԱՐԱՆ</a:t>
            </a:r>
            <a:endParaRPr lang="en-GB" altLang="ru-RU" sz="2400">
              <a:solidFill>
                <a:srgbClr val="16165D"/>
              </a:solidFill>
              <a:latin typeface="Arial Armenian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924288-9854-097B-200C-CC7A3469DF7A}"/>
              </a:ext>
            </a:extLst>
          </p:cNvPr>
          <p:cNvCxnSpPr/>
          <p:nvPr userDrawn="1"/>
        </p:nvCxnSpPr>
        <p:spPr bwMode="auto">
          <a:xfrm>
            <a:off x="684213" y="4292600"/>
            <a:ext cx="4248150" cy="0"/>
          </a:xfrm>
          <a:prstGeom prst="line">
            <a:avLst/>
          </a:prstGeom>
          <a:noFill/>
          <a:ln w="19050">
            <a:solidFill>
              <a:schemeClr val="accent6">
                <a:lumMod val="50000"/>
              </a:schemeClr>
            </a:solidFill>
            <a:miter lim="800000"/>
            <a:headEnd type="none" w="med" len="med"/>
            <a:tailEnd type="none" w="med" len="med"/>
          </a:ln>
        </p:spPr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772816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4293096"/>
            <a:ext cx="6400800" cy="132055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66037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4838" cy="11382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4838" cy="4521200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accent6">
                  <a:lumMod val="50000"/>
                </a:schemeClr>
              </a:buClr>
              <a:buFont typeface="Arial" pitchFamily="34" charset="0"/>
              <a:buChar char="•"/>
              <a:defRPr/>
            </a:lvl1pPr>
            <a:lvl2pPr marL="914400" indent="-457200">
              <a:buClr>
                <a:schemeClr val="accent6">
                  <a:lumMod val="50000"/>
                </a:schemeClr>
              </a:buClr>
              <a:buFont typeface="Arial" pitchFamily="34" charset="0"/>
              <a:buChar char="•"/>
              <a:defRPr/>
            </a:lvl2pPr>
            <a:lvl3pPr marL="1257300" indent="-342900">
              <a:buClr>
                <a:schemeClr val="accent6">
                  <a:lumMod val="50000"/>
                </a:schemeClr>
              </a:buClr>
              <a:buFont typeface="Arial" pitchFamily="34" charset="0"/>
              <a:buChar char="•"/>
              <a:defRPr/>
            </a:lvl3pPr>
            <a:lvl4pPr marL="1714500" indent="-342900">
              <a:buClr>
                <a:schemeClr val="accent6">
                  <a:lumMod val="50000"/>
                </a:schemeClr>
              </a:buClr>
              <a:buFont typeface="Arial" pitchFamily="34" charset="0"/>
              <a:buChar char="•"/>
              <a:defRPr/>
            </a:lvl4pPr>
            <a:lvl5pPr marL="2171700" indent="-342900">
              <a:buClr>
                <a:schemeClr val="accent6">
                  <a:lumMod val="50000"/>
                </a:schemeClr>
              </a:buClr>
              <a:buFont typeface="Arial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800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64337-C4B6-A0C3-BB7A-63B179630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2301C1-3596-47C0-AF59-774171269D67}" type="datetimeFigureOut">
              <a:rPr lang="en-US"/>
              <a:pPr>
                <a:defRPr/>
              </a:pPr>
              <a:t>4/15/2026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FB0B4-6DDE-CFFE-539B-EB7F5F9A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4DD87-2FCD-71C1-2FBB-31BB28A7E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306A84-9725-4539-8CB8-A8CC55D7F8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0571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34692-8B85-2B92-1BB0-BB94A1AC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2B8FE4-CA2B-4D6E-B823-93110A0786B2}" type="datetimeFigureOut">
              <a:rPr lang="en-US"/>
              <a:pPr>
                <a:defRPr/>
              </a:pPr>
              <a:t>4/15/2026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4BDA9-1F36-4091-6088-5781A4CCA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24845-5E44-C0E7-42FF-54E71E310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C26F89-B40D-4873-BF84-C67A2FFAAE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9229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8EEEB-0ABD-1699-B94C-1303E8F67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53E5ED-34C4-4843-B53F-7A9FF30B5E4B}" type="datetimeFigureOut">
              <a:rPr lang="en-US"/>
              <a:pPr>
                <a:defRPr/>
              </a:pPr>
              <a:t>4/15/2026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1BF64-8A70-17D9-90EB-EF3EE8DD9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5E4D5-7DE0-85E7-089A-A09C7C90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2DE146-4720-46D6-8933-1B9ED62D37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1881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4F67803-B5ED-7AB1-9CDF-A26C19EE2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A834D4-33C1-4F03-9E47-5EBAB3F327C6}" type="datetimeFigureOut">
              <a:rPr lang="en-US"/>
              <a:pPr>
                <a:defRPr/>
              </a:pPr>
              <a:t>4/15/2026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D24F6D1-926F-363A-51BE-0B904448A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310DE0C-FF40-A360-8501-9511447D8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1CFD7-8D2F-4449-966B-8419DC273B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9475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C00EA53-C38F-A89E-839D-8B23EEAA3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F5D113-F112-492B-8618-E23E167CD92E}" type="datetimeFigureOut">
              <a:rPr lang="en-US"/>
              <a:pPr>
                <a:defRPr/>
              </a:pPr>
              <a:t>4/15/2026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A7FAFC8-C991-FBC4-DF9B-B32DFAEB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B0C488-513D-CBAB-5694-C4834F484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DCA85-D371-4DE0-BCA8-929ADBA8AB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6694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8D2C5CC-4C05-D4C1-C80B-283B5F926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FE02E8-21A7-43CF-BE6D-5F0FFC98D4DD}" type="datetimeFigureOut">
              <a:rPr lang="en-US"/>
              <a:pPr>
                <a:defRPr/>
              </a:pPr>
              <a:t>4/15/2026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D7850E9-D661-6C72-F39C-784289C35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B4847E-175A-4F46-C6DC-B82E018C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20B8A-CF18-40E9-9CDD-50DAAD7961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9342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11A6D27-C26F-4F58-E304-F92EF7316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D132B-19FC-4240-9921-DAE7765AD0D8}" type="datetimeFigureOut">
              <a:rPr lang="en-US"/>
              <a:pPr>
                <a:defRPr/>
              </a:pPr>
              <a:t>4/15/2026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31BDBC-88C1-BA42-AA03-3E34968FB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A7E61CA-B890-2180-9416-485D3F83C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705DA-CF40-43EB-84CD-3B7585324B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1959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257AE4B-8F66-3ED9-1CC9-FCC5DA4C7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805C96-0DB3-4E92-900B-A33C9AFD239F}" type="datetimeFigureOut">
              <a:rPr lang="en-US"/>
              <a:pPr>
                <a:defRPr/>
              </a:pPr>
              <a:t>4/15/2026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F1CE54-3004-0F22-09C2-043AE3A9F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4F3E777-0DED-6765-2971-7B0402062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A2D311-D2D2-4547-9EFA-0B05EC2AAB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2153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E51E636-4505-32CD-9C63-4353310D7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EADEFB-E25A-416B-82D7-FC1F5E80C828}" type="datetimeFigureOut">
              <a:rPr lang="en-US"/>
              <a:pPr>
                <a:defRPr/>
              </a:pPr>
              <a:t>4/15/2026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1D38828-F2FA-2738-3052-E0BD689B6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8A62A0E-D143-1197-654F-CD421DFD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8E641-4661-4C44-8E29-4E8F877394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8827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A916E-BAB8-2C57-8D95-4E813E703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5A428C-F6FA-43FC-B8CB-78DA65800B1E}" type="datetimeFigureOut">
              <a:rPr lang="en-US"/>
              <a:pPr>
                <a:defRPr/>
              </a:pPr>
              <a:t>4/15/2026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6C096-57FB-414C-4326-87DAB8E54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F2885-4871-4F32-0CA7-EF5314B4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99C7E-F89A-4503-992A-D9102EAED1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393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7A772-663F-3C54-13BF-6429AA855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0E1E9-890C-41C7-B645-77DF601EFE0F}" type="datetimeFigureOut">
              <a:rPr lang="en-US"/>
              <a:pPr>
                <a:defRPr/>
              </a:pPr>
              <a:t>4/15/2026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0DA88-6763-15A4-F018-3B1DFD9D2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54EF0-34A8-5DC1-F07C-B2780032F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41A0B6-4F48-4D2C-B98A-E705F33E7E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4806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513E6B38-C522-882B-7610-D6145E095D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4838" cy="113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ru-RU"/>
              <a:t>Click to edit the title text format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18DB1E6A-9C75-119F-359B-C4D6C73F97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4838" cy="452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75024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ru-RU"/>
              <a:t>Click to edit the outline text format</a:t>
            </a:r>
          </a:p>
          <a:p>
            <a:pPr lvl="1"/>
            <a:r>
              <a:rPr lang="en-GB" altLang="ru-RU"/>
              <a:t>Second Outline Level</a:t>
            </a:r>
          </a:p>
          <a:p>
            <a:pPr lvl="2"/>
            <a:r>
              <a:rPr lang="en-GB" altLang="ru-RU"/>
              <a:t>Third Outline Level</a:t>
            </a:r>
          </a:p>
          <a:p>
            <a:pPr lvl="3"/>
            <a:r>
              <a:rPr lang="en-GB" altLang="ru-RU"/>
              <a:t>Fourth Outline Level</a:t>
            </a:r>
          </a:p>
          <a:p>
            <a:pPr lvl="4"/>
            <a:r>
              <a:rPr lang="en-GB" altLang="ru-RU"/>
              <a:t>Fifth Outline Level</a:t>
            </a:r>
          </a:p>
          <a:p>
            <a:pPr lvl="4"/>
            <a:r>
              <a:rPr lang="en-GB" altLang="ru-RU"/>
              <a:t>Sixth Outline Level</a:t>
            </a:r>
          </a:p>
          <a:p>
            <a:pPr lvl="4"/>
            <a:r>
              <a:rPr lang="en-GB" altLang="ru-RU"/>
              <a:t>Seventh Outline Level</a:t>
            </a:r>
          </a:p>
          <a:p>
            <a:pPr lvl="4"/>
            <a:r>
              <a:rPr lang="en-GB" altLang="ru-RU"/>
              <a:t>Eighth Outline Level</a:t>
            </a:r>
          </a:p>
          <a:p>
            <a:pPr lvl="4"/>
            <a:r>
              <a:rPr lang="en-GB" altLang="ru-RU"/>
              <a:t>Ninth Outline Level</a:t>
            </a:r>
          </a:p>
        </p:txBody>
      </p:sp>
      <p:sp>
        <p:nvSpPr>
          <p:cNvPr id="1028" name="Text Box 3">
            <a:extLst>
              <a:ext uri="{FF2B5EF4-FFF2-40B4-BE49-F238E27FC236}">
                <a16:creationId xmlns:a16="http://schemas.microsoft.com/office/drawing/2014/main" id="{62F329BC-A6AA-893D-05F8-4E28B1FC7C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" y="6265863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ru-RU">
              <a:cs typeface="Lucida Sans Unicode" panose="020B0602030504020204" pitchFamily="34" charset="0"/>
            </a:endParaRPr>
          </a:p>
        </p:txBody>
      </p:sp>
      <p:sp>
        <p:nvSpPr>
          <p:cNvPr id="1029" name="Text Box 4">
            <a:extLst>
              <a:ext uri="{FF2B5EF4-FFF2-40B4-BE49-F238E27FC236}">
                <a16:creationId xmlns:a16="http://schemas.microsoft.com/office/drawing/2014/main" id="{2794D05F-8F43-2567-8422-C5B268102B9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ru-RU">
              <a:cs typeface="Lucida Sans Unicode" panose="020B0602030504020204" pitchFamily="34" charset="0"/>
            </a:endParaRPr>
          </a:p>
        </p:txBody>
      </p:sp>
      <p:sp>
        <p:nvSpPr>
          <p:cNvPr id="1030" name="Rectangle 5">
            <a:extLst>
              <a:ext uri="{FF2B5EF4-FFF2-40B4-BE49-F238E27FC236}">
                <a16:creationId xmlns:a16="http://schemas.microsoft.com/office/drawing/2014/main" id="{349FE5E3-AB00-C747-4BB7-759358DA9A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13017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GHEA Grapalat" pitchFamily="50" charset="0"/>
              <a:cs typeface="Lucida Sans Unicode" pitchFamily="34" charset="0"/>
            </a:endParaRPr>
          </a:p>
        </p:txBody>
      </p:sp>
      <p:sp>
        <p:nvSpPr>
          <p:cNvPr id="1031" name="Text Box 6">
            <a:extLst>
              <a:ext uri="{FF2B5EF4-FFF2-40B4-BE49-F238E27FC236}">
                <a16:creationId xmlns:a16="http://schemas.microsoft.com/office/drawing/2014/main" id="{E09B763D-196F-3F46-C854-1DED6FEB8BC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651500" y="6346825"/>
            <a:ext cx="1873250" cy="306388"/>
          </a:xfrm>
          <a:prstGeom prst="rect">
            <a:avLst/>
          </a:prstGeom>
          <a:noFill/>
          <a:ln>
            <a:noFill/>
          </a:ln>
        </p:spPr>
        <p:txBody>
          <a:bodyPr lIns="90000" tIns="59147" rIns="90000" bIns="46800">
            <a:spAutoFit/>
          </a:bodyPr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ea typeface="Arial Unicode" pitchFamily="34" charset="0"/>
                <a:cs typeface="Arial Unicode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ea typeface="Arial Unicode" pitchFamily="34" charset="0"/>
                <a:cs typeface="Arial Unicode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ea typeface="Arial Unicode" pitchFamily="34" charset="0"/>
                <a:cs typeface="Arial Unicode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ea typeface="Arial Unicode" pitchFamily="34" charset="0"/>
                <a:cs typeface="Arial Unicode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ea typeface="Arial Unicode" pitchFamily="34" charset="0"/>
                <a:cs typeface="Arial Unicode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ea typeface="Arial Unicode" pitchFamily="34" charset="0"/>
                <a:cs typeface="Arial Unicode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ea typeface="Arial Unicode" pitchFamily="34" charset="0"/>
                <a:cs typeface="Arial Unicode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ea typeface="Arial Unicode" pitchFamily="34" charset="0"/>
                <a:cs typeface="Arial Unicode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ea typeface="Arial Unicode" pitchFamily="34" charset="0"/>
                <a:cs typeface="Arial Unicode" pitchFamily="34" charset="0"/>
              </a:defRPr>
            </a:lvl9pPr>
          </a:lstStyle>
          <a:p>
            <a:pPr algn="r" eaLnBrk="1" hangingPunct="1">
              <a:lnSpc>
                <a:spcPct val="108000"/>
              </a:lnSpc>
              <a:spcBef>
                <a:spcPts val="563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GHEA Grapalat" pitchFamily="50" charset="0"/>
                <a:ea typeface="Arial Unicode MS" pitchFamily="34" charset="-128"/>
                <a:cs typeface="Arial Unicode MS" pitchFamily="34" charset="-128"/>
              </a:rPr>
              <a:t>Synopsys Armenia</a:t>
            </a:r>
          </a:p>
        </p:txBody>
      </p:sp>
      <p:sp>
        <p:nvSpPr>
          <p:cNvPr id="1032" name="Text Box 9">
            <a:extLst>
              <a:ext uri="{FF2B5EF4-FFF2-40B4-BE49-F238E27FC236}">
                <a16:creationId xmlns:a16="http://schemas.microsoft.com/office/drawing/2014/main" id="{E9AF7339-022D-FEDF-2DC4-F86BF2FC43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" y="6291263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ru-RU">
              <a:cs typeface="Lucida Sans Unicode" panose="020B0602030504020204" pitchFamily="34" charset="0"/>
            </a:endParaRPr>
          </a:p>
        </p:txBody>
      </p:sp>
      <p:sp>
        <p:nvSpPr>
          <p:cNvPr id="1033" name="Text Box 10">
            <a:extLst>
              <a:ext uri="{FF2B5EF4-FFF2-40B4-BE49-F238E27FC236}">
                <a16:creationId xmlns:a16="http://schemas.microsoft.com/office/drawing/2014/main" id="{C100001F-E9E0-79DE-D5F6-8F645162387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24200" y="6291263"/>
            <a:ext cx="2895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ru-RU">
              <a:cs typeface="Lucida Sans Unicode" panose="020B0602030504020204" pitchFamily="34" charset="0"/>
            </a:endParaRPr>
          </a:p>
        </p:txBody>
      </p:sp>
      <p:sp>
        <p:nvSpPr>
          <p:cNvPr id="1037" name="Text Box 12">
            <a:extLst>
              <a:ext uri="{FF2B5EF4-FFF2-40B4-BE49-F238E27FC236}">
                <a16:creationId xmlns:a16="http://schemas.microsoft.com/office/drawing/2014/main" id="{5FBEEF13-25E0-7AAB-BD8A-7D72E440C2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7450" y="6381750"/>
            <a:ext cx="3509963" cy="452438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ea typeface="Arial Unicode" pitchFamily="34" charset="0"/>
                <a:cs typeface="Arial Unicode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ea typeface="Arial Unicode" pitchFamily="34" charset="0"/>
                <a:cs typeface="Arial Unicode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ea typeface="Arial Unicode" pitchFamily="34" charset="0"/>
                <a:cs typeface="Arial Unicode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ea typeface="Arial Unicode" pitchFamily="34" charset="0"/>
                <a:cs typeface="Arial Unicode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ea typeface="Arial Unicode" pitchFamily="34" charset="0"/>
                <a:cs typeface="Arial Unicode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ea typeface="Arial Unicode" pitchFamily="34" charset="0"/>
                <a:cs typeface="Arial Unicode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ea typeface="Arial Unicode" pitchFamily="34" charset="0"/>
                <a:cs typeface="Arial Unicode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ea typeface="Arial Unicode" pitchFamily="34" charset="0"/>
                <a:cs typeface="Arial Unicode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ea typeface="Arial Unicode" pitchFamily="34" charset="0"/>
                <a:cs typeface="Arial Unicode" pitchFamily="34" charset="0"/>
              </a:defRPr>
            </a:lvl9pPr>
          </a:lstStyle>
          <a:p>
            <a:pPr eaLnBrk="1" hangingPunct="1">
              <a:lnSpc>
                <a:spcPct val="108000"/>
              </a:lnSpc>
              <a:spcBef>
                <a:spcPts val="563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r>
              <a:rPr lang="ru-RU" sz="1100" b="1" dirty="0">
                <a:solidFill>
                  <a:schemeClr val="accent2">
                    <a:lumMod val="50000"/>
                  </a:schemeClr>
                </a:solidFill>
                <a:latin typeface="GHEA Grapalat" pitchFamily="50" charset="0"/>
                <a:ea typeface="Arial Unicode MS" pitchFamily="34" charset="-128"/>
                <a:cs typeface="Arial Unicode MS" pitchFamily="34" charset="-128"/>
              </a:rPr>
              <a:t>Միկրոէլեկտրոնային սխեմաներ և համակարգեր</a:t>
            </a:r>
            <a:br>
              <a:rPr lang="ru-RU" sz="1100" b="1" dirty="0">
                <a:solidFill>
                  <a:schemeClr val="accent2">
                    <a:lumMod val="50000"/>
                  </a:schemeClr>
                </a:solidFill>
                <a:latin typeface="GHEA Grapalat" pitchFamily="50" charset="0"/>
                <a:ea typeface="Arial Unicode MS" pitchFamily="34" charset="-128"/>
                <a:cs typeface="Arial Unicode MS" pitchFamily="34" charset="-128"/>
              </a:rPr>
            </a:br>
            <a:r>
              <a:rPr lang="ru-RU" sz="1100" b="1" dirty="0">
                <a:solidFill>
                  <a:schemeClr val="accent2">
                    <a:lumMod val="50000"/>
                  </a:schemeClr>
                </a:solidFill>
                <a:latin typeface="GHEA Grapalat" pitchFamily="50" charset="0"/>
                <a:ea typeface="Arial Unicode MS" pitchFamily="34" charset="-128"/>
                <a:cs typeface="Arial Unicode MS" pitchFamily="34" charset="-128"/>
              </a:rPr>
              <a:t> ամբիոն</a:t>
            </a:r>
          </a:p>
        </p:txBody>
      </p:sp>
      <p:sp>
        <p:nvSpPr>
          <p:cNvPr id="1035" name="Rectangle 14">
            <a:extLst>
              <a:ext uri="{FF2B5EF4-FFF2-40B4-BE49-F238E27FC236}">
                <a16:creationId xmlns:a16="http://schemas.microsoft.com/office/drawing/2014/main" id="{C2154806-CE6A-ECA9-601F-FF80F05D2F2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45013" y="6386513"/>
            <a:ext cx="603250" cy="287337"/>
          </a:xfrm>
          <a:prstGeom prst="rect">
            <a:avLst/>
          </a:prstGeom>
          <a:noFill/>
          <a:ln>
            <a:noFill/>
          </a:ln>
        </p:spPr>
        <p:txBody>
          <a:bodyPr lIns="90000" tIns="59147" rIns="90000" bIns="46800"/>
          <a:lstStyle>
            <a:lvl1pPr>
              <a:tabLst>
                <a:tab pos="723900" algn="l"/>
                <a:tab pos="14478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1pPr>
            <a:lvl2pPr>
              <a:tabLst>
                <a:tab pos="723900" algn="l"/>
                <a:tab pos="14478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2pPr>
            <a:lvl3pPr>
              <a:tabLst>
                <a:tab pos="723900" algn="l"/>
                <a:tab pos="14478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3pPr>
            <a:lvl4pPr>
              <a:tabLst>
                <a:tab pos="723900" algn="l"/>
                <a:tab pos="14478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4pPr>
            <a:lvl5pPr>
              <a:tabLst>
                <a:tab pos="723900" algn="l"/>
                <a:tab pos="14478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46A28B80-F970-44D2-B4D0-81FCFBC51E4F}" type="slidenum">
              <a:rPr lang="en-US" altLang="ru-RU" sz="1400" b="1" smtClean="0">
                <a:solidFill>
                  <a:srgbClr val="191966"/>
                </a:solidFill>
                <a:latin typeface="Arial" panose="020B0604020202020204" pitchFamily="34" charset="0"/>
                <a:ea typeface="Arial Unicode MS" pitchFamily="34" charset="-128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‹#›</a:t>
            </a:fld>
            <a:r>
              <a:rPr lang="en-US" altLang="ru-RU" sz="1400" b="1">
                <a:solidFill>
                  <a:srgbClr val="191966"/>
                </a:solidFill>
                <a:latin typeface="Arial" panose="020B0604020202020204" pitchFamily="34" charset="0"/>
                <a:ea typeface="Arial Unicode MS" pitchFamily="34" charset="-128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3958C-F882-F8F9-034D-954CDEA5797A}"/>
              </a:ext>
            </a:extLst>
          </p:cNvPr>
          <p:cNvCxnSpPr/>
          <p:nvPr userDrawn="1"/>
        </p:nvCxnSpPr>
        <p:spPr bwMode="auto">
          <a:xfrm>
            <a:off x="0" y="6216650"/>
            <a:ext cx="9144000" cy="0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miter lim="800000"/>
            <a:headEnd type="none" w="med" len="med"/>
            <a:tailEnd type="none" w="med" len="med"/>
          </a:ln>
        </p:spPr>
      </p:cxnSp>
      <p:pic>
        <p:nvPicPr>
          <p:cNvPr id="2" name="Picture 16" descr="Synopsys_color">
            <a:extLst>
              <a:ext uri="{FF2B5EF4-FFF2-40B4-BE49-F238E27FC236}">
                <a16:creationId xmlns:a16="http://schemas.microsoft.com/office/drawing/2014/main" id="{86B4E6FB-BC14-09DE-3C09-C13D4E4777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6284913"/>
            <a:ext cx="1392238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8" name="Picture 14" descr="D:\Users\User\Desktop\My Documents\AcCouncil\Logo_NPUA\LogoPolytech_1.png">
            <a:extLst>
              <a:ext uri="{FF2B5EF4-FFF2-40B4-BE49-F238E27FC236}">
                <a16:creationId xmlns:a16="http://schemas.microsoft.com/office/drawing/2014/main" id="{69D711EE-DBC8-F353-E0AD-0D67F09F82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" y="6369050"/>
            <a:ext cx="1236663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05" r:id="rId1"/>
    <p:sldLayoutId id="2147485093" r:id="rId2"/>
  </p:sldLayoutIdLst>
  <p:txStyles>
    <p:titleStyle>
      <a:lvl1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16165D"/>
          </a:solidFill>
          <a:latin typeface="GHEA Grapalat" pitchFamily="50" charset="0"/>
          <a:ea typeface="+mj-ea"/>
          <a:cs typeface="+mj-cs"/>
        </a:defRPr>
      </a:lvl1pPr>
      <a:lvl2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16165D"/>
          </a:solidFill>
          <a:latin typeface="GHEA Grapalat" pitchFamily="50" charset="0"/>
          <a:ea typeface="Arial Unicode" pitchFamily="32" charset="0"/>
          <a:cs typeface="Arial Unicode" pitchFamily="32" charset="0"/>
        </a:defRPr>
      </a:lvl2pPr>
      <a:lvl3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16165D"/>
          </a:solidFill>
          <a:latin typeface="GHEA Grapalat" pitchFamily="50" charset="0"/>
          <a:ea typeface="Arial Unicode" pitchFamily="32" charset="0"/>
          <a:cs typeface="Arial Unicode" pitchFamily="32" charset="0"/>
        </a:defRPr>
      </a:lvl3pPr>
      <a:lvl4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16165D"/>
          </a:solidFill>
          <a:latin typeface="GHEA Grapalat" pitchFamily="50" charset="0"/>
          <a:ea typeface="Arial Unicode" pitchFamily="32" charset="0"/>
          <a:cs typeface="Arial Unicode" pitchFamily="32" charset="0"/>
        </a:defRPr>
      </a:lvl4pPr>
      <a:lvl5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16165D"/>
          </a:solidFill>
          <a:latin typeface="GHEA Grapalat" pitchFamily="50" charset="0"/>
          <a:ea typeface="Arial Unicode" pitchFamily="32" charset="0"/>
          <a:cs typeface="Arial Unicode" pitchFamily="32" charset="0"/>
        </a:defRPr>
      </a:lvl5pPr>
      <a:lvl6pPr marL="2514600" indent="-228600" algn="ctr" defTabSz="449263" rtl="0" fontAlgn="base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 Unicode" pitchFamily="32" charset="0"/>
          <a:ea typeface="Arial Unicode" pitchFamily="32" charset="0"/>
          <a:cs typeface="Arial Unicode" pitchFamily="32" charset="0"/>
        </a:defRPr>
      </a:lvl6pPr>
      <a:lvl7pPr marL="2971800" indent="-228600" algn="ctr" defTabSz="449263" rtl="0" fontAlgn="base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 Unicode" pitchFamily="32" charset="0"/>
          <a:ea typeface="Arial Unicode" pitchFamily="32" charset="0"/>
          <a:cs typeface="Arial Unicode" pitchFamily="32" charset="0"/>
        </a:defRPr>
      </a:lvl7pPr>
      <a:lvl8pPr marL="3429000" indent="-228600" algn="ctr" defTabSz="449263" rtl="0" fontAlgn="base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 Unicode" pitchFamily="32" charset="0"/>
          <a:ea typeface="Arial Unicode" pitchFamily="32" charset="0"/>
          <a:cs typeface="Arial Unicode" pitchFamily="32" charset="0"/>
        </a:defRPr>
      </a:lvl8pPr>
      <a:lvl9pPr marL="3886200" indent="-228600" algn="ctr" defTabSz="449263" rtl="0" fontAlgn="base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 Unicode" pitchFamily="32" charset="0"/>
          <a:ea typeface="Arial Unicode" pitchFamily="32" charset="0"/>
          <a:cs typeface="Arial Unicode" pitchFamily="32" charset="0"/>
        </a:defRPr>
      </a:lvl9pPr>
    </p:titleStyle>
    <p:bodyStyle>
      <a:lvl1pPr marL="342900" indent="-342900" algn="l" defTabSz="449263" rtl="0" eaLnBrk="0" fontAlgn="base" hangingPunct="0">
        <a:lnSpc>
          <a:spcPct val="93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16165D"/>
          </a:solidFill>
          <a:latin typeface="GHEA Grapalat" pitchFamily="50" charset="0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3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16165D"/>
          </a:solidFill>
          <a:latin typeface="GHEA Grapalat" pitchFamily="50" charset="0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93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16165D"/>
          </a:solidFill>
          <a:latin typeface="GHEA Grapalat" pitchFamily="50" charset="0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16165D"/>
          </a:solidFill>
          <a:latin typeface="GHEA Grapalat" pitchFamily="50" charset="0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16165D"/>
          </a:solidFill>
          <a:latin typeface="GHEA Grapalat" pitchFamily="50" charset="0"/>
          <a:ea typeface="+mn-ea"/>
          <a:cs typeface="+mn-cs"/>
        </a:defRPr>
      </a:lvl5pPr>
      <a:lvl6pPr marL="2514600" indent="-228600" algn="l" defTabSz="449263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7F6E2E11-14BB-9293-6AC0-EE0DC21FF7A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8E611CCC-C9C8-D6A0-F106-73EF464521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2A6F7-D246-EC2E-D00C-AF08AC7DD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Unicode" pitchFamily="34" charset="0"/>
                <a:ea typeface="Arial Unicode" panose="020B0604020202020204" pitchFamily="34" charset="0"/>
                <a:cs typeface="Arial Unicode" pitchFamily="34" charset="0"/>
              </a:defRPr>
            </a:lvl1pPr>
          </a:lstStyle>
          <a:p>
            <a:pPr>
              <a:defRPr/>
            </a:pPr>
            <a:fld id="{9A630227-DF0E-491F-8993-E12F35342907}" type="datetimeFigureOut">
              <a:rPr lang="en-US"/>
              <a:pPr>
                <a:defRPr/>
              </a:pPr>
              <a:t>4/15/2026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0192B-FE34-EA43-6FA2-0B2135035A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 Unicode" pitchFamily="34" charset="0"/>
                <a:ea typeface="Arial Unicode" panose="020B0604020202020204" pitchFamily="34" charset="0"/>
                <a:cs typeface="Arial Unicode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BD565-B2AE-4EA6-8B76-997FFE686A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D74AD75-79A8-4D31-8690-E78E7E3518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94" r:id="rId1"/>
    <p:sldLayoutId id="2147485095" r:id="rId2"/>
    <p:sldLayoutId id="2147485096" r:id="rId3"/>
    <p:sldLayoutId id="2147485097" r:id="rId4"/>
    <p:sldLayoutId id="2147485098" r:id="rId5"/>
    <p:sldLayoutId id="2147485099" r:id="rId6"/>
    <p:sldLayoutId id="2147485100" r:id="rId7"/>
    <p:sldLayoutId id="2147485101" r:id="rId8"/>
    <p:sldLayoutId id="2147485102" r:id="rId9"/>
    <p:sldLayoutId id="2147485103" r:id="rId10"/>
    <p:sldLayoutId id="2147485104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introduction-convolution-neural-network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79">
            <a:extLst>
              <a:ext uri="{FF2B5EF4-FFF2-40B4-BE49-F238E27FC236}">
                <a16:creationId xmlns:a16="http://schemas.microsoft.com/office/drawing/2014/main" id="{4E50927E-67BC-1126-48C7-5EC1AE363ED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9388"/>
            <a:ext cx="7772400" cy="2232025"/>
          </a:xfrm>
        </p:spPr>
        <p:txBody>
          <a:bodyPr/>
          <a:lstStyle/>
          <a:p>
            <a:pPr>
              <a:lnSpc>
                <a:spcPct val="150000"/>
              </a:lnSpc>
              <a:buSzPct val="25000"/>
            </a:pPr>
            <a:r>
              <a:rPr lang="hy-AM" altLang="en-US" sz="2000" b="1">
                <a:solidFill>
                  <a:srgbClr val="16165D"/>
                </a:solidFill>
                <a:latin typeface="Sylfaen" panose="010A0502050306030303" pitchFamily="18" charset="0"/>
                <a:sym typeface="Arial" panose="020B0604020202020204" pitchFamily="34" charset="0"/>
              </a:rPr>
              <a:t>Փաթույթային նեյրոնային ցանցերի միջոցով ինտեգրալ սխեմաների ֆիզիկական նախագծման կանոնների ավտոմատ ստուգման ծրագրային միջոցի մշակումը</a:t>
            </a:r>
            <a:endParaRPr lang="en-US" altLang="en-US" sz="2000" b="1">
              <a:solidFill>
                <a:srgbClr val="22228B"/>
              </a:solidFill>
              <a:latin typeface="Sylfaen" panose="010A0502050306030303" pitchFamily="18" charset="0"/>
              <a:sym typeface="Arial" panose="020B0604020202020204" pitchFamily="34" charset="0"/>
            </a:endParaRPr>
          </a:p>
        </p:txBody>
      </p:sp>
      <p:sp>
        <p:nvSpPr>
          <p:cNvPr id="5123" name="Shape 80">
            <a:extLst>
              <a:ext uri="{FF2B5EF4-FFF2-40B4-BE49-F238E27FC236}">
                <a16:creationId xmlns:a16="http://schemas.microsoft.com/office/drawing/2014/main" id="{65F56106-E932-01C0-4277-1127EEF5EC46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684213" y="4292600"/>
            <a:ext cx="6400800" cy="1320800"/>
          </a:xfrm>
        </p:spPr>
        <p:txBody>
          <a:bodyPr tIns="75000"/>
          <a:lstStyle/>
          <a:p>
            <a:pPr>
              <a:spcBef>
                <a:spcPct val="0"/>
              </a:spcBef>
              <a:buSzPct val="25000"/>
            </a:pPr>
            <a:r>
              <a:rPr lang="en-US" altLang="en-US" sz="2200" b="1">
                <a:solidFill>
                  <a:srgbClr val="595959"/>
                </a:solidFill>
                <a:latin typeface="Sylfaen" panose="010A0502050306030303" pitchFamily="18" charset="0"/>
                <a:sym typeface="Arial" panose="020B0604020202020204" pitchFamily="34" charset="0"/>
              </a:rPr>
              <a:t>Խումբ՝		</a:t>
            </a:r>
            <a:r>
              <a:rPr lang="hy-AM" altLang="en-US" sz="2200" b="1">
                <a:solidFill>
                  <a:srgbClr val="595959"/>
                </a:solidFill>
                <a:latin typeface="Sylfaen" panose="010A0502050306030303" pitchFamily="18" charset="0"/>
                <a:sym typeface="Arial" panose="020B0604020202020204" pitchFamily="34" charset="0"/>
              </a:rPr>
              <a:t>ՏՏ </a:t>
            </a:r>
            <a:r>
              <a:rPr lang="en-US" altLang="en-US" sz="2200" b="1">
                <a:solidFill>
                  <a:srgbClr val="595959"/>
                </a:solidFill>
                <a:latin typeface="Sylfaen" panose="010A0502050306030303" pitchFamily="18" charset="0"/>
                <a:sym typeface="Arial" panose="020B0604020202020204" pitchFamily="34" charset="0"/>
              </a:rPr>
              <a:t>219-</a:t>
            </a:r>
            <a:r>
              <a:rPr lang="hy-AM" altLang="en-US" sz="2200" b="1">
                <a:solidFill>
                  <a:srgbClr val="595959"/>
                </a:solidFill>
                <a:latin typeface="Sylfaen" panose="010A0502050306030303" pitchFamily="18" charset="0"/>
                <a:sym typeface="Arial" panose="020B0604020202020204" pitchFamily="34" charset="0"/>
              </a:rPr>
              <a:t>Ս</a:t>
            </a:r>
            <a:r>
              <a:rPr lang="en-US" altLang="en-US" sz="2200" b="1">
                <a:solidFill>
                  <a:srgbClr val="595959"/>
                </a:solidFill>
                <a:latin typeface="Sylfaen" panose="010A0502050306030303" pitchFamily="18" charset="0"/>
                <a:sym typeface="Arial" panose="020B0604020202020204" pitchFamily="34" charset="0"/>
              </a:rPr>
              <a:t>      </a:t>
            </a:r>
            <a:endParaRPr lang="hy-AM" altLang="en-US" sz="2200" b="1">
              <a:solidFill>
                <a:srgbClr val="595959"/>
              </a:solidFill>
              <a:latin typeface="Sylfaen" panose="010A0502050306030303" pitchFamily="18" charset="0"/>
              <a:sym typeface="Arial" panose="020B0604020202020204" pitchFamily="34" charset="0"/>
            </a:endParaRPr>
          </a:p>
          <a:p>
            <a:pPr>
              <a:spcBef>
                <a:spcPct val="0"/>
              </a:spcBef>
              <a:buSzPct val="25000"/>
            </a:pPr>
            <a:r>
              <a:rPr lang="en-US" altLang="en-US" sz="2200" b="1">
                <a:solidFill>
                  <a:srgbClr val="595959"/>
                </a:solidFill>
                <a:latin typeface="Sylfaen" panose="010A0502050306030303" pitchFamily="18" charset="0"/>
                <a:sym typeface="Arial" panose="020B0604020202020204" pitchFamily="34" charset="0"/>
              </a:rPr>
              <a:t>Ուսանող՝		</a:t>
            </a:r>
            <a:r>
              <a:rPr lang="hy-AM" altLang="en-US" sz="2200" b="1">
                <a:solidFill>
                  <a:srgbClr val="595959"/>
                </a:solidFill>
                <a:latin typeface="Sylfaen" panose="010A0502050306030303" pitchFamily="18" charset="0"/>
                <a:sym typeface="Arial" panose="020B0604020202020204" pitchFamily="34" charset="0"/>
              </a:rPr>
              <a:t>Մանե Շարոպետրոսյան</a:t>
            </a:r>
          </a:p>
          <a:p>
            <a:pPr>
              <a:spcBef>
                <a:spcPct val="0"/>
              </a:spcBef>
              <a:buSzPct val="25000"/>
            </a:pPr>
            <a:r>
              <a:rPr lang="en-US" altLang="en-US" sz="2200" b="1">
                <a:solidFill>
                  <a:srgbClr val="595959"/>
                </a:solidFill>
                <a:latin typeface="Sylfaen" panose="010A0502050306030303" pitchFamily="18" charset="0"/>
                <a:sym typeface="Arial" panose="020B0604020202020204" pitchFamily="34" charset="0"/>
              </a:rPr>
              <a:t>Ղեկավար՝	</a:t>
            </a:r>
            <a:r>
              <a:rPr lang="hy-AM" altLang="en-US" sz="2200" b="1">
                <a:solidFill>
                  <a:srgbClr val="595959"/>
                </a:solidFill>
                <a:latin typeface="Sylfaen" panose="010A0502050306030303" pitchFamily="18" charset="0"/>
                <a:sym typeface="Arial" panose="020B0604020202020204" pitchFamily="34" charset="0"/>
              </a:rPr>
              <a:t>տ․գ․թ․ Տիգրան Խաչատրյան</a:t>
            </a:r>
            <a:endParaRPr lang="en-US" altLang="en-US" sz="2200" b="1">
              <a:solidFill>
                <a:srgbClr val="595959"/>
              </a:solidFill>
              <a:latin typeface="Sylfaen" panose="010A0502050306030303" pitchFamily="18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6">
            <a:extLst>
              <a:ext uri="{FF2B5EF4-FFF2-40B4-BE49-F238E27FC236}">
                <a16:creationId xmlns:a16="http://schemas.microsoft.com/office/drawing/2014/main" id="{DC8D2D2A-BF46-C4FB-5F58-6B99499E3AC4}"/>
              </a:ext>
            </a:extLst>
          </p:cNvPr>
          <p:cNvSpPr/>
          <p:nvPr/>
        </p:nvSpPr>
        <p:spPr>
          <a:xfrm>
            <a:off x="0" y="685800"/>
            <a:ext cx="9144000" cy="762000"/>
          </a:xfrm>
          <a:prstGeom prst="roundRect">
            <a:avLst>
              <a:gd name="adj" fmla="val 4680"/>
            </a:avLst>
          </a:prstGeom>
          <a:noFill/>
          <a:ln>
            <a:noFill/>
          </a:ln>
        </p:spPr>
        <p:txBody>
          <a:bodyPr lIns="91425" tIns="45700" rIns="91425" bIns="45700" anchor="b"/>
          <a:lstStyle/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ern="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7171" name="Shape 87">
            <a:extLst>
              <a:ext uri="{FF2B5EF4-FFF2-40B4-BE49-F238E27FC236}">
                <a16:creationId xmlns:a16="http://schemas.microsoft.com/office/drawing/2014/main" id="{C9D468D1-02D9-1099-B05C-2FA60054E2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4838" cy="1138237"/>
          </a:xfrm>
        </p:spPr>
        <p:txBody>
          <a:bodyPr/>
          <a:lstStyle/>
          <a:p>
            <a:pPr>
              <a:buSzPct val="25000"/>
            </a:pPr>
            <a:r>
              <a:rPr lang="en-US" altLang="en-US" sz="2800" b="1">
                <a:solidFill>
                  <a:srgbClr val="321B6B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Բովանդակություն</a:t>
            </a:r>
            <a:endParaRPr lang="en-US" altLang="en-US" sz="3000" b="1">
              <a:solidFill>
                <a:srgbClr val="321B6B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172" name="Shape 88">
            <a:extLst>
              <a:ext uri="{FF2B5EF4-FFF2-40B4-BE49-F238E27FC236}">
                <a16:creationId xmlns:a16="http://schemas.microsoft.com/office/drawing/2014/main" id="{45F071A6-3C90-196E-5144-516A6AC82BCF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4838" cy="452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75000" rIns="90000" bIns="46800"/>
          <a:lstStyle>
            <a:lvl1pPr marL="457200" indent="-457200"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9pPr>
          </a:lstStyle>
          <a:p>
            <a:pPr algn="just">
              <a:lnSpc>
                <a:spcPct val="93000"/>
              </a:lnSpc>
              <a:spcBef>
                <a:spcPts val="800"/>
              </a:spcBef>
              <a:buClr>
                <a:srgbClr val="16165D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>
              <a:solidFill>
                <a:srgbClr val="22228B"/>
              </a:solidFill>
              <a:latin typeface="Sylfaen" panose="010A0502050306030303" pitchFamily="18" charset="0"/>
              <a:sym typeface="Arial" panose="020B0604020202020204" pitchFamily="34" charset="0"/>
            </a:endParaRPr>
          </a:p>
        </p:txBody>
      </p:sp>
      <p:sp>
        <p:nvSpPr>
          <p:cNvPr id="7173" name="Content Placeholder 6">
            <a:extLst>
              <a:ext uri="{FF2B5EF4-FFF2-40B4-BE49-F238E27FC236}">
                <a16:creationId xmlns:a16="http://schemas.microsoft.com/office/drawing/2014/main" id="{EE80E6BE-1B1D-F32A-F379-88F55EEFE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3" y="1168400"/>
            <a:ext cx="8232775" cy="452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75024" rIns="90000" bIns="46800"/>
          <a:lstStyle>
            <a:lvl1pPr marL="457200" indent="-457200"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9pPr>
          </a:lstStyle>
          <a:p>
            <a:pPr eaLnBrk="1" hangingPunct="1">
              <a:spcBef>
                <a:spcPts val="800"/>
              </a:spcBef>
              <a:buClr>
                <a:srgbClr val="321B6B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ru-RU" sz="2800" b="1" dirty="0" err="1">
                <a:solidFill>
                  <a:srgbClr val="321B6B"/>
                </a:solidFill>
                <a:latin typeface="Sylfaen" panose="010A0502050306030303" pitchFamily="18" charset="0"/>
              </a:rPr>
              <a:t>Ներածություն</a:t>
            </a:r>
            <a:endParaRPr lang="en-US" altLang="ru-RU" sz="2800" b="1" dirty="0">
              <a:solidFill>
                <a:srgbClr val="321B6B"/>
              </a:solidFill>
              <a:latin typeface="Sylfaen" panose="010A0502050306030303" pitchFamily="18" charset="0"/>
            </a:endParaRPr>
          </a:p>
          <a:p>
            <a:pPr eaLnBrk="1" hangingPunct="1">
              <a:spcBef>
                <a:spcPts val="800"/>
              </a:spcBef>
              <a:buClr>
                <a:srgbClr val="321B6B"/>
              </a:buClr>
              <a:buSzPct val="100000"/>
              <a:buFont typeface="Arial" panose="020B0604020202020204" pitchFamily="34" charset="0"/>
              <a:buChar char="•"/>
            </a:pPr>
            <a:r>
              <a:rPr lang="hy-AM" altLang="ru-RU" sz="2800" b="1" dirty="0">
                <a:solidFill>
                  <a:srgbClr val="321B6B"/>
                </a:solidFill>
                <a:latin typeface="Sylfaen" panose="010A0502050306030303" pitchFamily="18" charset="0"/>
              </a:rPr>
              <a:t>Գրականության ակնարկ</a:t>
            </a:r>
            <a:endParaRPr lang="en-US" altLang="ru-RU" sz="2800" b="1" dirty="0">
              <a:solidFill>
                <a:srgbClr val="321B6B"/>
              </a:solidFill>
              <a:latin typeface="Sylfaen" panose="010A0502050306030303" pitchFamily="18" charset="0"/>
            </a:endParaRPr>
          </a:p>
          <a:p>
            <a:pPr eaLnBrk="1" hangingPunct="1">
              <a:spcBef>
                <a:spcPts val="800"/>
              </a:spcBef>
              <a:buClr>
                <a:srgbClr val="321B6B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ru-RU" sz="2800" b="1" dirty="0" err="1">
                <a:solidFill>
                  <a:srgbClr val="321B6B"/>
                </a:solidFill>
                <a:latin typeface="Sylfaen" panose="010A0502050306030303" pitchFamily="18" charset="0"/>
              </a:rPr>
              <a:t>Խնդրի</a:t>
            </a:r>
            <a:r>
              <a:rPr lang="en-US" altLang="ru-RU" sz="2800" b="1" dirty="0">
                <a:solidFill>
                  <a:srgbClr val="321B6B"/>
                </a:solidFill>
                <a:latin typeface="Sylfaen" panose="010A0502050306030303" pitchFamily="18" charset="0"/>
              </a:rPr>
              <a:t> </a:t>
            </a:r>
            <a:r>
              <a:rPr lang="en-US" altLang="ru-RU" sz="2800" b="1" dirty="0" err="1">
                <a:solidFill>
                  <a:srgbClr val="321B6B"/>
                </a:solidFill>
                <a:latin typeface="Sylfaen" panose="010A0502050306030303" pitchFamily="18" charset="0"/>
              </a:rPr>
              <a:t>դրվածք</a:t>
            </a:r>
            <a:endParaRPr lang="en-US" altLang="ru-RU" sz="2800" b="1" dirty="0">
              <a:solidFill>
                <a:srgbClr val="321B6B"/>
              </a:solidFill>
              <a:latin typeface="Sylfaen" panose="010A0502050306030303" pitchFamily="18" charset="0"/>
            </a:endParaRPr>
          </a:p>
          <a:p>
            <a:pPr eaLnBrk="1" hangingPunct="1">
              <a:spcBef>
                <a:spcPts val="800"/>
              </a:spcBef>
              <a:buClr>
                <a:srgbClr val="321B6B"/>
              </a:buClr>
              <a:buSzPct val="100000"/>
              <a:buFont typeface="Arial" panose="020B0604020202020204" pitchFamily="34" charset="0"/>
              <a:buChar char="•"/>
            </a:pPr>
            <a:r>
              <a:rPr lang="hy-AM" altLang="en-US" sz="2800" b="1" dirty="0">
                <a:solidFill>
                  <a:srgbClr val="321B6B"/>
                </a:solidFill>
                <a:latin typeface="Sylfaen" panose="010A0502050306030303" pitchFamily="18" charset="0"/>
              </a:rPr>
              <a:t>Տեսական առնչություններ</a:t>
            </a:r>
            <a:endParaRPr lang="en-US" altLang="en-US" sz="2800" b="1" dirty="0">
              <a:solidFill>
                <a:srgbClr val="321B6B"/>
              </a:solidFill>
              <a:latin typeface="Sylfaen" panose="010A0502050306030303" pitchFamily="18" charset="0"/>
            </a:endParaRPr>
          </a:p>
          <a:p>
            <a:pPr eaLnBrk="1" hangingPunct="1">
              <a:spcBef>
                <a:spcPts val="800"/>
              </a:spcBef>
              <a:buClr>
                <a:srgbClr val="321B6B"/>
              </a:buClr>
              <a:buSzPct val="100000"/>
              <a:buFont typeface="Arial" panose="020B0604020202020204" pitchFamily="34" charset="0"/>
              <a:buChar char="•"/>
            </a:pPr>
            <a:r>
              <a:rPr lang="hy-AM" altLang="en-US" sz="2800" b="1" dirty="0">
                <a:solidFill>
                  <a:srgbClr val="321B6B"/>
                </a:solidFill>
                <a:latin typeface="Sylfaen" panose="010A0502050306030303" pitchFamily="18" charset="0"/>
              </a:rPr>
              <a:t>Ծրագրային իրականացում</a:t>
            </a:r>
          </a:p>
          <a:p>
            <a:pPr eaLnBrk="1" hangingPunct="1">
              <a:spcBef>
                <a:spcPts val="800"/>
              </a:spcBef>
              <a:buClr>
                <a:srgbClr val="321B6B"/>
              </a:buClr>
              <a:buSzPct val="100000"/>
              <a:buFont typeface="Arial" panose="020B0604020202020204" pitchFamily="34" charset="0"/>
              <a:buChar char="•"/>
            </a:pPr>
            <a:r>
              <a:rPr lang="hy-AM" altLang="en-US" sz="2800" b="1" dirty="0">
                <a:solidFill>
                  <a:srgbClr val="321B6B"/>
                </a:solidFill>
                <a:latin typeface="Sylfaen" panose="010A0502050306030303" pitchFamily="18" charset="0"/>
              </a:rPr>
              <a:t>Գրաֆիկական ինտերֆեյս</a:t>
            </a:r>
          </a:p>
          <a:p>
            <a:pPr eaLnBrk="1" hangingPunct="1">
              <a:spcBef>
                <a:spcPts val="800"/>
              </a:spcBef>
              <a:buClr>
                <a:srgbClr val="321B6B"/>
              </a:buClr>
              <a:buSzPct val="100000"/>
              <a:buFont typeface="Arial" panose="020B0604020202020204" pitchFamily="34" charset="0"/>
              <a:buChar char="•"/>
            </a:pPr>
            <a:r>
              <a:rPr lang="hy-AM" altLang="en-US" sz="2800" b="1" dirty="0">
                <a:solidFill>
                  <a:srgbClr val="321B6B"/>
                </a:solidFill>
                <a:latin typeface="Sylfaen" panose="010A0502050306030303" pitchFamily="18" charset="0"/>
              </a:rPr>
              <a:t>Փորձնական հետազոտություններ</a:t>
            </a:r>
          </a:p>
          <a:p>
            <a:pPr eaLnBrk="1" hangingPunct="1">
              <a:spcBef>
                <a:spcPts val="800"/>
              </a:spcBef>
              <a:buClr>
                <a:srgbClr val="321B6B"/>
              </a:buClr>
              <a:buSzPct val="100000"/>
              <a:buFont typeface="Arial" panose="020B0604020202020204" pitchFamily="34" charset="0"/>
              <a:buChar char="•"/>
            </a:pPr>
            <a:r>
              <a:rPr lang="hy-AM" altLang="en-US" sz="2800" b="1" dirty="0">
                <a:solidFill>
                  <a:srgbClr val="321B6B"/>
                </a:solidFill>
                <a:latin typeface="Sylfaen" panose="010A0502050306030303" pitchFamily="18" charset="0"/>
              </a:rPr>
              <a:t>Եզրակացություն</a:t>
            </a:r>
            <a:endParaRPr lang="en-US" altLang="en-US" sz="2800" b="1" dirty="0">
              <a:solidFill>
                <a:srgbClr val="321B6B"/>
              </a:solidFill>
              <a:latin typeface="Sylfaen" panose="010A0502050306030303" pitchFamily="18" charset="0"/>
            </a:endParaRPr>
          </a:p>
          <a:p>
            <a:pPr eaLnBrk="1" hangingPunct="1">
              <a:spcBef>
                <a:spcPts val="800"/>
              </a:spcBef>
              <a:buClr>
                <a:srgbClr val="321B6B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altLang="en-US" sz="2800" b="1" dirty="0">
                <a:solidFill>
                  <a:srgbClr val="321B6B"/>
                </a:solidFill>
                <a:latin typeface="Sylfaen" panose="010A0502050306030303" pitchFamily="18" charset="0"/>
              </a:rPr>
              <a:t>Գրականության ցանկ</a:t>
            </a:r>
          </a:p>
          <a:p>
            <a:pPr eaLnBrk="1" hangingPunct="1">
              <a:lnSpc>
                <a:spcPct val="93000"/>
              </a:lnSpc>
              <a:spcBef>
                <a:spcPts val="800"/>
              </a:spcBef>
              <a:buClr>
                <a:srgbClr val="16165D"/>
              </a:buClr>
              <a:buSzPct val="100000"/>
              <a:buFont typeface="Wingdings" panose="05000000000000000000" pitchFamily="2" charset="2"/>
              <a:buChar char="Ø"/>
            </a:pPr>
            <a:endParaRPr lang="en-US" altLang="ru-RU" dirty="0">
              <a:solidFill>
                <a:srgbClr val="000000"/>
              </a:solidFill>
              <a:latin typeface="Sylfaen" panose="010A0502050306030303" pitchFamily="18" charset="0"/>
            </a:endParaRPr>
          </a:p>
          <a:p>
            <a:pPr eaLnBrk="1" hangingPunct="1">
              <a:lnSpc>
                <a:spcPct val="93000"/>
              </a:lnSpc>
              <a:spcBef>
                <a:spcPts val="800"/>
              </a:spcBef>
              <a:buClr>
                <a:srgbClr val="16165D"/>
              </a:buClr>
              <a:buSzPct val="100000"/>
              <a:buFont typeface="Wingdings" panose="05000000000000000000" pitchFamily="2" charset="2"/>
              <a:buChar char="Ø"/>
            </a:pPr>
            <a:endParaRPr lang="en-US" altLang="ru-RU" dirty="0">
              <a:solidFill>
                <a:srgbClr val="000000"/>
              </a:solidFill>
              <a:latin typeface="Sylfaen" panose="010A0502050306030303" pitchFamily="18" charset="0"/>
            </a:endParaRPr>
          </a:p>
          <a:p>
            <a:pPr eaLnBrk="1" hangingPunct="1">
              <a:lnSpc>
                <a:spcPct val="93000"/>
              </a:lnSpc>
              <a:spcBef>
                <a:spcPts val="800"/>
              </a:spcBef>
              <a:buClr>
                <a:srgbClr val="16165D"/>
              </a:buClr>
              <a:buSzPct val="100000"/>
              <a:buFont typeface="Wingdings" panose="05000000000000000000" pitchFamily="2" charset="2"/>
              <a:buChar char="Ø"/>
            </a:pPr>
            <a:endParaRPr lang="en-US" altLang="ru-RU" sz="2800" dirty="0">
              <a:solidFill>
                <a:srgbClr val="000000"/>
              </a:solidFill>
              <a:latin typeface="Sylfaen" panose="010A050205030603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825CB879-2393-27AF-F5A9-4203ED29A4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4838" cy="561975"/>
          </a:xfrm>
        </p:spPr>
        <p:txBody>
          <a:bodyPr/>
          <a:lstStyle/>
          <a:p>
            <a:r>
              <a:rPr lang="en-US" altLang="ru-RU" b="1">
                <a:solidFill>
                  <a:srgbClr val="321B6B"/>
                </a:solidFill>
                <a:latin typeface="Sylfaen" panose="010A0502050306030303" pitchFamily="18" charset="0"/>
              </a:rPr>
              <a:t>Ներածություն</a:t>
            </a:r>
            <a:endParaRPr lang="en-US" altLang="en-US" b="1">
              <a:solidFill>
                <a:srgbClr val="321B6B"/>
              </a:solidFill>
            </a:endParaRPr>
          </a:p>
        </p:txBody>
      </p:sp>
      <p:sp>
        <p:nvSpPr>
          <p:cNvPr id="9219" name="TextBox 7">
            <a:extLst>
              <a:ext uri="{FF2B5EF4-FFF2-40B4-BE49-F238E27FC236}">
                <a16:creationId xmlns:a16="http://schemas.microsoft.com/office/drawing/2014/main" id="{5BCA3D6D-A403-0680-1455-468F6D5A1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948" y="1082378"/>
            <a:ext cx="3014663" cy="3381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hy-AM" altLang="en-US" sz="1600" b="1">
                <a:solidFill>
                  <a:srgbClr val="321B6B"/>
                </a:solidFill>
              </a:rPr>
              <a:t>Տրամաբանական սինթեզ</a:t>
            </a:r>
            <a:endParaRPr lang="en-US" altLang="en-US" sz="1600" b="1">
              <a:solidFill>
                <a:srgbClr val="321B6B"/>
              </a:solidFill>
            </a:endParaRPr>
          </a:p>
        </p:txBody>
      </p:sp>
      <p:sp>
        <p:nvSpPr>
          <p:cNvPr id="9220" name="TextBox 8">
            <a:extLst>
              <a:ext uri="{FF2B5EF4-FFF2-40B4-BE49-F238E27FC236}">
                <a16:creationId xmlns:a16="http://schemas.microsoft.com/office/drawing/2014/main" id="{167763D6-787F-6CCE-50B5-5E1F79C1F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36" y="3147715"/>
            <a:ext cx="2309812" cy="3381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hy-AM" altLang="en-US" sz="1600" b="1">
                <a:solidFill>
                  <a:srgbClr val="321B6B"/>
                </a:solidFill>
              </a:rPr>
              <a:t>Բաժանում</a:t>
            </a:r>
          </a:p>
        </p:txBody>
      </p:sp>
      <p:sp>
        <p:nvSpPr>
          <p:cNvPr id="9221" name="TextBox 9">
            <a:extLst>
              <a:ext uri="{FF2B5EF4-FFF2-40B4-BE49-F238E27FC236}">
                <a16:creationId xmlns:a16="http://schemas.microsoft.com/office/drawing/2014/main" id="{13BE4888-00BE-ECE5-4A5E-0DFF59C80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148" y="5235278"/>
            <a:ext cx="3278188" cy="3381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hy-AM" altLang="en-US" sz="1600" b="1">
                <a:solidFill>
                  <a:srgbClr val="321B6B"/>
                </a:solidFill>
              </a:rPr>
              <a:t>Հատակաբաժնի տեղադրում</a:t>
            </a:r>
          </a:p>
        </p:txBody>
      </p:sp>
      <p:sp>
        <p:nvSpPr>
          <p:cNvPr id="9222" name="TextBox 11">
            <a:extLst>
              <a:ext uri="{FF2B5EF4-FFF2-40B4-BE49-F238E27FC236}">
                <a16:creationId xmlns:a16="http://schemas.microsoft.com/office/drawing/2014/main" id="{23216855-C46B-ACB9-2500-8511E9F36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0861" y="1077615"/>
            <a:ext cx="2741612" cy="8302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hy-AM" altLang="en-US" sz="1600" b="1">
                <a:solidFill>
                  <a:srgbClr val="321B6B"/>
                </a:solidFill>
              </a:rPr>
              <a:t>Գլոբալ երթուղավորում</a:t>
            </a:r>
            <a:r>
              <a:rPr lang="en-US" altLang="en-US" sz="1600" b="1">
                <a:solidFill>
                  <a:srgbClr val="321B6B"/>
                </a:solidFill>
              </a:rPr>
              <a:t> (</a:t>
            </a:r>
            <a:r>
              <a:rPr lang="hy-AM" altLang="en-US" sz="1600" b="1">
                <a:solidFill>
                  <a:srgbClr val="321B6B"/>
                </a:solidFill>
              </a:rPr>
              <a:t>Մոտավոր լարերի ուղիների որոշում</a:t>
            </a:r>
            <a:r>
              <a:rPr lang="en-US" altLang="en-US" sz="1600" b="1">
                <a:solidFill>
                  <a:srgbClr val="321B6B"/>
                </a:solidFill>
              </a:rPr>
              <a:t>)</a:t>
            </a:r>
          </a:p>
        </p:txBody>
      </p:sp>
      <p:sp>
        <p:nvSpPr>
          <p:cNvPr id="9223" name="TextBox 12">
            <a:extLst>
              <a:ext uri="{FF2B5EF4-FFF2-40B4-BE49-F238E27FC236}">
                <a16:creationId xmlns:a16="http://schemas.microsoft.com/office/drawing/2014/main" id="{82E39AE0-B89E-A931-DE37-EA82B594D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373" y="3423940"/>
            <a:ext cx="3416300" cy="1076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hy-AM" altLang="en-US" sz="1600" b="1">
                <a:solidFill>
                  <a:srgbClr val="321B6B"/>
                </a:solidFill>
              </a:rPr>
              <a:t>Մանրամասն երթուղավորում</a:t>
            </a:r>
            <a:r>
              <a:rPr lang="en-US" altLang="en-US" sz="1600" b="1">
                <a:solidFill>
                  <a:srgbClr val="321B6B"/>
                </a:solidFill>
              </a:rPr>
              <a:t> (</a:t>
            </a:r>
            <a:r>
              <a:rPr lang="hy-AM" altLang="en-US" sz="1600" b="1">
                <a:solidFill>
                  <a:srgbClr val="321B6B"/>
                </a:solidFill>
              </a:rPr>
              <a:t>Մետաղալարերի ճշգրիտ երկրաչափության վերջնականցում</a:t>
            </a:r>
            <a:r>
              <a:rPr lang="en-US" altLang="en-US" sz="1600" b="1">
                <a:solidFill>
                  <a:srgbClr val="321B6B"/>
                </a:solidFill>
              </a:rPr>
              <a:t>)</a:t>
            </a:r>
          </a:p>
        </p:txBody>
      </p:sp>
      <p:grpSp>
        <p:nvGrpSpPr>
          <p:cNvPr id="9224" name="Group 15">
            <a:extLst>
              <a:ext uri="{FF2B5EF4-FFF2-40B4-BE49-F238E27FC236}">
                <a16:creationId xmlns:a16="http://schemas.microsoft.com/office/drawing/2014/main" id="{0911EB32-D454-98B4-5487-55465B847739}"/>
              </a:ext>
            </a:extLst>
          </p:cNvPr>
          <p:cNvGrpSpPr>
            <a:grpSpLocks/>
          </p:cNvGrpSpPr>
          <p:nvPr/>
        </p:nvGrpSpPr>
        <p:grpSpPr bwMode="auto">
          <a:xfrm>
            <a:off x="3203848" y="1988840"/>
            <a:ext cx="3014663" cy="1257300"/>
            <a:chOff x="1877442" y="1599868"/>
            <a:chExt cx="3013923" cy="1257424"/>
          </a:xfrm>
        </p:grpSpPr>
        <p:sp>
          <p:nvSpPr>
            <p:cNvPr id="11" name="Diamond 10">
              <a:extLst>
                <a:ext uri="{FF2B5EF4-FFF2-40B4-BE49-F238E27FC236}">
                  <a16:creationId xmlns:a16="http://schemas.microsoft.com/office/drawing/2014/main" id="{F1BEF557-3EC2-CC2A-15D9-E684852C296A}"/>
                </a:ext>
              </a:extLst>
            </p:cNvPr>
            <p:cNvSpPr/>
            <p:nvPr/>
          </p:nvSpPr>
          <p:spPr>
            <a:xfrm>
              <a:off x="1877442" y="1599868"/>
              <a:ext cx="3013923" cy="1257424"/>
            </a:xfrm>
            <a:prstGeom prst="diamond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236" name="TextBox 14">
              <a:extLst>
                <a:ext uri="{FF2B5EF4-FFF2-40B4-BE49-F238E27FC236}">
                  <a16:creationId xmlns:a16="http://schemas.microsoft.com/office/drawing/2014/main" id="{7E5A2996-3C19-ECFE-0378-0E133EADB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1020" y="1829935"/>
              <a:ext cx="2310896" cy="8310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hy-AM" altLang="en-US" sz="1600" b="1" dirty="0">
                  <a:solidFill>
                    <a:srgbClr val="321B6B"/>
                  </a:solidFill>
                </a:rPr>
                <a:t>Նախագծման կանոնների խախտում</a:t>
              </a:r>
              <a:endParaRPr lang="en-US" altLang="en-US" sz="1600" b="1" dirty="0">
                <a:solidFill>
                  <a:srgbClr val="321B6B"/>
                </a:solidFill>
              </a:endParaRP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785F5CA-CD3D-DBA0-5726-AD4553DCD1CF}"/>
              </a:ext>
            </a:extLst>
          </p:cNvPr>
          <p:cNvCxnSpPr>
            <a:cxnSpLocks/>
            <a:stCxn id="11" idx="1"/>
          </p:cNvCxnSpPr>
          <p:nvPr/>
        </p:nvCxnSpPr>
        <p:spPr bwMode="auto">
          <a:xfrm flipV="1">
            <a:off x="3203848" y="1420515"/>
            <a:ext cx="0" cy="1196975"/>
          </a:xfrm>
          <a:prstGeom prst="straightConnector1">
            <a:avLst/>
          </a:prstGeom>
          <a:ln w="38100">
            <a:headE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E9D3FF0-A7F2-398D-CDD6-68226282F861}"/>
              </a:ext>
            </a:extLst>
          </p:cNvPr>
          <p:cNvCxnSpPr>
            <a:cxnSpLocks/>
          </p:cNvCxnSpPr>
          <p:nvPr/>
        </p:nvCxnSpPr>
        <p:spPr bwMode="auto">
          <a:xfrm flipV="1">
            <a:off x="6218511" y="1907878"/>
            <a:ext cx="0" cy="728662"/>
          </a:xfrm>
          <a:prstGeom prst="straightConnector1">
            <a:avLst/>
          </a:prstGeom>
          <a:ln w="38100">
            <a:headE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27" name="TextBox 25">
            <a:extLst>
              <a:ext uri="{FF2B5EF4-FFF2-40B4-BE49-F238E27FC236}">
                <a16:creationId xmlns:a16="http://schemas.microsoft.com/office/drawing/2014/main" id="{6362BE80-C9F2-C204-0C63-E9803FABC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4473" y="4857453"/>
            <a:ext cx="3648075" cy="8302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hy-AM" altLang="en-US" sz="1600" b="1">
                <a:solidFill>
                  <a:srgbClr val="321B6B"/>
                </a:solidFill>
              </a:rPr>
              <a:t>Նախագծման կանոնների ստուգման ջերմային կետի կանխատեսում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3EC4864-22EC-D60D-B798-445FFB0C109F}"/>
              </a:ext>
            </a:extLst>
          </p:cNvPr>
          <p:cNvCxnSpPr>
            <a:cxnSpLocks/>
          </p:cNvCxnSpPr>
          <p:nvPr/>
        </p:nvCxnSpPr>
        <p:spPr bwMode="auto">
          <a:xfrm>
            <a:off x="7442473" y="1907878"/>
            <a:ext cx="0" cy="1516062"/>
          </a:xfrm>
          <a:prstGeom prst="straightConnector1">
            <a:avLst/>
          </a:prstGeom>
          <a:ln w="38100">
            <a:headE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57C8258-CDF9-2B2F-6E5F-D0D793B83ECF}"/>
              </a:ext>
            </a:extLst>
          </p:cNvPr>
          <p:cNvCxnSpPr>
            <a:cxnSpLocks/>
          </p:cNvCxnSpPr>
          <p:nvPr/>
        </p:nvCxnSpPr>
        <p:spPr bwMode="auto">
          <a:xfrm>
            <a:off x="3548336" y="5405140"/>
            <a:ext cx="846137" cy="0"/>
          </a:xfrm>
          <a:prstGeom prst="straightConnector1">
            <a:avLst/>
          </a:prstGeom>
          <a:ln w="38100">
            <a:headE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95F323A-BF27-514C-4A89-6D09A358B943}"/>
              </a:ext>
            </a:extLst>
          </p:cNvPr>
          <p:cNvCxnSpPr>
            <a:cxnSpLocks/>
            <a:endCxn id="11" idx="2"/>
          </p:cNvCxnSpPr>
          <p:nvPr/>
        </p:nvCxnSpPr>
        <p:spPr bwMode="auto">
          <a:xfrm flipH="1" flipV="1">
            <a:off x="4711973" y="3246140"/>
            <a:ext cx="0" cy="1611313"/>
          </a:xfrm>
          <a:prstGeom prst="straightConnector1">
            <a:avLst/>
          </a:prstGeom>
          <a:ln w="38100">
            <a:headE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31" name="TextBox 34">
            <a:extLst>
              <a:ext uri="{FF2B5EF4-FFF2-40B4-BE49-F238E27FC236}">
                <a16:creationId xmlns:a16="http://schemas.microsoft.com/office/drawing/2014/main" id="{0934662D-1BDE-11EB-174C-3B94290D5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7911" y="1853903"/>
            <a:ext cx="5349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hy-AM" altLang="en-US" sz="1600" b="1">
                <a:solidFill>
                  <a:srgbClr val="321B6B"/>
                </a:solidFill>
              </a:rPr>
              <a:t>Այո</a:t>
            </a:r>
            <a:endParaRPr lang="en-US" altLang="en-US" sz="1600" b="1">
              <a:solidFill>
                <a:srgbClr val="321B6B"/>
              </a:solidFill>
            </a:endParaRPr>
          </a:p>
        </p:txBody>
      </p:sp>
      <p:sp>
        <p:nvSpPr>
          <p:cNvPr id="9232" name="TextBox 35">
            <a:extLst>
              <a:ext uri="{FF2B5EF4-FFF2-40B4-BE49-F238E27FC236}">
                <a16:creationId xmlns:a16="http://schemas.microsoft.com/office/drawing/2014/main" id="{DAD93AD8-20A5-02DB-8BCD-29852B60D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573" y="2120603"/>
            <a:ext cx="5365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hy-AM" altLang="en-US" sz="1600" b="1">
                <a:solidFill>
                  <a:srgbClr val="321B6B"/>
                </a:solidFill>
              </a:rPr>
              <a:t>Ոչ</a:t>
            </a:r>
            <a:endParaRPr lang="en-US" altLang="en-US" sz="1600" b="1">
              <a:solidFill>
                <a:srgbClr val="321B6B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4460247-6778-F470-D17E-40FA2CFA4799}"/>
              </a:ext>
            </a:extLst>
          </p:cNvPr>
          <p:cNvCxnSpPr>
            <a:cxnSpLocks/>
          </p:cNvCxnSpPr>
          <p:nvPr/>
        </p:nvCxnSpPr>
        <p:spPr bwMode="auto">
          <a:xfrm>
            <a:off x="1716361" y="3485853"/>
            <a:ext cx="0" cy="1749425"/>
          </a:xfrm>
          <a:prstGeom prst="straightConnector1">
            <a:avLst/>
          </a:prstGeom>
          <a:ln w="38100">
            <a:headE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E161885-BF90-CDF0-719D-A057D5AEB061}"/>
              </a:ext>
            </a:extLst>
          </p:cNvPr>
          <p:cNvCxnSpPr>
            <a:cxnSpLocks/>
          </p:cNvCxnSpPr>
          <p:nvPr/>
        </p:nvCxnSpPr>
        <p:spPr bwMode="auto">
          <a:xfrm>
            <a:off x="1683023" y="1420515"/>
            <a:ext cx="0" cy="1728788"/>
          </a:xfrm>
          <a:prstGeom prst="straightConnector1">
            <a:avLst/>
          </a:prstGeom>
          <a:ln w="38100">
            <a:headEnd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B3295117-3B3E-3BA2-0768-AB37C1F2D0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4838" cy="561975"/>
          </a:xfrm>
        </p:spPr>
        <p:txBody>
          <a:bodyPr/>
          <a:lstStyle/>
          <a:p>
            <a:r>
              <a:rPr lang="en-US" altLang="ru-RU" b="1">
                <a:solidFill>
                  <a:srgbClr val="321B6B"/>
                </a:solidFill>
                <a:latin typeface="Sylfaen" panose="010A0502050306030303" pitchFamily="18" charset="0"/>
              </a:rPr>
              <a:t>Ներածություն (2)</a:t>
            </a:r>
            <a:endParaRPr lang="en-US" altLang="en-US" b="1">
              <a:solidFill>
                <a:srgbClr val="321B6B"/>
              </a:solidFill>
            </a:endParaRPr>
          </a:p>
        </p:txBody>
      </p:sp>
      <p:sp>
        <p:nvSpPr>
          <p:cNvPr id="11267" name="TextBox 2">
            <a:extLst>
              <a:ext uri="{FF2B5EF4-FFF2-40B4-BE49-F238E27FC236}">
                <a16:creationId xmlns:a16="http://schemas.microsoft.com/office/drawing/2014/main" id="{AFD4C250-4FB3-174B-4C0E-24BF4C507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276600"/>
            <a:ext cx="1593850" cy="584200"/>
          </a:xfrm>
          <a:prstGeom prst="rect">
            <a:avLst/>
          </a:prstGeom>
          <a:solidFill>
            <a:schemeClr val="bg1"/>
          </a:solidFill>
          <a:ln w="19050">
            <a:solidFill>
              <a:srgbClr val="321B6B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hy-AM" altLang="en-US" sz="1600">
                <a:solidFill>
                  <a:srgbClr val="321B6B"/>
                </a:solidFill>
              </a:rPr>
              <a:t>Տվյալների բազա</a:t>
            </a:r>
            <a:endParaRPr lang="en-US" altLang="en-US" sz="1600">
              <a:solidFill>
                <a:srgbClr val="321B6B"/>
              </a:solidFill>
            </a:endParaRPr>
          </a:p>
        </p:txBody>
      </p:sp>
      <p:sp>
        <p:nvSpPr>
          <p:cNvPr id="11268" name="TextBox 4">
            <a:extLst>
              <a:ext uri="{FF2B5EF4-FFF2-40B4-BE49-F238E27FC236}">
                <a16:creationId xmlns:a16="http://schemas.microsoft.com/office/drawing/2014/main" id="{4F982D7E-E1A3-C1B8-203C-AA74F0368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165350"/>
            <a:ext cx="1593850" cy="831850"/>
          </a:xfrm>
          <a:prstGeom prst="rect">
            <a:avLst/>
          </a:prstGeom>
          <a:solidFill>
            <a:schemeClr val="bg1"/>
          </a:solidFill>
          <a:ln w="19050">
            <a:solidFill>
              <a:srgbClr val="321B6B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hy-AM" altLang="en-US" sz="1600">
                <a:solidFill>
                  <a:srgbClr val="321B6B"/>
                </a:solidFill>
              </a:rPr>
              <a:t>Ֆիզիկական նախագծման տվյալներ</a:t>
            </a:r>
            <a:endParaRPr lang="en-US" altLang="en-US" sz="1600">
              <a:solidFill>
                <a:srgbClr val="321B6B"/>
              </a:solidFill>
            </a:endParaRPr>
          </a:p>
        </p:txBody>
      </p:sp>
      <p:sp>
        <p:nvSpPr>
          <p:cNvPr id="11269" name="TextBox 5">
            <a:extLst>
              <a:ext uri="{FF2B5EF4-FFF2-40B4-BE49-F238E27FC236}">
                <a16:creationId xmlns:a16="http://schemas.microsoft.com/office/drawing/2014/main" id="{9D19F876-3A75-34CC-60D9-7A325DF47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8" y="2133600"/>
            <a:ext cx="1593850" cy="641350"/>
          </a:xfrm>
          <a:prstGeom prst="rect">
            <a:avLst/>
          </a:prstGeom>
          <a:solidFill>
            <a:schemeClr val="bg1"/>
          </a:solidFill>
          <a:ln w="19050">
            <a:solidFill>
              <a:srgbClr val="321B6B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hy-AM" altLang="en-US" sz="1600">
                <a:solidFill>
                  <a:srgbClr val="321B6B"/>
                </a:solidFill>
              </a:rPr>
              <a:t>Տվյալների սեղմում</a:t>
            </a:r>
            <a:endParaRPr lang="en-US" altLang="en-US" sz="1600">
              <a:solidFill>
                <a:srgbClr val="321B6B"/>
              </a:solidFill>
            </a:endParaRPr>
          </a:p>
        </p:txBody>
      </p:sp>
      <p:sp>
        <p:nvSpPr>
          <p:cNvPr id="11270" name="TextBox 7">
            <a:extLst>
              <a:ext uri="{FF2B5EF4-FFF2-40B4-BE49-F238E27FC236}">
                <a16:creationId xmlns:a16="http://schemas.microsoft.com/office/drawing/2014/main" id="{EA13B48B-76B6-69CC-D61E-6A08BF281B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9013" y="2987675"/>
            <a:ext cx="1593850" cy="731838"/>
          </a:xfrm>
          <a:prstGeom prst="rect">
            <a:avLst/>
          </a:prstGeom>
          <a:solidFill>
            <a:srgbClr val="FFFFFF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en-US" altLang="en-US" sz="1600">
              <a:solidFill>
                <a:srgbClr val="321B6B"/>
              </a:solidFill>
            </a:endParaRPr>
          </a:p>
        </p:txBody>
      </p:sp>
      <p:sp>
        <p:nvSpPr>
          <p:cNvPr id="11271" name="TextBox 6">
            <a:extLst>
              <a:ext uri="{FF2B5EF4-FFF2-40B4-BE49-F238E27FC236}">
                <a16:creationId xmlns:a16="http://schemas.microsoft.com/office/drawing/2014/main" id="{75CD46A1-5CF5-7004-D3C1-0A8ADE853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8" y="3376613"/>
            <a:ext cx="1593850" cy="339725"/>
          </a:xfrm>
          <a:prstGeom prst="rect">
            <a:avLst/>
          </a:prstGeom>
          <a:solidFill>
            <a:schemeClr val="bg1"/>
          </a:solidFill>
          <a:ln w="19050">
            <a:solidFill>
              <a:srgbClr val="321B6B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hy-AM" altLang="en-US" sz="1600">
                <a:solidFill>
                  <a:srgbClr val="321B6B"/>
                </a:solidFill>
              </a:rPr>
              <a:t>Մոդել</a:t>
            </a:r>
            <a:endParaRPr lang="en-US" altLang="en-US" sz="1600">
              <a:solidFill>
                <a:srgbClr val="321B6B"/>
              </a:solidFill>
            </a:endParaRPr>
          </a:p>
        </p:txBody>
      </p:sp>
      <p:sp>
        <p:nvSpPr>
          <p:cNvPr id="11272" name="TextBox 8">
            <a:extLst>
              <a:ext uri="{FF2B5EF4-FFF2-40B4-BE49-F238E27FC236}">
                <a16:creationId xmlns:a16="http://schemas.microsoft.com/office/drawing/2014/main" id="{5E8C4C68-E688-4626-0089-54D1A146F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38" y="1219200"/>
            <a:ext cx="3022600" cy="338138"/>
          </a:xfrm>
          <a:prstGeom prst="rect">
            <a:avLst/>
          </a:prstGeom>
          <a:solidFill>
            <a:schemeClr val="bg1"/>
          </a:solidFill>
          <a:ln w="19050">
            <a:solidFill>
              <a:srgbClr val="321B6B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hy-AM" altLang="en-US" sz="1600" b="1">
                <a:solidFill>
                  <a:srgbClr val="321B6B"/>
                </a:solidFill>
              </a:rPr>
              <a:t>Պատրաստման փուլ</a:t>
            </a:r>
            <a:endParaRPr lang="en-US" altLang="en-US" sz="1600" b="1">
              <a:solidFill>
                <a:srgbClr val="321B6B"/>
              </a:solidFill>
            </a:endParaRPr>
          </a:p>
        </p:txBody>
      </p:sp>
      <p:sp>
        <p:nvSpPr>
          <p:cNvPr id="11273" name="TextBox 9">
            <a:extLst>
              <a:ext uri="{FF2B5EF4-FFF2-40B4-BE49-F238E27FC236}">
                <a16:creationId xmlns:a16="http://schemas.microsoft.com/office/drawing/2014/main" id="{9BA4A430-3D56-BDF4-B6D7-3DC28B205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0350" y="1216025"/>
            <a:ext cx="2374900" cy="584200"/>
          </a:xfrm>
          <a:prstGeom prst="rect">
            <a:avLst/>
          </a:prstGeom>
          <a:solidFill>
            <a:schemeClr val="bg1"/>
          </a:solidFill>
          <a:ln w="19050">
            <a:solidFill>
              <a:srgbClr val="321B6B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hy-AM" altLang="en-US" sz="1600" b="1">
                <a:solidFill>
                  <a:srgbClr val="321B6B"/>
                </a:solidFill>
              </a:rPr>
              <a:t>Վերապատրաստման փուլ</a:t>
            </a:r>
            <a:endParaRPr lang="en-US" altLang="en-US" sz="1600" b="1">
              <a:solidFill>
                <a:srgbClr val="321B6B"/>
              </a:solidFill>
            </a:endParaRPr>
          </a:p>
        </p:txBody>
      </p:sp>
      <p:sp>
        <p:nvSpPr>
          <p:cNvPr id="11274" name="TextBox 10">
            <a:extLst>
              <a:ext uri="{FF2B5EF4-FFF2-40B4-BE49-F238E27FC236}">
                <a16:creationId xmlns:a16="http://schemas.microsoft.com/office/drawing/2014/main" id="{A177E7B0-7FBB-7F74-A7AB-C1A73EC97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0350" y="2060575"/>
            <a:ext cx="2676525" cy="831850"/>
          </a:xfrm>
          <a:prstGeom prst="rect">
            <a:avLst/>
          </a:prstGeom>
          <a:solidFill>
            <a:schemeClr val="bg1"/>
          </a:solidFill>
          <a:ln w="19050">
            <a:solidFill>
              <a:srgbClr val="321B6B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hy-AM" altLang="en-US" sz="1600">
                <a:solidFill>
                  <a:srgbClr val="321B6B"/>
                </a:solidFill>
              </a:rPr>
              <a:t>Վերապատրաստման համար նախատեսված տվյալներ</a:t>
            </a:r>
            <a:endParaRPr lang="en-US" altLang="en-US" sz="1600">
              <a:solidFill>
                <a:srgbClr val="321B6B"/>
              </a:solidFill>
            </a:endParaRPr>
          </a:p>
        </p:txBody>
      </p:sp>
      <p:sp>
        <p:nvSpPr>
          <p:cNvPr id="11275" name="TextBox 5">
            <a:extLst>
              <a:ext uri="{FF2B5EF4-FFF2-40B4-BE49-F238E27FC236}">
                <a16:creationId xmlns:a16="http://schemas.microsoft.com/office/drawing/2014/main" id="{CBACBFD1-5A29-07B6-3553-A1B986103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6263" y="3219450"/>
            <a:ext cx="1814512" cy="830263"/>
          </a:xfrm>
          <a:prstGeom prst="rect">
            <a:avLst/>
          </a:prstGeom>
          <a:solidFill>
            <a:schemeClr val="bg1"/>
          </a:solidFill>
          <a:ln w="19050">
            <a:solidFill>
              <a:srgbClr val="321B6B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hy-AM" altLang="en-US" sz="1600">
                <a:solidFill>
                  <a:srgbClr val="321B6B"/>
                </a:solidFill>
              </a:rPr>
              <a:t>Նախապես պատրաստված մոդել</a:t>
            </a:r>
            <a:endParaRPr lang="en-US" altLang="en-US" sz="1600">
              <a:solidFill>
                <a:srgbClr val="321B6B"/>
              </a:solidFill>
            </a:endParaRPr>
          </a:p>
        </p:txBody>
      </p:sp>
      <p:sp>
        <p:nvSpPr>
          <p:cNvPr id="11276" name="TextBox 6">
            <a:extLst>
              <a:ext uri="{FF2B5EF4-FFF2-40B4-BE49-F238E27FC236}">
                <a16:creationId xmlns:a16="http://schemas.microsoft.com/office/drawing/2014/main" id="{FD823D0B-C3C6-23F0-3188-0B4BF4CD0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2425" y="4530725"/>
            <a:ext cx="2282825" cy="338138"/>
          </a:xfrm>
          <a:prstGeom prst="rect">
            <a:avLst/>
          </a:prstGeom>
          <a:solidFill>
            <a:schemeClr val="bg1"/>
          </a:solidFill>
          <a:ln w="19050">
            <a:solidFill>
              <a:srgbClr val="321B6B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hy-AM" altLang="en-US" sz="1600">
                <a:solidFill>
                  <a:srgbClr val="321B6B"/>
                </a:solidFill>
              </a:rPr>
              <a:t>Վերապատրաստում</a:t>
            </a:r>
            <a:endParaRPr lang="en-US" altLang="en-US" sz="1600">
              <a:solidFill>
                <a:srgbClr val="321B6B"/>
              </a:solidFill>
            </a:endParaRPr>
          </a:p>
        </p:txBody>
      </p:sp>
      <p:sp>
        <p:nvSpPr>
          <p:cNvPr id="11277" name="TextBox 10">
            <a:extLst>
              <a:ext uri="{FF2B5EF4-FFF2-40B4-BE49-F238E27FC236}">
                <a16:creationId xmlns:a16="http://schemas.microsoft.com/office/drawing/2014/main" id="{EB9DAF87-A19B-13E3-42D4-A36A3113B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2425" y="5364163"/>
            <a:ext cx="2282825" cy="585787"/>
          </a:xfrm>
          <a:prstGeom prst="rect">
            <a:avLst/>
          </a:prstGeom>
          <a:solidFill>
            <a:schemeClr val="bg1"/>
          </a:solidFill>
          <a:ln w="19050">
            <a:solidFill>
              <a:srgbClr val="321B6B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hy-AM" altLang="en-US" sz="1600">
                <a:solidFill>
                  <a:srgbClr val="321B6B"/>
                </a:solidFill>
              </a:rPr>
              <a:t>Վերապատրաստված մոդել</a:t>
            </a:r>
            <a:endParaRPr lang="en-US" altLang="en-US" sz="1600">
              <a:solidFill>
                <a:srgbClr val="321B6B"/>
              </a:solidFill>
            </a:endParaRPr>
          </a:p>
        </p:txBody>
      </p:sp>
      <p:sp>
        <p:nvSpPr>
          <p:cNvPr id="11278" name="TextBox 8">
            <a:extLst>
              <a:ext uri="{FF2B5EF4-FFF2-40B4-BE49-F238E27FC236}">
                <a16:creationId xmlns:a16="http://schemas.microsoft.com/office/drawing/2014/main" id="{9AD09955-C737-EC94-777B-C407137E2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638" y="1216025"/>
            <a:ext cx="2016125" cy="338138"/>
          </a:xfrm>
          <a:prstGeom prst="rect">
            <a:avLst/>
          </a:prstGeom>
          <a:solidFill>
            <a:schemeClr val="bg1"/>
          </a:solidFill>
          <a:ln w="19050">
            <a:solidFill>
              <a:srgbClr val="321B6B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hy-AM" altLang="en-US" sz="1600" b="1">
                <a:solidFill>
                  <a:srgbClr val="321B6B"/>
                </a:solidFill>
              </a:rPr>
              <a:t>Ստուգման փուլ</a:t>
            </a:r>
            <a:endParaRPr lang="en-US" altLang="en-US" sz="1600" b="1">
              <a:solidFill>
                <a:srgbClr val="321B6B"/>
              </a:solidFill>
            </a:endParaRPr>
          </a:p>
        </p:txBody>
      </p:sp>
      <p:sp>
        <p:nvSpPr>
          <p:cNvPr id="11279" name="TextBox 5">
            <a:extLst>
              <a:ext uri="{FF2B5EF4-FFF2-40B4-BE49-F238E27FC236}">
                <a16:creationId xmlns:a16="http://schemas.microsoft.com/office/drawing/2014/main" id="{B7BB8EEE-0E5D-5B8E-E46F-350C87EC1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8988" y="2133600"/>
            <a:ext cx="1593850" cy="584200"/>
          </a:xfrm>
          <a:prstGeom prst="rect">
            <a:avLst/>
          </a:prstGeom>
          <a:solidFill>
            <a:schemeClr val="bg1"/>
          </a:solidFill>
          <a:ln w="19050">
            <a:solidFill>
              <a:srgbClr val="321B6B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hy-AM" altLang="en-US" sz="1600">
                <a:solidFill>
                  <a:srgbClr val="321B6B"/>
                </a:solidFill>
              </a:rPr>
              <a:t>Տվյալների թեստավորում</a:t>
            </a:r>
            <a:endParaRPr lang="en-US" altLang="en-US" sz="1600">
              <a:solidFill>
                <a:srgbClr val="321B6B"/>
              </a:solidFill>
            </a:endParaRPr>
          </a:p>
        </p:txBody>
      </p:sp>
      <p:sp>
        <p:nvSpPr>
          <p:cNvPr id="11280" name="TextBox 10">
            <a:extLst>
              <a:ext uri="{FF2B5EF4-FFF2-40B4-BE49-F238E27FC236}">
                <a16:creationId xmlns:a16="http://schemas.microsoft.com/office/drawing/2014/main" id="{AA4F7849-F93F-7EC4-166F-307698703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5288" y="3652838"/>
            <a:ext cx="2282825" cy="585787"/>
          </a:xfrm>
          <a:prstGeom prst="rect">
            <a:avLst/>
          </a:prstGeom>
          <a:solidFill>
            <a:schemeClr val="bg1"/>
          </a:solidFill>
          <a:ln w="19050">
            <a:solidFill>
              <a:srgbClr val="321B6B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hy-AM" altLang="en-US" sz="1600">
                <a:solidFill>
                  <a:srgbClr val="321B6B"/>
                </a:solidFill>
              </a:rPr>
              <a:t>Վերապատրաստված մոդել</a:t>
            </a:r>
            <a:endParaRPr lang="en-US" altLang="en-US" sz="1600">
              <a:solidFill>
                <a:srgbClr val="321B6B"/>
              </a:solidFill>
            </a:endParaRPr>
          </a:p>
        </p:txBody>
      </p:sp>
      <p:sp>
        <p:nvSpPr>
          <p:cNvPr id="11281" name="TextBox 6">
            <a:extLst>
              <a:ext uri="{FF2B5EF4-FFF2-40B4-BE49-F238E27FC236}">
                <a16:creationId xmlns:a16="http://schemas.microsoft.com/office/drawing/2014/main" id="{D5006A71-6D3D-9D70-2B30-97ADBA418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0713" y="4841875"/>
            <a:ext cx="1831975" cy="338138"/>
          </a:xfrm>
          <a:prstGeom prst="rect">
            <a:avLst/>
          </a:prstGeom>
          <a:solidFill>
            <a:schemeClr val="bg1"/>
          </a:solidFill>
          <a:ln w="19050">
            <a:solidFill>
              <a:srgbClr val="321B6B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hy-AM" altLang="en-US" sz="1600">
                <a:solidFill>
                  <a:srgbClr val="321B6B"/>
                </a:solidFill>
              </a:rPr>
              <a:t>Կանխատեսում</a:t>
            </a:r>
            <a:endParaRPr lang="en-US" altLang="en-US" sz="1600">
              <a:solidFill>
                <a:srgbClr val="321B6B"/>
              </a:solidFill>
            </a:endParaRPr>
          </a:p>
        </p:txBody>
      </p:sp>
      <p:sp>
        <p:nvSpPr>
          <p:cNvPr id="11282" name="TextBox 6">
            <a:extLst>
              <a:ext uri="{FF2B5EF4-FFF2-40B4-BE49-F238E27FC236}">
                <a16:creationId xmlns:a16="http://schemas.microsoft.com/office/drawing/2014/main" id="{B9686AB0-3CAE-F2BB-4C45-282C178CB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5175" y="5589588"/>
            <a:ext cx="1593850" cy="339725"/>
          </a:xfrm>
          <a:prstGeom prst="rect">
            <a:avLst/>
          </a:prstGeom>
          <a:solidFill>
            <a:schemeClr val="bg1"/>
          </a:solidFill>
          <a:ln w="19050">
            <a:solidFill>
              <a:srgbClr val="321B6B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hy-AM" altLang="en-US" sz="1600">
                <a:solidFill>
                  <a:srgbClr val="321B6B"/>
                </a:solidFill>
              </a:rPr>
              <a:t>Գնահատում</a:t>
            </a:r>
            <a:endParaRPr lang="en-US" altLang="en-US" sz="1600">
              <a:solidFill>
                <a:srgbClr val="321B6B"/>
              </a:solidFill>
            </a:endParaRPr>
          </a:p>
        </p:txBody>
      </p:sp>
      <p:cxnSp>
        <p:nvCxnSpPr>
          <p:cNvPr id="11283" name="Straight Arrow Connector 10">
            <a:extLst>
              <a:ext uri="{FF2B5EF4-FFF2-40B4-BE49-F238E27FC236}">
                <a16:creationId xmlns:a16="http://schemas.microsoft.com/office/drawing/2014/main" id="{34660D5E-68A7-67DB-863D-48B915CC6D25}"/>
              </a:ext>
            </a:extLst>
          </p:cNvPr>
          <p:cNvCxnSpPr>
            <a:cxnSpLocks/>
            <a:endCxn id="11269" idx="1"/>
          </p:cNvCxnSpPr>
          <p:nvPr/>
        </p:nvCxnSpPr>
        <p:spPr bwMode="auto">
          <a:xfrm>
            <a:off x="1701800" y="2454275"/>
            <a:ext cx="414338" cy="0"/>
          </a:xfrm>
          <a:prstGeom prst="straightConnector1">
            <a:avLst/>
          </a:prstGeom>
          <a:noFill/>
          <a:ln w="38100">
            <a:solidFill>
              <a:srgbClr val="321B6B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4" name="Straight Arrow Connector 14">
            <a:extLst>
              <a:ext uri="{FF2B5EF4-FFF2-40B4-BE49-F238E27FC236}">
                <a16:creationId xmlns:a16="http://schemas.microsoft.com/office/drawing/2014/main" id="{0405E1F6-AB54-FB6E-CACC-F297F0328555}"/>
              </a:ext>
            </a:extLst>
          </p:cNvPr>
          <p:cNvCxnSpPr>
            <a:cxnSpLocks/>
          </p:cNvCxnSpPr>
          <p:nvPr/>
        </p:nvCxnSpPr>
        <p:spPr bwMode="auto">
          <a:xfrm>
            <a:off x="1701800" y="3568700"/>
            <a:ext cx="414338" cy="0"/>
          </a:xfrm>
          <a:prstGeom prst="straightConnector1">
            <a:avLst/>
          </a:prstGeom>
          <a:noFill/>
          <a:ln w="38100">
            <a:solidFill>
              <a:srgbClr val="321B6B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5" name="Straight Arrow Connector 15">
            <a:extLst>
              <a:ext uri="{FF2B5EF4-FFF2-40B4-BE49-F238E27FC236}">
                <a16:creationId xmlns:a16="http://schemas.microsoft.com/office/drawing/2014/main" id="{C7E8388A-364E-BD6B-1B57-9882B170AA16}"/>
              </a:ext>
            </a:extLst>
          </p:cNvPr>
          <p:cNvCxnSpPr>
            <a:cxnSpLocks/>
          </p:cNvCxnSpPr>
          <p:nvPr/>
        </p:nvCxnSpPr>
        <p:spPr bwMode="auto">
          <a:xfrm>
            <a:off x="3709988" y="3546475"/>
            <a:ext cx="676275" cy="0"/>
          </a:xfrm>
          <a:prstGeom prst="straightConnector1">
            <a:avLst/>
          </a:prstGeom>
          <a:noFill/>
          <a:ln w="38100">
            <a:solidFill>
              <a:srgbClr val="321B6B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6" name="Straight Arrow Connector 17">
            <a:extLst>
              <a:ext uri="{FF2B5EF4-FFF2-40B4-BE49-F238E27FC236}">
                <a16:creationId xmlns:a16="http://schemas.microsoft.com/office/drawing/2014/main" id="{4C7B87EF-534D-FE1B-4217-9986AF6F69AD}"/>
              </a:ext>
            </a:extLst>
          </p:cNvPr>
          <p:cNvCxnSpPr>
            <a:cxnSpLocks/>
          </p:cNvCxnSpPr>
          <p:nvPr/>
        </p:nvCxnSpPr>
        <p:spPr bwMode="auto">
          <a:xfrm>
            <a:off x="3709988" y="2425700"/>
            <a:ext cx="360362" cy="0"/>
          </a:xfrm>
          <a:prstGeom prst="straightConnector1">
            <a:avLst/>
          </a:prstGeom>
          <a:noFill/>
          <a:ln w="38100">
            <a:solidFill>
              <a:srgbClr val="321B6B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7" name="Straight Arrow Connector 27">
            <a:extLst>
              <a:ext uri="{FF2B5EF4-FFF2-40B4-BE49-F238E27FC236}">
                <a16:creationId xmlns:a16="http://schemas.microsoft.com/office/drawing/2014/main" id="{62EE3C7E-1248-CA0F-DDE8-5D5C325A5E2C}"/>
              </a:ext>
            </a:extLst>
          </p:cNvPr>
          <p:cNvCxnSpPr>
            <a:cxnSpLocks/>
          </p:cNvCxnSpPr>
          <p:nvPr/>
        </p:nvCxnSpPr>
        <p:spPr bwMode="auto">
          <a:xfrm>
            <a:off x="5248275" y="2892425"/>
            <a:ext cx="0" cy="320675"/>
          </a:xfrm>
          <a:prstGeom prst="straightConnector1">
            <a:avLst/>
          </a:prstGeom>
          <a:noFill/>
          <a:ln w="38100">
            <a:solidFill>
              <a:srgbClr val="321B6B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8" name="Straight Arrow Connector 30">
            <a:extLst>
              <a:ext uri="{FF2B5EF4-FFF2-40B4-BE49-F238E27FC236}">
                <a16:creationId xmlns:a16="http://schemas.microsoft.com/office/drawing/2014/main" id="{EBB6516A-BACF-FC22-2946-CCC4068254CF}"/>
              </a:ext>
            </a:extLst>
          </p:cNvPr>
          <p:cNvCxnSpPr>
            <a:cxnSpLocks/>
          </p:cNvCxnSpPr>
          <p:nvPr/>
        </p:nvCxnSpPr>
        <p:spPr bwMode="auto">
          <a:xfrm>
            <a:off x="5248275" y="4049713"/>
            <a:ext cx="0" cy="496887"/>
          </a:xfrm>
          <a:prstGeom prst="straightConnector1">
            <a:avLst/>
          </a:prstGeom>
          <a:noFill/>
          <a:ln w="38100">
            <a:solidFill>
              <a:srgbClr val="321B6B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9" name="Straight Arrow Connector 31">
            <a:extLst>
              <a:ext uri="{FF2B5EF4-FFF2-40B4-BE49-F238E27FC236}">
                <a16:creationId xmlns:a16="http://schemas.microsoft.com/office/drawing/2014/main" id="{5DDA5314-6506-4F3A-6D5A-0BEBB0D95BF3}"/>
              </a:ext>
            </a:extLst>
          </p:cNvPr>
          <p:cNvCxnSpPr>
            <a:cxnSpLocks/>
          </p:cNvCxnSpPr>
          <p:nvPr/>
        </p:nvCxnSpPr>
        <p:spPr bwMode="auto">
          <a:xfrm>
            <a:off x="5248275" y="4868863"/>
            <a:ext cx="0" cy="495300"/>
          </a:xfrm>
          <a:prstGeom prst="straightConnector1">
            <a:avLst/>
          </a:prstGeom>
          <a:noFill/>
          <a:ln w="38100">
            <a:solidFill>
              <a:srgbClr val="321B6B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90" name="Straight Arrow Connector 32">
            <a:extLst>
              <a:ext uri="{FF2B5EF4-FFF2-40B4-BE49-F238E27FC236}">
                <a16:creationId xmlns:a16="http://schemas.microsoft.com/office/drawing/2014/main" id="{C1B1FE85-0F7E-C7BF-0A80-AB97DE27A655}"/>
              </a:ext>
            </a:extLst>
          </p:cNvPr>
          <p:cNvCxnSpPr>
            <a:cxnSpLocks/>
            <a:endCxn id="11280" idx="0"/>
          </p:cNvCxnSpPr>
          <p:nvPr/>
        </p:nvCxnSpPr>
        <p:spPr bwMode="auto">
          <a:xfrm>
            <a:off x="7886700" y="3027363"/>
            <a:ext cx="0" cy="625475"/>
          </a:xfrm>
          <a:prstGeom prst="straightConnector1">
            <a:avLst/>
          </a:prstGeom>
          <a:noFill/>
          <a:ln w="38100">
            <a:solidFill>
              <a:srgbClr val="321B6B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91" name="Straight Arrow Connector 34">
            <a:extLst>
              <a:ext uri="{FF2B5EF4-FFF2-40B4-BE49-F238E27FC236}">
                <a16:creationId xmlns:a16="http://schemas.microsoft.com/office/drawing/2014/main" id="{6D73032A-BD86-6F70-4390-4F548A7B3519}"/>
              </a:ext>
            </a:extLst>
          </p:cNvPr>
          <p:cNvCxnSpPr>
            <a:cxnSpLocks/>
          </p:cNvCxnSpPr>
          <p:nvPr/>
        </p:nvCxnSpPr>
        <p:spPr bwMode="auto">
          <a:xfrm>
            <a:off x="7886700" y="4238625"/>
            <a:ext cx="0" cy="623888"/>
          </a:xfrm>
          <a:prstGeom prst="straightConnector1">
            <a:avLst/>
          </a:prstGeom>
          <a:noFill/>
          <a:ln w="38100">
            <a:solidFill>
              <a:srgbClr val="321B6B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92" name="Straight Arrow Connector 35">
            <a:extLst>
              <a:ext uri="{FF2B5EF4-FFF2-40B4-BE49-F238E27FC236}">
                <a16:creationId xmlns:a16="http://schemas.microsoft.com/office/drawing/2014/main" id="{75EE331F-EA6E-E003-1F77-3847FDD067D5}"/>
              </a:ext>
            </a:extLst>
          </p:cNvPr>
          <p:cNvCxnSpPr>
            <a:cxnSpLocks/>
            <a:stCxn id="11281" idx="2"/>
          </p:cNvCxnSpPr>
          <p:nvPr/>
        </p:nvCxnSpPr>
        <p:spPr bwMode="auto">
          <a:xfrm>
            <a:off x="7886700" y="5180013"/>
            <a:ext cx="0" cy="409575"/>
          </a:xfrm>
          <a:prstGeom prst="straightConnector1">
            <a:avLst/>
          </a:prstGeom>
          <a:noFill/>
          <a:ln w="38100">
            <a:solidFill>
              <a:srgbClr val="321B6B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93" name="Connector: Elbow 37">
            <a:extLst>
              <a:ext uri="{FF2B5EF4-FFF2-40B4-BE49-F238E27FC236}">
                <a16:creationId xmlns:a16="http://schemas.microsoft.com/office/drawing/2014/main" id="{CA6A7B7E-2AC2-EBE0-1C14-B976610BE663}"/>
              </a:ext>
            </a:extLst>
          </p:cNvPr>
          <p:cNvCxnSpPr>
            <a:cxnSpLocks noChangeShapeType="1"/>
            <a:stCxn id="11269" idx="0"/>
            <a:endCxn id="11279" idx="0"/>
          </p:cNvCxnSpPr>
          <p:nvPr/>
        </p:nvCxnSpPr>
        <p:spPr bwMode="auto">
          <a:xfrm rot="5400000" flipH="1" flipV="1">
            <a:off x="5424488" y="-377825"/>
            <a:ext cx="12700" cy="5022850"/>
          </a:xfrm>
          <a:prstGeom prst="bentConnector3">
            <a:avLst>
              <a:gd name="adj1" fmla="val 1800000"/>
            </a:avLst>
          </a:prstGeom>
          <a:noFill/>
          <a:ln w="38100">
            <a:solidFill>
              <a:srgbClr val="321B6B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94" name="Connector: Elbow 39">
            <a:extLst>
              <a:ext uri="{FF2B5EF4-FFF2-40B4-BE49-F238E27FC236}">
                <a16:creationId xmlns:a16="http://schemas.microsoft.com/office/drawing/2014/main" id="{DC5888C9-38BE-6B8A-9F7D-3DCBB1D4B0C9}"/>
              </a:ext>
            </a:extLst>
          </p:cNvPr>
          <p:cNvCxnSpPr>
            <a:cxnSpLocks noChangeShapeType="1"/>
            <a:stCxn id="11277" idx="3"/>
            <a:endCxn id="11280" idx="1"/>
          </p:cNvCxnSpPr>
          <p:nvPr/>
        </p:nvCxnSpPr>
        <p:spPr bwMode="auto">
          <a:xfrm flipV="1">
            <a:off x="6445250" y="3944938"/>
            <a:ext cx="300038" cy="1711325"/>
          </a:xfrm>
          <a:prstGeom prst="bentConnector3">
            <a:avLst>
              <a:gd name="adj1" fmla="val 32759"/>
            </a:avLst>
          </a:prstGeom>
          <a:noFill/>
          <a:ln w="38100">
            <a:solidFill>
              <a:srgbClr val="321B6B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95" name="TextBox 10">
            <a:extLst>
              <a:ext uri="{FF2B5EF4-FFF2-40B4-BE49-F238E27FC236}">
                <a16:creationId xmlns:a16="http://schemas.microsoft.com/office/drawing/2014/main" id="{910CB8A1-A63F-2C61-1654-144D0BEC8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1175" y="2106613"/>
            <a:ext cx="2174875" cy="1079500"/>
          </a:xfrm>
          <a:prstGeom prst="rect">
            <a:avLst/>
          </a:prstGeom>
          <a:solidFill>
            <a:schemeClr val="bg1"/>
          </a:solidFill>
          <a:ln w="19050">
            <a:solidFill>
              <a:srgbClr val="321B6B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hy-AM" altLang="en-US" sz="1600">
                <a:solidFill>
                  <a:srgbClr val="321B6B"/>
                </a:solidFill>
              </a:rPr>
              <a:t>Թեստավորման համար նախատեսված տվյալներ</a:t>
            </a:r>
            <a:endParaRPr lang="en-US" altLang="en-US" sz="1600">
              <a:solidFill>
                <a:srgbClr val="321B6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85EAC82D-EA2B-9A30-97C2-426E9457A4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4838" cy="561975"/>
          </a:xfrm>
        </p:spPr>
        <p:txBody>
          <a:bodyPr/>
          <a:lstStyle/>
          <a:p>
            <a:r>
              <a:rPr lang="hy-AM" altLang="ru-RU" b="1" dirty="0">
                <a:solidFill>
                  <a:srgbClr val="321B6B"/>
                </a:solidFill>
                <a:latin typeface="Sylfaen" panose="010A0502050306030303" pitchFamily="18" charset="0"/>
              </a:rPr>
              <a:t>Գրականության ակնարկ</a:t>
            </a:r>
            <a:r>
              <a:rPr lang="en-US" altLang="ru-RU" b="1" dirty="0">
                <a:solidFill>
                  <a:srgbClr val="321B6B"/>
                </a:solidFill>
                <a:latin typeface="Sylfaen" panose="010A0502050306030303" pitchFamily="18" charset="0"/>
              </a:rPr>
              <a:t> </a:t>
            </a:r>
            <a:endParaRPr lang="en-US" altLang="en-US" b="1" dirty="0">
              <a:solidFill>
                <a:srgbClr val="321B6B"/>
              </a:solidFill>
            </a:endParaRPr>
          </a:p>
        </p:txBody>
      </p:sp>
      <p:pic>
        <p:nvPicPr>
          <p:cNvPr id="15363" name="Picture 1">
            <a:extLst>
              <a:ext uri="{FF2B5EF4-FFF2-40B4-BE49-F238E27FC236}">
                <a16:creationId xmlns:a16="http://schemas.microsoft.com/office/drawing/2014/main" id="{71D75920-B378-86BF-9434-61DB892A2A7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844675"/>
            <a:ext cx="5254625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Box 4">
            <a:extLst>
              <a:ext uri="{FF2B5EF4-FFF2-40B4-BE49-F238E27FC236}">
                <a16:creationId xmlns:a16="http://schemas.microsoft.com/office/drawing/2014/main" id="{765DFA56-CD7A-F626-E4C0-61785BED3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5911850"/>
            <a:ext cx="849630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hy-AM" altLang="en-US" sz="1000">
                <a:solidFill>
                  <a:srgbClr val="321B6B"/>
                </a:solidFill>
              </a:rPr>
              <a:t>Աղբյուրը ՝ </a:t>
            </a:r>
            <a:r>
              <a:rPr lang="en-US" altLang="en-US" sz="1000">
                <a:solidFill>
                  <a:srgbClr val="321B6B"/>
                </a:solidFill>
              </a:rPr>
              <a:t>https://www.mdpi.com/2076-3417/12/4/2192</a:t>
            </a:r>
          </a:p>
        </p:txBody>
      </p:sp>
      <p:sp>
        <p:nvSpPr>
          <p:cNvPr id="15365" name="TextBox 2">
            <a:extLst>
              <a:ext uri="{FF2B5EF4-FFF2-40B4-BE49-F238E27FC236}">
                <a16:creationId xmlns:a16="http://schemas.microsoft.com/office/drawing/2014/main" id="{EE29AB3A-2256-4A90-5DAC-581062287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1277938"/>
            <a:ext cx="30241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hy-AM" altLang="en-US" sz="1800" b="1" dirty="0">
                <a:solidFill>
                  <a:srgbClr val="321B6B"/>
                </a:solidFill>
              </a:rPr>
              <a:t>Առավելություններ ՝</a:t>
            </a:r>
            <a:endParaRPr lang="en-US" altLang="en-US" sz="1800" b="1" dirty="0">
              <a:solidFill>
                <a:srgbClr val="321B6B"/>
              </a:solidFill>
            </a:endParaRPr>
          </a:p>
        </p:txBody>
      </p:sp>
      <p:sp>
        <p:nvSpPr>
          <p:cNvPr id="15366" name="TextBox 3">
            <a:extLst>
              <a:ext uri="{FF2B5EF4-FFF2-40B4-BE49-F238E27FC236}">
                <a16:creationId xmlns:a16="http://schemas.microsoft.com/office/drawing/2014/main" id="{2CF0A5E3-1498-133B-5643-A8DC89997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667125"/>
            <a:ext cx="3025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hy-AM" altLang="en-US" sz="1800" b="1">
                <a:solidFill>
                  <a:srgbClr val="321B6B"/>
                </a:solidFill>
              </a:rPr>
              <a:t>Թերություններ ՝</a:t>
            </a:r>
            <a:endParaRPr lang="en-US" altLang="en-US" sz="1800" b="1">
              <a:solidFill>
                <a:srgbClr val="321B6B"/>
              </a:solidFill>
            </a:endParaRPr>
          </a:p>
        </p:txBody>
      </p:sp>
      <p:sp>
        <p:nvSpPr>
          <p:cNvPr id="15367" name="TextBox 5">
            <a:extLst>
              <a:ext uri="{FF2B5EF4-FFF2-40B4-BE49-F238E27FC236}">
                <a16:creationId xmlns:a16="http://schemas.microsoft.com/office/drawing/2014/main" id="{2BCE0C2B-4BED-C99C-BDDC-1195F1BAB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4133850"/>
            <a:ext cx="3743325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hy-AM" altLang="en-US" sz="1600">
                <a:solidFill>
                  <a:schemeClr val="tx1"/>
                </a:solidFill>
                <a:latin typeface="Sylfaen" panose="010A0502050306030303" pitchFamily="18" charset="0"/>
              </a:rPr>
              <a:t>Չի կարող հեշտությամբ սովորել միևնույն ցանցով միացված երկու ձևերի փոխազդեցությունը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y-AM" altLang="en-US" sz="1600">
                <a:solidFill>
                  <a:schemeClr val="tx1"/>
                </a:solidFill>
                <a:latin typeface="Sylfaen" panose="010A0502050306030303" pitchFamily="18" charset="0"/>
              </a:rPr>
              <a:t>Կարող է կորցնել ճշգրտություն</a:t>
            </a:r>
            <a:endParaRPr lang="en-US" altLang="en-US" sz="1600">
              <a:solidFill>
                <a:schemeClr val="tx1"/>
              </a:solidFill>
              <a:latin typeface="Sylfaen" panose="010A050205030603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y-AM" altLang="en-US" sz="1600">
                <a:solidFill>
                  <a:schemeClr val="tx1"/>
                </a:solidFill>
                <a:latin typeface="Sylfaen" panose="010A0502050306030303" pitchFamily="18" charset="0"/>
              </a:rPr>
              <a:t>Պահանջում է մեծ քանակությամբ պիտակավորված տվյալներ</a:t>
            </a:r>
            <a:endParaRPr lang="en-US" altLang="en-US" sz="1600">
              <a:solidFill>
                <a:schemeClr val="tx1"/>
              </a:solidFill>
              <a:latin typeface="Sylfaen" panose="010A050205030603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1600">
              <a:solidFill>
                <a:schemeClr val="tx1"/>
              </a:solidFill>
              <a:latin typeface="Sylfaen" panose="010A0502050306030303" pitchFamily="18" charset="0"/>
            </a:endParaRPr>
          </a:p>
        </p:txBody>
      </p:sp>
      <p:sp>
        <p:nvSpPr>
          <p:cNvPr id="15368" name="TextBox 6">
            <a:extLst>
              <a:ext uri="{FF2B5EF4-FFF2-40B4-BE49-F238E27FC236}">
                <a16:creationId xmlns:a16="http://schemas.microsoft.com/office/drawing/2014/main" id="{B26E42CA-E862-624F-77C4-4FE91A672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774825"/>
            <a:ext cx="3744913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hy-AM" altLang="en-US" sz="1600" dirty="0">
                <a:solidFill>
                  <a:schemeClr val="tx1"/>
                </a:solidFill>
                <a:latin typeface="Sylfaen" panose="010A0502050306030303" pitchFamily="18" charset="0"/>
              </a:rPr>
              <a:t>Փաթույթային նեյրոնային ցանցերի մոդելները հիշում են նախկինում արված ֆիզիկական նախագծումները</a:t>
            </a:r>
            <a:endParaRPr lang="en-US" altLang="en-US" sz="1600" dirty="0">
              <a:solidFill>
                <a:schemeClr val="tx1"/>
              </a:solidFill>
              <a:latin typeface="Sylfaen" panose="010A050205030603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y-AM" altLang="en-US" sz="1600" dirty="0">
                <a:solidFill>
                  <a:schemeClr val="tx1"/>
                </a:solidFill>
                <a:latin typeface="Sylfaen" panose="010A0502050306030303" pitchFamily="18" charset="0"/>
              </a:rPr>
              <a:t>Հեշտ է վերապատրաստել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y-AM" altLang="en-US" sz="1600" dirty="0">
                <a:solidFill>
                  <a:schemeClr val="tx1"/>
                </a:solidFill>
                <a:latin typeface="Sylfaen" panose="010A0502050306030303" pitchFamily="18" charset="0"/>
              </a:rPr>
              <a:t>Հարմարավետ է ելքում ջերմային քարտեզ ստանալու համար</a:t>
            </a:r>
          </a:p>
          <a:p>
            <a:endParaRPr lang="hy-AM" altLang="en-US" sz="1600" dirty="0">
              <a:solidFill>
                <a:schemeClr val="tx1"/>
              </a:solidFill>
              <a:latin typeface="Sylfaen" panose="010A0502050306030303" pitchFamily="18" charset="0"/>
            </a:endParaRPr>
          </a:p>
          <a:p>
            <a:endParaRPr lang="en-US" altLang="en-US" sz="1600" dirty="0">
              <a:solidFill>
                <a:schemeClr val="tx1"/>
              </a:solidFill>
              <a:latin typeface="Sylfaen" panose="010A0502050306030303" pitchFamily="18" charset="0"/>
            </a:endParaRPr>
          </a:p>
        </p:txBody>
      </p:sp>
      <p:sp>
        <p:nvSpPr>
          <p:cNvPr id="15369" name="TextBox 1">
            <a:extLst>
              <a:ext uri="{FF2B5EF4-FFF2-40B4-BE49-F238E27FC236}">
                <a16:creationId xmlns:a16="http://schemas.microsoft.com/office/drawing/2014/main" id="{2D4C15BB-7CEC-CFC3-2368-B329EA8DA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4363"/>
            <a:ext cx="1503363" cy="8318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hy-AM" altLang="en-US" sz="1200" b="1">
                <a:solidFill>
                  <a:srgbClr val="321B6B"/>
                </a:solidFill>
                <a:latin typeface="Sylfaen" panose="010A0502050306030303" pitchFamily="18" charset="0"/>
              </a:rPr>
              <a:t>Ֆիզիկական նախագծման ձևերի տվյալների հավաքածու</a:t>
            </a:r>
            <a:endParaRPr lang="en-US" altLang="en-US" sz="1200" b="1">
              <a:solidFill>
                <a:srgbClr val="321B6B"/>
              </a:solidFill>
              <a:latin typeface="Sylfaen" panose="010A0502050306030303" pitchFamily="18" charset="0"/>
            </a:endParaRPr>
          </a:p>
        </p:txBody>
      </p:sp>
      <p:sp>
        <p:nvSpPr>
          <p:cNvPr id="15370" name="TextBox 2">
            <a:extLst>
              <a:ext uri="{FF2B5EF4-FFF2-40B4-BE49-F238E27FC236}">
                <a16:creationId xmlns:a16="http://schemas.microsoft.com/office/drawing/2014/main" id="{3A65281B-6FFB-4D4D-416C-380F27AB7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2609850"/>
            <a:ext cx="3744912" cy="2857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endParaRPr lang="en-US" altLang="en-US" sz="1200" b="1">
              <a:solidFill>
                <a:srgbClr val="321B6B"/>
              </a:solidFill>
              <a:latin typeface="Sylfaen" panose="010A0502050306030303" pitchFamily="18" charset="0"/>
            </a:endParaRPr>
          </a:p>
        </p:txBody>
      </p:sp>
      <p:sp>
        <p:nvSpPr>
          <p:cNvPr id="15371" name="Rectangle 4">
            <a:extLst>
              <a:ext uri="{FF2B5EF4-FFF2-40B4-BE49-F238E27FC236}">
                <a16:creationId xmlns:a16="http://schemas.microsoft.com/office/drawing/2014/main" id="{E671DFE3-F634-49E7-A000-5F0B92CA57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2627313" y="2852738"/>
            <a:ext cx="1152525" cy="69056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15372" name="Arrow: Down 8">
            <a:extLst>
              <a:ext uri="{FF2B5EF4-FFF2-40B4-BE49-F238E27FC236}">
                <a16:creationId xmlns:a16="http://schemas.microsoft.com/office/drawing/2014/main" id="{867A3075-E1C6-F2D0-2789-6879ECAFA69F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032794" y="3680619"/>
            <a:ext cx="755650" cy="519112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19050">
            <a:solidFill>
              <a:srgbClr val="321B6B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15373" name="TextBox 9">
            <a:extLst>
              <a:ext uri="{FF2B5EF4-FFF2-40B4-BE49-F238E27FC236}">
                <a16:creationId xmlns:a16="http://schemas.microsoft.com/office/drawing/2014/main" id="{01F59906-EB3A-85AF-4CEA-2447552E5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8038" y="3789363"/>
            <a:ext cx="693737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hy-AM" altLang="en-US" sz="1100">
                <a:solidFill>
                  <a:srgbClr val="321B6B"/>
                </a:solidFill>
                <a:latin typeface="Sylfaen" panose="010A0502050306030303" pitchFamily="18" charset="0"/>
              </a:rPr>
              <a:t>Մուտք</a:t>
            </a:r>
            <a:endParaRPr lang="en-US" altLang="en-US" sz="1100">
              <a:solidFill>
                <a:srgbClr val="321B6B"/>
              </a:solidFill>
              <a:latin typeface="Sylfaen" panose="010A0502050306030303" pitchFamily="18" charset="0"/>
            </a:endParaRPr>
          </a:p>
        </p:txBody>
      </p:sp>
      <p:sp>
        <p:nvSpPr>
          <p:cNvPr id="15374" name="Rectangle 11">
            <a:extLst>
              <a:ext uri="{FF2B5EF4-FFF2-40B4-BE49-F238E27FC236}">
                <a16:creationId xmlns:a16="http://schemas.microsoft.com/office/drawing/2014/main" id="{EE06BFE3-6228-87D8-0AFE-B28F70C2C8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 rot="5400000">
            <a:off x="3548063" y="3732213"/>
            <a:ext cx="1152525" cy="6889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endParaRPr lang="en-US" altLang="en-US">
              <a:solidFill>
                <a:schemeClr val="tx1"/>
              </a:solidFill>
            </a:endParaRPr>
          </a:p>
        </p:txBody>
      </p:sp>
      <p:grpSp>
        <p:nvGrpSpPr>
          <p:cNvPr id="15375" name="Group 12">
            <a:extLst>
              <a:ext uri="{FF2B5EF4-FFF2-40B4-BE49-F238E27FC236}">
                <a16:creationId xmlns:a16="http://schemas.microsoft.com/office/drawing/2014/main" id="{AA85E1AE-77DF-20F1-3B5E-319034804F4B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3562350"/>
            <a:ext cx="727075" cy="755650"/>
            <a:chOff x="3987311" y="3562858"/>
            <a:chExt cx="726974" cy="754642"/>
          </a:xfrm>
        </p:grpSpPr>
        <p:sp>
          <p:nvSpPr>
            <p:cNvPr id="15383" name="Arrow: Down 7">
              <a:extLst>
                <a:ext uri="{FF2B5EF4-FFF2-40B4-BE49-F238E27FC236}">
                  <a16:creationId xmlns:a16="http://schemas.microsoft.com/office/drawing/2014/main" id="{23F2A1E4-E4F6-B3EB-846D-4AE7E37588E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869488" y="3680681"/>
              <a:ext cx="754642" cy="518995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bg1"/>
            </a:solidFill>
            <a:ln w="19050">
              <a:solidFill>
                <a:srgbClr val="321B6B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endParaRPr lang="en-US" altLang="en-US">
                <a:solidFill>
                  <a:schemeClr val="tx1"/>
                </a:solidFill>
              </a:endParaRPr>
            </a:p>
          </p:txBody>
        </p:sp>
        <p:sp>
          <p:nvSpPr>
            <p:cNvPr id="15384" name="TextBox 10">
              <a:extLst>
                <a:ext uri="{FF2B5EF4-FFF2-40B4-BE49-F238E27FC236}">
                  <a16:creationId xmlns:a16="http://schemas.microsoft.com/office/drawing/2014/main" id="{2F3C1D7C-A579-50C9-3C32-E0DFF6A66E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732" y="3789854"/>
              <a:ext cx="694553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hy-AM" altLang="en-US" sz="1100">
                  <a:solidFill>
                    <a:srgbClr val="321B6B"/>
                  </a:solidFill>
                  <a:latin typeface="Sylfaen" panose="010A0502050306030303" pitchFamily="18" charset="0"/>
                </a:rPr>
                <a:t>Ելք</a:t>
              </a:r>
              <a:endParaRPr lang="en-US" altLang="en-US" sz="1100">
                <a:solidFill>
                  <a:srgbClr val="321B6B"/>
                </a:solidFill>
                <a:latin typeface="Sylfaen" panose="010A0502050306030303" pitchFamily="18" charset="0"/>
              </a:endParaRPr>
            </a:p>
          </p:txBody>
        </p:sp>
      </p:grpSp>
      <p:sp>
        <p:nvSpPr>
          <p:cNvPr id="15376" name="Rectangle 14">
            <a:extLst>
              <a:ext uri="{FF2B5EF4-FFF2-40B4-BE49-F238E27FC236}">
                <a16:creationId xmlns:a16="http://schemas.microsoft.com/office/drawing/2014/main" id="{3A571A36-A518-6351-1B81-0822B96867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490538" y="4868863"/>
            <a:ext cx="2586037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15377" name="TextBox 13">
            <a:extLst>
              <a:ext uri="{FF2B5EF4-FFF2-40B4-BE49-F238E27FC236}">
                <a16:creationId xmlns:a16="http://schemas.microsoft.com/office/drawing/2014/main" id="{69C377FD-0B86-8CCA-F024-225E67EBE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" y="4911725"/>
            <a:ext cx="1096963" cy="4619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hy-AM" altLang="en-US" sz="1200" b="1">
                <a:solidFill>
                  <a:srgbClr val="321B6B"/>
                </a:solidFill>
                <a:latin typeface="Sylfaen" panose="010A0502050306030303" pitchFamily="18" charset="0"/>
              </a:rPr>
              <a:t>Ֆիզիկական նախագիծ</a:t>
            </a:r>
            <a:endParaRPr lang="en-US" altLang="en-US" sz="1200" b="1">
              <a:solidFill>
                <a:srgbClr val="321B6B"/>
              </a:solidFill>
              <a:latin typeface="Sylfaen" panose="010A0502050306030303" pitchFamily="18" charset="0"/>
            </a:endParaRPr>
          </a:p>
        </p:txBody>
      </p:sp>
      <p:sp>
        <p:nvSpPr>
          <p:cNvPr id="15378" name="TextBox 15">
            <a:extLst>
              <a:ext uri="{FF2B5EF4-FFF2-40B4-BE49-F238E27FC236}">
                <a16:creationId xmlns:a16="http://schemas.microsoft.com/office/drawing/2014/main" id="{2A1EA782-EC7D-9EAE-C782-DFE00D7E8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5425" y="4868863"/>
            <a:ext cx="1096963" cy="6461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hy-AM" altLang="en-US" sz="1200" b="1">
                <a:solidFill>
                  <a:srgbClr val="321B6B"/>
                </a:solidFill>
                <a:latin typeface="Sylfaen" panose="010A0502050306030303" pitchFamily="18" charset="0"/>
              </a:rPr>
              <a:t>Ֆիզիկական նախագծման ձևեր</a:t>
            </a:r>
            <a:endParaRPr lang="en-US" altLang="en-US" sz="1200" b="1">
              <a:solidFill>
                <a:srgbClr val="321B6B"/>
              </a:solidFill>
              <a:latin typeface="Sylfaen" panose="010A0502050306030303" pitchFamily="18" charset="0"/>
            </a:endParaRPr>
          </a:p>
        </p:txBody>
      </p:sp>
      <p:sp>
        <p:nvSpPr>
          <p:cNvPr id="15379" name="TextBox 16">
            <a:extLst>
              <a:ext uri="{FF2B5EF4-FFF2-40B4-BE49-F238E27FC236}">
                <a16:creationId xmlns:a16="http://schemas.microsoft.com/office/drawing/2014/main" id="{C2FA671B-9311-E155-A4E5-51E06649A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250" y="4365625"/>
            <a:ext cx="1627188" cy="2762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hy-AM" altLang="en-US" sz="1200" b="1">
                <a:solidFill>
                  <a:srgbClr val="321B6B"/>
                </a:solidFill>
                <a:latin typeface="Sylfaen" panose="010A0502050306030303" pitchFamily="18" charset="0"/>
              </a:rPr>
              <a:t>Վարժված մոդել</a:t>
            </a:r>
            <a:endParaRPr lang="en-US" altLang="en-US" sz="1200" b="1">
              <a:solidFill>
                <a:srgbClr val="321B6B"/>
              </a:solidFill>
              <a:latin typeface="Sylfaen" panose="010A0502050306030303" pitchFamily="18" charset="0"/>
            </a:endParaRPr>
          </a:p>
        </p:txBody>
      </p:sp>
      <p:sp>
        <p:nvSpPr>
          <p:cNvPr id="15380" name="TextBox 17">
            <a:extLst>
              <a:ext uri="{FF2B5EF4-FFF2-40B4-BE49-F238E27FC236}">
                <a16:creationId xmlns:a16="http://schemas.microsoft.com/office/drawing/2014/main" id="{714C6352-353E-C013-C524-8C2ADC6CC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4860925"/>
            <a:ext cx="1096963" cy="2778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hy-AM" altLang="en-US" sz="1200" b="1">
                <a:solidFill>
                  <a:srgbClr val="321B6B"/>
                </a:solidFill>
                <a:latin typeface="Sylfaen" panose="010A0502050306030303" pitchFamily="18" charset="0"/>
              </a:rPr>
              <a:t>Արդյունքներ</a:t>
            </a:r>
            <a:endParaRPr lang="en-US" altLang="en-US" sz="1200" b="1">
              <a:solidFill>
                <a:srgbClr val="321B6B"/>
              </a:solidFill>
              <a:latin typeface="Sylfaen" panose="010A0502050306030303" pitchFamily="18" charset="0"/>
            </a:endParaRPr>
          </a:p>
        </p:txBody>
      </p:sp>
      <p:sp>
        <p:nvSpPr>
          <p:cNvPr id="15381" name="TextBox 18">
            <a:extLst>
              <a:ext uri="{FF2B5EF4-FFF2-40B4-BE49-F238E27FC236}">
                <a16:creationId xmlns:a16="http://schemas.microsoft.com/office/drawing/2014/main" id="{4FB49779-12CC-9220-8057-F814E55B8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3338" y="1489075"/>
            <a:ext cx="3744912" cy="2841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hy-AM" altLang="en-US" sz="1200" b="1">
                <a:solidFill>
                  <a:srgbClr val="321B6B"/>
                </a:solidFill>
                <a:latin typeface="Sylfaen" panose="010A0502050306030303" pitchFamily="18" charset="0"/>
              </a:rPr>
              <a:t>Անվարժ մոդել</a:t>
            </a:r>
            <a:endParaRPr lang="en-US" altLang="en-US" sz="1200" b="1">
              <a:solidFill>
                <a:srgbClr val="321B6B"/>
              </a:solidFill>
              <a:latin typeface="Sylfaen" panose="010A0502050306030303" pitchFamily="18" charset="0"/>
            </a:endParaRPr>
          </a:p>
        </p:txBody>
      </p:sp>
      <p:sp>
        <p:nvSpPr>
          <p:cNvPr id="15382" name="Arrow: Down 3">
            <a:extLst>
              <a:ext uri="{FF2B5EF4-FFF2-40B4-BE49-F238E27FC236}">
                <a16:creationId xmlns:a16="http://schemas.microsoft.com/office/drawing/2014/main" id="{248CAB11-C414-443B-9BF7-CF604A37B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6575" y="2708275"/>
            <a:ext cx="254000" cy="731838"/>
          </a:xfrm>
          <a:prstGeom prst="downArrow">
            <a:avLst>
              <a:gd name="adj1" fmla="val 50000"/>
              <a:gd name="adj2" fmla="val 49848"/>
            </a:avLst>
          </a:prstGeom>
          <a:noFill/>
          <a:ln w="19050">
            <a:solidFill>
              <a:srgbClr val="321B6B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F4D7B0D1-6A9C-2367-7D4B-6E9BE20942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4838" cy="561975"/>
          </a:xfrm>
        </p:spPr>
        <p:txBody>
          <a:bodyPr/>
          <a:lstStyle/>
          <a:p>
            <a:r>
              <a:rPr lang="hy-AM" altLang="ru-RU" b="1" dirty="0">
                <a:solidFill>
                  <a:srgbClr val="321B6B"/>
                </a:solidFill>
                <a:latin typeface="Sylfaen" panose="010A0502050306030303" pitchFamily="18" charset="0"/>
              </a:rPr>
              <a:t>Գրականության ակնարկ </a:t>
            </a:r>
            <a:r>
              <a:rPr lang="en-US" altLang="ru-RU" b="1" dirty="0">
                <a:solidFill>
                  <a:srgbClr val="321B6B"/>
                </a:solidFill>
                <a:latin typeface="Sylfaen" panose="010A0502050306030303" pitchFamily="18" charset="0"/>
              </a:rPr>
              <a:t>(2)</a:t>
            </a:r>
            <a:endParaRPr lang="en-US" altLang="en-US" b="1" dirty="0">
              <a:solidFill>
                <a:srgbClr val="321B6B"/>
              </a:solidFill>
            </a:endParaRPr>
          </a:p>
        </p:txBody>
      </p:sp>
      <p:graphicFrame>
        <p:nvGraphicFramePr>
          <p:cNvPr id="2" name="Таблица 4">
            <a:extLst>
              <a:ext uri="{FF2B5EF4-FFF2-40B4-BE49-F238E27FC236}">
                <a16:creationId xmlns:a16="http://schemas.microsoft.com/office/drawing/2014/main" id="{992E7288-AC8A-4E2F-BF73-3370EE9EC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617719"/>
              </p:ext>
            </p:extLst>
          </p:nvPr>
        </p:nvGraphicFramePr>
        <p:xfrm>
          <a:off x="200596" y="1635439"/>
          <a:ext cx="4011364" cy="4169825"/>
        </p:xfrm>
        <a:graphic>
          <a:graphicData uri="http://schemas.openxmlformats.org/drawingml/2006/table">
            <a:tbl>
              <a:tblPr/>
              <a:tblGrid>
                <a:gridCol w="2006538">
                  <a:extLst>
                    <a:ext uri="{9D8B030D-6E8A-4147-A177-3AD203B41FA5}">
                      <a16:colId xmlns:a16="http://schemas.microsoft.com/office/drawing/2014/main" val="3408949721"/>
                    </a:ext>
                  </a:extLst>
                </a:gridCol>
                <a:gridCol w="2004826">
                  <a:extLst>
                    <a:ext uri="{9D8B030D-6E8A-4147-A177-3AD203B41FA5}">
                      <a16:colId xmlns:a16="http://schemas.microsoft.com/office/drawing/2014/main" val="2781250997"/>
                    </a:ext>
                  </a:extLst>
                </a:gridCol>
              </a:tblGrid>
              <a:tr h="374294">
                <a:tc>
                  <a:txBody>
                    <a:bodyPr/>
                    <a:lstStyle>
                      <a:lvl1pPr>
                        <a:lnSpc>
                          <a:spcPct val="93000"/>
                        </a:lnSpc>
                        <a:spcBef>
                          <a:spcPts val="8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8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1pPr>
                      <a:lvl2pPr marL="457200">
                        <a:lnSpc>
                          <a:spcPct val="93000"/>
                        </a:lnSpc>
                        <a:spcBef>
                          <a:spcPts val="7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4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2pPr>
                      <a:lvl3pPr marL="914400">
                        <a:lnSpc>
                          <a:spcPct val="93000"/>
                        </a:lnSpc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3pPr>
                      <a:lvl4pPr marL="13716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4pPr>
                      <a:lvl5pPr marL="18288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5pPr>
                      <a:lvl6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6pPr>
                      <a:lvl7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7pPr>
                      <a:lvl8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8pPr>
                      <a:lvl9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y-AM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Unicode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ՓՆՑ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Unicode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875" marR="45875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21B6B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3000"/>
                        </a:lnSpc>
                        <a:spcBef>
                          <a:spcPts val="8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8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1pPr>
                      <a:lvl2pPr marL="457200">
                        <a:lnSpc>
                          <a:spcPct val="93000"/>
                        </a:lnSpc>
                        <a:spcBef>
                          <a:spcPts val="7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4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2pPr>
                      <a:lvl3pPr marL="914400">
                        <a:lnSpc>
                          <a:spcPct val="93000"/>
                        </a:lnSpc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3pPr>
                      <a:lvl4pPr marL="13716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4pPr>
                      <a:lvl5pPr marL="18288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5pPr>
                      <a:lvl6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6pPr>
                      <a:lvl7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7pPr>
                      <a:lvl8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8pPr>
                      <a:lvl9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y-AM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Unicode" pitchFamily="34" charset="0"/>
                          <a:cs typeface="Arial Unicode" pitchFamily="34" charset="0"/>
                        </a:rPr>
                        <a:t>ԳՆՑ</a:t>
                      </a:r>
                      <a:endParaRPr kumimoji="0" lang="en-US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Unicode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875" marR="45875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21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4619"/>
                  </a:ext>
                </a:extLst>
              </a:tr>
              <a:tr h="1177180">
                <a:tc>
                  <a:txBody>
                    <a:bodyPr/>
                    <a:lstStyle>
                      <a:lvl1pPr>
                        <a:lnSpc>
                          <a:spcPct val="93000"/>
                        </a:lnSpc>
                        <a:spcBef>
                          <a:spcPts val="8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8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1pPr>
                      <a:lvl2pPr marL="457200">
                        <a:lnSpc>
                          <a:spcPct val="93000"/>
                        </a:lnSpc>
                        <a:spcBef>
                          <a:spcPts val="7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4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2pPr>
                      <a:lvl3pPr marL="914400">
                        <a:lnSpc>
                          <a:spcPct val="93000"/>
                        </a:lnSpc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3pPr>
                      <a:lvl4pPr marL="13716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4pPr>
                      <a:lvl5pPr marL="18288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5pPr>
                      <a:lvl6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6pPr>
                      <a:lvl7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7pPr>
                      <a:lvl8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8pPr>
                      <a:lvl9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y-AM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21B6B"/>
                          </a:solidFill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Մուտքին տրվում է երկչափանի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21B6B"/>
                          </a:solidFill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hy-AM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21B6B"/>
                          </a:solidFill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ֆիզիկական նախագծման պատկեր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21B6B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875" marR="45875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3000"/>
                        </a:lnSpc>
                        <a:spcBef>
                          <a:spcPts val="8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8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1pPr>
                      <a:lvl2pPr marL="457200">
                        <a:lnSpc>
                          <a:spcPct val="93000"/>
                        </a:lnSpc>
                        <a:spcBef>
                          <a:spcPts val="7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4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2pPr>
                      <a:lvl3pPr marL="914400">
                        <a:lnSpc>
                          <a:spcPct val="93000"/>
                        </a:lnSpc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3pPr>
                      <a:lvl4pPr marL="13716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4pPr>
                      <a:lvl5pPr marL="18288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5pPr>
                      <a:lvl6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6pPr>
                      <a:lvl7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7pPr>
                      <a:lvl8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8pPr>
                      <a:lvl9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y-AM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321B6B"/>
                          </a:solidFill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Մուտքին տրվում է 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321B6B"/>
                          </a:solidFill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գ</a:t>
                      </a:r>
                      <a:r>
                        <a:rPr kumimoji="0" lang="hy-AM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321B6B"/>
                          </a:solidFill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րաֆ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321B6B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879" marR="38879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674349"/>
                  </a:ext>
                </a:extLst>
              </a:tr>
              <a:tr h="1177180">
                <a:tc>
                  <a:txBody>
                    <a:bodyPr/>
                    <a:lstStyle>
                      <a:lvl1pPr>
                        <a:lnSpc>
                          <a:spcPct val="93000"/>
                        </a:lnSpc>
                        <a:spcBef>
                          <a:spcPts val="8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 sz="28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1pPr>
                      <a:lvl2pPr marL="457200">
                        <a:lnSpc>
                          <a:spcPct val="93000"/>
                        </a:lnSpc>
                        <a:spcBef>
                          <a:spcPts val="7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 sz="24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2pPr>
                      <a:lvl3pPr marL="914400">
                        <a:lnSpc>
                          <a:spcPct val="93000"/>
                        </a:lnSpc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 sz="20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3pPr>
                      <a:lvl4pPr marL="13716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4pPr>
                      <a:lvl5pPr marL="18288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5pPr>
                      <a:lvl6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6pPr>
                      <a:lvl7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7pPr>
                      <a:lvl8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8pPr>
                      <a:lvl9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39800" algn="l"/>
                        </a:tabLst>
                      </a:pPr>
                      <a:r>
                        <a:rPr kumimoji="0" lang="hy-AM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321B6B"/>
                          </a:solidFill>
                          <a:effectLst/>
                          <a:latin typeface="Sylfaen" panose="010A0502050306030303" pitchFamily="18" charset="0"/>
                          <a:cs typeface="Arial Unicode" pitchFamily="34" charset="0"/>
                        </a:rPr>
                        <a:t>Հաշվողականորեն հարմար է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321B6B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875" marR="45875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3000"/>
                        </a:lnSpc>
                        <a:spcBef>
                          <a:spcPts val="8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8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1pPr>
                      <a:lvl2pPr marL="457200">
                        <a:lnSpc>
                          <a:spcPct val="93000"/>
                        </a:lnSpc>
                        <a:spcBef>
                          <a:spcPts val="7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4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2pPr>
                      <a:lvl3pPr marL="914400">
                        <a:lnSpc>
                          <a:spcPct val="93000"/>
                        </a:lnSpc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3pPr>
                      <a:lvl4pPr marL="13716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4pPr>
                      <a:lvl5pPr marL="18288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5pPr>
                      <a:lvl6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6pPr>
                      <a:lvl7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7pPr>
                      <a:lvl8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8pPr>
                      <a:lvl9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y-AM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321B6B"/>
                          </a:solidFill>
                          <a:effectLst/>
                          <a:latin typeface="Sylfaen" panose="010A0502050306030303" pitchFamily="18" charset="0"/>
                          <a:cs typeface="Arial Unicode" pitchFamily="34" charset="0"/>
                        </a:rPr>
                        <a:t>Ուղարկում է հաղորդագրություններ ցանցերի և հարակից տարածքների վրայով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321B6B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875" marR="45875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1326"/>
                  </a:ext>
                </a:extLst>
              </a:tr>
              <a:tr h="1441171">
                <a:tc>
                  <a:txBody>
                    <a:bodyPr/>
                    <a:lstStyle>
                      <a:lvl1pPr>
                        <a:lnSpc>
                          <a:spcPct val="93000"/>
                        </a:lnSpc>
                        <a:spcBef>
                          <a:spcPts val="8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8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1pPr>
                      <a:lvl2pPr marL="457200">
                        <a:lnSpc>
                          <a:spcPct val="93000"/>
                        </a:lnSpc>
                        <a:spcBef>
                          <a:spcPts val="7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4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2pPr>
                      <a:lvl3pPr marL="914400">
                        <a:lnSpc>
                          <a:spcPct val="93000"/>
                        </a:lnSpc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3pPr>
                      <a:lvl4pPr marL="13716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4pPr>
                      <a:lvl5pPr marL="18288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5pPr>
                      <a:lvl6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6pPr>
                      <a:lvl7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7pPr>
                      <a:lvl8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8pPr>
                      <a:lvl9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y-AM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321B6B"/>
                          </a:solidFill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Ուղղակիորեն արտադրում է  պիքսելային առումով դիզայնի կանոնների խախտումների</a:t>
                      </a: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321B6B"/>
                          </a:solidFill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hy-AM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321B6B"/>
                          </a:solidFill>
                          <a:effectLst/>
                          <a:latin typeface="Sylfaen" panose="010A050205030603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ռիսկերի քարտեզներ</a:t>
                      </a: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321B6B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875" marR="45875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3000"/>
                        </a:lnSpc>
                        <a:spcBef>
                          <a:spcPts val="8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8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1pPr>
                      <a:lvl2pPr marL="457200">
                        <a:lnSpc>
                          <a:spcPct val="93000"/>
                        </a:lnSpc>
                        <a:spcBef>
                          <a:spcPts val="7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4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2pPr>
                      <a:lvl3pPr marL="914400">
                        <a:lnSpc>
                          <a:spcPct val="93000"/>
                        </a:lnSpc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3pPr>
                      <a:lvl4pPr marL="13716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4pPr>
                      <a:lvl5pPr marL="18288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5pPr>
                      <a:lvl6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6pPr>
                      <a:lvl7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7pPr>
                      <a:lvl8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8pPr>
                      <a:lvl9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y-AM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21B6B"/>
                          </a:solidFill>
                          <a:effectLst/>
                          <a:latin typeface="Sylfaen" panose="010A0502050306030303" pitchFamily="18" charset="0"/>
                          <a:cs typeface="Arial Unicode" pitchFamily="34" charset="0"/>
                        </a:rPr>
                        <a:t>Գրավում է ֆիզիկական նախագծման կապը և հիերարխիան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21B6B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5875" marR="45875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330037"/>
                  </a:ext>
                </a:extLst>
              </a:tr>
            </a:tbl>
          </a:graphicData>
        </a:graphic>
      </p:graphicFrame>
      <p:sp>
        <p:nvSpPr>
          <p:cNvPr id="13332" name="TextBox 2">
            <a:extLst>
              <a:ext uri="{FF2B5EF4-FFF2-40B4-BE49-F238E27FC236}">
                <a16:creationId xmlns:a16="http://schemas.microsoft.com/office/drawing/2014/main" id="{7A452B4D-2108-C433-41C4-E1EC2B9B6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8" y="836613"/>
            <a:ext cx="90154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hy-AM" altLang="en-US" dirty="0">
                <a:solidFill>
                  <a:schemeClr val="tx1"/>
                </a:solidFill>
              </a:rPr>
              <a:t> </a:t>
            </a:r>
            <a:r>
              <a:rPr lang="hy-AM" altLang="en-US" dirty="0">
                <a:solidFill>
                  <a:schemeClr val="tx1"/>
                </a:solidFill>
                <a:latin typeface="Sylfaen" panose="010A0502050306030303" pitchFamily="18" charset="0"/>
              </a:rPr>
              <a:t>Փաթույթային նեյրոնային ցանցերի </a:t>
            </a:r>
            <a:r>
              <a:rPr lang="en-US" altLang="en-US" dirty="0">
                <a:solidFill>
                  <a:schemeClr val="tx1"/>
                </a:solidFill>
                <a:latin typeface="Sylfaen" panose="010A0502050306030303" pitchFamily="18" charset="0"/>
              </a:rPr>
              <a:t>(</a:t>
            </a:r>
            <a:r>
              <a:rPr lang="hy-AM" altLang="en-US" dirty="0">
                <a:solidFill>
                  <a:schemeClr val="tx1"/>
                </a:solidFill>
                <a:latin typeface="Sylfaen" panose="010A0502050306030303" pitchFamily="18" charset="0"/>
              </a:rPr>
              <a:t>ՓՆՑ</a:t>
            </a:r>
            <a:r>
              <a:rPr lang="en-US" altLang="en-US" dirty="0">
                <a:solidFill>
                  <a:schemeClr val="tx1"/>
                </a:solidFill>
                <a:latin typeface="Sylfaen" panose="010A0502050306030303" pitchFamily="18" charset="0"/>
              </a:rPr>
              <a:t>)</a:t>
            </a:r>
            <a:r>
              <a:rPr lang="hy-AM" altLang="en-US" dirty="0">
                <a:solidFill>
                  <a:schemeClr val="tx1"/>
                </a:solidFill>
                <a:latin typeface="Sylfaen" panose="010A0502050306030303" pitchFamily="18" charset="0"/>
              </a:rPr>
              <a:t> և Գրաֆային նեյրոնային ցանցերի</a:t>
            </a:r>
            <a:r>
              <a:rPr lang="en-US" altLang="en-US" dirty="0">
                <a:solidFill>
                  <a:schemeClr val="tx1"/>
                </a:solidFill>
                <a:latin typeface="Sylfaen" panose="010A0502050306030303" pitchFamily="18" charset="0"/>
              </a:rPr>
              <a:t> (</a:t>
            </a:r>
            <a:r>
              <a:rPr lang="hy-AM" altLang="en-US" dirty="0">
                <a:solidFill>
                  <a:schemeClr val="tx1"/>
                </a:solidFill>
                <a:latin typeface="Sylfaen" panose="010A0502050306030303" pitchFamily="18" charset="0"/>
              </a:rPr>
              <a:t>ԳՆՑ</a:t>
            </a:r>
            <a:r>
              <a:rPr lang="en-US" altLang="en-US" dirty="0">
                <a:solidFill>
                  <a:schemeClr val="tx1"/>
                </a:solidFill>
                <a:latin typeface="Sylfaen" panose="010A0502050306030303" pitchFamily="18" charset="0"/>
              </a:rPr>
              <a:t>)</a:t>
            </a:r>
            <a:r>
              <a:rPr lang="hy-AM" altLang="en-US" dirty="0">
                <a:solidFill>
                  <a:schemeClr val="tx1"/>
                </a:solidFill>
                <a:latin typeface="Sylfaen" panose="010A0502050306030303" pitchFamily="18" charset="0"/>
              </a:rPr>
              <a:t> կիրառմամբ աշխատանքի կատարումը</a:t>
            </a:r>
            <a:endParaRPr lang="en-US" altLang="en-US" dirty="0">
              <a:solidFill>
                <a:schemeClr val="tx1"/>
              </a:solidFill>
              <a:latin typeface="Sylfaen" panose="010A0502050306030303" pitchFamily="18" charset="0"/>
            </a:endParaRPr>
          </a:p>
        </p:txBody>
      </p:sp>
      <p:sp>
        <p:nvSpPr>
          <p:cNvPr id="13333" name="TextBox 6">
            <a:extLst>
              <a:ext uri="{FF2B5EF4-FFF2-40B4-BE49-F238E27FC236}">
                <a16:creationId xmlns:a16="http://schemas.microsoft.com/office/drawing/2014/main" id="{85A091B6-B3C9-01C3-31FD-B3FFCE2B0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699" y="5898276"/>
            <a:ext cx="869473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hy-AM" altLang="en-US" sz="1000" dirty="0">
                <a:solidFill>
                  <a:srgbClr val="321B6B"/>
                </a:solidFill>
              </a:rPr>
              <a:t>Աղբյուրը ՝</a:t>
            </a:r>
            <a:r>
              <a:rPr lang="en-US" altLang="en-US" sz="1000" dirty="0">
                <a:solidFill>
                  <a:srgbClr val="321B6B"/>
                </a:solidFill>
              </a:rPr>
              <a:t>  https://dl.acm.org/doi/10.1145/3694968</a:t>
            </a:r>
            <a:endParaRPr lang="en-US" altLang="en-US" sz="1200" dirty="0">
              <a:solidFill>
                <a:srgbClr val="321B6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62421F-9D64-2AC1-5685-B9A9E91B3D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873" y="2892250"/>
            <a:ext cx="4779789" cy="21954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3E1725-48DE-C04A-6E9F-C27686C32971}"/>
              </a:ext>
            </a:extLst>
          </p:cNvPr>
          <p:cNvSpPr txBox="1"/>
          <p:nvPr/>
        </p:nvSpPr>
        <p:spPr>
          <a:xfrm>
            <a:off x="4708614" y="2061253"/>
            <a:ext cx="4112419" cy="830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y-AM" sz="1600" b="1" dirty="0">
                <a:solidFill>
                  <a:srgbClr val="321B6B"/>
                </a:solidFill>
                <a:latin typeface="Sylfaen" panose="010A0502050306030303" pitchFamily="18" charset="0"/>
              </a:rPr>
              <a:t>Մեկ Գրաֆային Փաթույթային Ցանցի </a:t>
            </a:r>
            <a:r>
              <a:rPr lang="en-US" sz="1600" b="1" dirty="0">
                <a:solidFill>
                  <a:srgbClr val="321B6B"/>
                </a:solidFill>
                <a:latin typeface="Sylfaen" panose="010A0502050306030303" pitchFamily="18" charset="0"/>
              </a:rPr>
              <a:t>(</a:t>
            </a:r>
            <a:r>
              <a:rPr lang="hy-AM" sz="1600" b="1" dirty="0">
                <a:solidFill>
                  <a:srgbClr val="321B6B"/>
                </a:solidFill>
                <a:latin typeface="Sylfaen" panose="010A0502050306030303" pitchFamily="18" charset="0"/>
              </a:rPr>
              <a:t>ԳՓՑ</a:t>
            </a:r>
            <a:r>
              <a:rPr lang="en-US" sz="1600" b="1" dirty="0">
                <a:solidFill>
                  <a:srgbClr val="321B6B"/>
                </a:solidFill>
                <a:latin typeface="Sylfaen" panose="010A0502050306030303" pitchFamily="18" charset="0"/>
              </a:rPr>
              <a:t>)</a:t>
            </a:r>
            <a:r>
              <a:rPr lang="hy-AM" sz="1600" b="1" dirty="0">
                <a:solidFill>
                  <a:srgbClr val="321B6B"/>
                </a:solidFill>
                <a:latin typeface="Sylfaen" panose="010A0502050306030303" pitchFamily="18" charset="0"/>
              </a:rPr>
              <a:t> շերտի ճարտարապետության տեսքը </a:t>
            </a:r>
            <a:endParaRPr lang="en-US" sz="1600" b="1" dirty="0">
              <a:solidFill>
                <a:srgbClr val="321B6B"/>
              </a:solidFill>
              <a:latin typeface="Sylfaen" panose="010A050205030603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109234FF-1EF2-6FC0-11AD-C9E7EAE14F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4838" cy="633412"/>
          </a:xfrm>
        </p:spPr>
        <p:txBody>
          <a:bodyPr/>
          <a:lstStyle/>
          <a:p>
            <a:r>
              <a:rPr lang="en-US" altLang="ru-RU" b="1">
                <a:solidFill>
                  <a:srgbClr val="321B6B"/>
                </a:solidFill>
                <a:latin typeface="Sylfaen" panose="010A0502050306030303" pitchFamily="18" charset="0"/>
              </a:rPr>
              <a:t>Խնդրի դրվածք</a:t>
            </a:r>
            <a:endParaRPr lang="en-US" altLang="en-US" b="1">
              <a:solidFill>
                <a:srgbClr val="321B6B"/>
              </a:solidFill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8B35A9E-52B6-B876-A8B3-C215BDEBF92B}"/>
              </a:ext>
            </a:extLst>
          </p:cNvPr>
          <p:cNvGraphicFramePr>
            <a:graphicFrameLocks noGrp="1"/>
          </p:cNvGraphicFramePr>
          <p:nvPr/>
        </p:nvGraphicFramePr>
        <p:xfrm>
          <a:off x="1263650" y="2565400"/>
          <a:ext cx="6611938" cy="3311527"/>
        </p:xfrm>
        <a:graphic>
          <a:graphicData uri="http://schemas.openxmlformats.org/drawingml/2006/table">
            <a:tbl>
              <a:tblPr/>
              <a:tblGrid>
                <a:gridCol w="4259263">
                  <a:extLst>
                    <a:ext uri="{9D8B030D-6E8A-4147-A177-3AD203B41FA5}">
                      <a16:colId xmlns:a16="http://schemas.microsoft.com/office/drawing/2014/main" val="3538815850"/>
                    </a:ext>
                  </a:extLst>
                </a:gridCol>
                <a:gridCol w="2352675">
                  <a:extLst>
                    <a:ext uri="{9D8B030D-6E8A-4147-A177-3AD203B41FA5}">
                      <a16:colId xmlns:a16="http://schemas.microsoft.com/office/drawing/2014/main" val="4266498984"/>
                    </a:ext>
                  </a:extLst>
                </a:gridCol>
              </a:tblGrid>
              <a:tr h="407988">
                <a:tc>
                  <a:txBody>
                    <a:bodyPr/>
                    <a:lstStyle>
                      <a:lvl1pPr>
                        <a:lnSpc>
                          <a:spcPct val="93000"/>
                        </a:lnSpc>
                        <a:spcBef>
                          <a:spcPts val="8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8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1pPr>
                      <a:lvl2pPr marL="457200">
                        <a:lnSpc>
                          <a:spcPct val="93000"/>
                        </a:lnSpc>
                        <a:spcBef>
                          <a:spcPts val="7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4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2pPr>
                      <a:lvl3pPr marL="914400">
                        <a:lnSpc>
                          <a:spcPct val="93000"/>
                        </a:lnSpc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3pPr>
                      <a:lvl4pPr marL="13716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4pPr>
                      <a:lvl5pPr marL="18288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5pPr>
                      <a:lvl6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6pPr>
                      <a:lvl7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7pPr>
                      <a:lvl8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8pPr>
                      <a:lvl9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y-AM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ylfaen" panose="010A0502050306030303" pitchFamily="18" charset="0"/>
                          <a:cs typeface="Arial Unicode" pitchFamily="34" charset="0"/>
                        </a:rPr>
                        <a:t>Պարամետրեր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90" marR="606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21B6B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3000"/>
                        </a:lnSpc>
                        <a:spcBef>
                          <a:spcPts val="8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8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1pPr>
                      <a:lvl2pPr marL="457200">
                        <a:lnSpc>
                          <a:spcPct val="93000"/>
                        </a:lnSpc>
                        <a:spcBef>
                          <a:spcPts val="7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4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2pPr>
                      <a:lvl3pPr marL="914400">
                        <a:lnSpc>
                          <a:spcPct val="93000"/>
                        </a:lnSpc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3pPr>
                      <a:lvl4pPr marL="13716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4pPr>
                      <a:lvl5pPr marL="18288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5pPr>
                      <a:lvl6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6pPr>
                      <a:lvl7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7pPr>
                      <a:lvl8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8pPr>
                      <a:lvl9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y-AM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ylfaen" panose="010A0502050306030303" pitchFamily="18" charset="0"/>
                          <a:cs typeface="Arial Unicode" pitchFamily="34" charset="0"/>
                        </a:rPr>
                        <a:t>Արժեք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90" marR="606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21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487968"/>
                  </a:ext>
                </a:extLst>
              </a:tr>
              <a:tr h="646113">
                <a:tc>
                  <a:txBody>
                    <a:bodyPr/>
                    <a:lstStyle>
                      <a:lvl1pPr>
                        <a:lnSpc>
                          <a:spcPct val="93000"/>
                        </a:lnSpc>
                        <a:spcBef>
                          <a:spcPts val="8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8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1pPr>
                      <a:lvl2pPr marL="457200">
                        <a:lnSpc>
                          <a:spcPct val="93000"/>
                        </a:lnSpc>
                        <a:spcBef>
                          <a:spcPts val="7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4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2pPr>
                      <a:lvl3pPr marL="914400">
                        <a:lnSpc>
                          <a:spcPct val="93000"/>
                        </a:lnSpc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3pPr>
                      <a:lvl4pPr marL="13716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4pPr>
                      <a:lvl5pPr marL="18288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5pPr>
                      <a:lvl6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6pPr>
                      <a:lvl7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7pPr>
                      <a:lvl8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8pPr>
                      <a:lvl9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y-AM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21B6B"/>
                          </a:solidFill>
                          <a:effectLst/>
                          <a:latin typeface="Sylfaen" panose="010A0502050306030303" pitchFamily="18" charset="0"/>
                          <a:cs typeface="Arial Unicode" pitchFamily="34" charset="0"/>
                        </a:rPr>
                        <a:t>Օգտագործվող ծրագրավորման լեզու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321B6B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90" marR="606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3000"/>
                        </a:lnSpc>
                        <a:spcBef>
                          <a:spcPts val="8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8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1pPr>
                      <a:lvl2pPr marL="457200">
                        <a:lnSpc>
                          <a:spcPct val="93000"/>
                        </a:lnSpc>
                        <a:spcBef>
                          <a:spcPts val="7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4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2pPr>
                      <a:lvl3pPr marL="914400">
                        <a:lnSpc>
                          <a:spcPct val="93000"/>
                        </a:lnSpc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3pPr>
                      <a:lvl4pPr marL="13716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4pPr>
                      <a:lvl5pPr marL="18288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5pPr>
                      <a:lvl6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6pPr>
                      <a:lvl7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7pPr>
                      <a:lvl8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8pPr>
                      <a:lvl9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21B6B"/>
                          </a:solidFill>
                          <a:effectLst/>
                          <a:latin typeface="Sylfaen" panose="010A0502050306030303" pitchFamily="18" charset="0"/>
                          <a:cs typeface="Arial Unicode" pitchFamily="34" charset="0"/>
                        </a:rPr>
                        <a:t>Python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321B6B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132221"/>
                  </a:ext>
                </a:extLst>
              </a:tr>
              <a:tr h="661988">
                <a:tc>
                  <a:txBody>
                    <a:bodyPr/>
                    <a:lstStyle>
                      <a:lvl1pPr>
                        <a:lnSpc>
                          <a:spcPct val="93000"/>
                        </a:lnSpc>
                        <a:spcBef>
                          <a:spcPts val="8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 sz="28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1pPr>
                      <a:lvl2pPr marL="457200">
                        <a:lnSpc>
                          <a:spcPct val="93000"/>
                        </a:lnSpc>
                        <a:spcBef>
                          <a:spcPts val="7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 sz="24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2pPr>
                      <a:lvl3pPr marL="914400">
                        <a:lnSpc>
                          <a:spcPct val="93000"/>
                        </a:lnSpc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 sz="20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3pPr>
                      <a:lvl4pPr marL="13716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4pPr>
                      <a:lvl5pPr marL="18288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5pPr>
                      <a:lvl6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6pPr>
                      <a:lvl7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7pPr>
                      <a:lvl8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8pPr>
                      <a:lvl9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39800" algn="l"/>
                        </a:tabLst>
                      </a:pPr>
                      <a:r>
                        <a:rPr kumimoji="0" lang="hy-AM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21B6B"/>
                          </a:solidFill>
                          <a:effectLst/>
                          <a:latin typeface="Sylfaen" panose="010A0502050306030303" pitchFamily="18" charset="0"/>
                          <a:cs typeface="Arial Unicode" pitchFamily="34" charset="0"/>
                        </a:rPr>
                        <a:t>Գրաֆիկական ինտերֆեյսի առկայությունը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321B6B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90" marR="606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3000"/>
                        </a:lnSpc>
                        <a:spcBef>
                          <a:spcPts val="8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8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1pPr>
                      <a:lvl2pPr marL="457200">
                        <a:lnSpc>
                          <a:spcPct val="93000"/>
                        </a:lnSpc>
                        <a:spcBef>
                          <a:spcPts val="7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4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2pPr>
                      <a:lvl3pPr marL="914400">
                        <a:lnSpc>
                          <a:spcPct val="93000"/>
                        </a:lnSpc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3pPr>
                      <a:lvl4pPr marL="13716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4pPr>
                      <a:lvl5pPr marL="18288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5pPr>
                      <a:lvl6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6pPr>
                      <a:lvl7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7pPr>
                      <a:lvl8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8pPr>
                      <a:lvl9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y-AM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21B6B"/>
                          </a:solidFill>
                          <a:effectLst/>
                          <a:latin typeface="Sylfaen" panose="010A0502050306030303" pitchFamily="18" charset="0"/>
                          <a:cs typeface="Arial Unicode" pitchFamily="34" charset="0"/>
                        </a:rPr>
                        <a:t>Այո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321B6B"/>
                        </a:solidFill>
                        <a:effectLst/>
                        <a:latin typeface="Sylfaen" panose="010A050205030603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690" marR="606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782899"/>
                  </a:ext>
                </a:extLst>
              </a:tr>
              <a:tr h="941388">
                <a:tc>
                  <a:txBody>
                    <a:bodyPr/>
                    <a:lstStyle>
                      <a:lvl1pPr>
                        <a:lnSpc>
                          <a:spcPct val="93000"/>
                        </a:lnSpc>
                        <a:spcBef>
                          <a:spcPts val="8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 sz="28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1pPr>
                      <a:lvl2pPr marL="457200">
                        <a:lnSpc>
                          <a:spcPct val="93000"/>
                        </a:lnSpc>
                        <a:spcBef>
                          <a:spcPts val="7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 sz="24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2pPr>
                      <a:lvl3pPr marL="914400">
                        <a:lnSpc>
                          <a:spcPct val="93000"/>
                        </a:lnSpc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 sz="20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3pPr>
                      <a:lvl4pPr marL="13716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4pPr>
                      <a:lvl5pPr marL="18288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5pPr>
                      <a:lvl6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6pPr>
                      <a:lvl7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7pPr>
                      <a:lvl8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8pPr>
                      <a:lvl9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39800" algn="l"/>
                        </a:tabLst>
                      </a:pPr>
                      <a:r>
                        <a:rPr kumimoji="0" lang="hy-AM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21B6B"/>
                          </a:solidFill>
                          <a:effectLst/>
                          <a:latin typeface="Sylfaen" panose="010A0502050306030303" pitchFamily="18" charset="0"/>
                          <a:cs typeface="Arial Unicode" pitchFamily="34" charset="0"/>
                        </a:rPr>
                        <a:t>Օգտագործվող գրադարանների ցանկը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321B6B"/>
                        </a:solidFill>
                        <a:effectLst/>
                        <a:latin typeface="Sylfaen" panose="010A0502050306030303" pitchFamily="18" charset="0"/>
                        <a:cs typeface="Arial Unicode" pitchFamily="34" charset="0"/>
                      </a:endParaRPr>
                    </a:p>
                  </a:txBody>
                  <a:tcPr marL="60690" marR="606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3000"/>
                        </a:lnSpc>
                        <a:spcBef>
                          <a:spcPts val="8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8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1pPr>
                      <a:lvl2pPr marL="457200">
                        <a:lnSpc>
                          <a:spcPct val="93000"/>
                        </a:lnSpc>
                        <a:spcBef>
                          <a:spcPts val="7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4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2pPr>
                      <a:lvl3pPr marL="914400">
                        <a:lnSpc>
                          <a:spcPct val="93000"/>
                        </a:lnSpc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3pPr>
                      <a:lvl4pPr marL="13716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4pPr>
                      <a:lvl5pPr marL="18288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5pPr>
                      <a:lvl6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6pPr>
                      <a:lvl7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7pPr>
                      <a:lvl8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8pPr>
                      <a:lvl9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21B6B"/>
                          </a:solidFill>
                          <a:effectLst/>
                          <a:latin typeface="Sylfaen" panose="010A0502050306030303" pitchFamily="18" charset="0"/>
                          <a:cs typeface="Arial Unicode" pitchFamily="34" charset="0"/>
                        </a:rPr>
                        <a:t>PyQt5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21B6B"/>
                          </a:solidFill>
                          <a:effectLst/>
                          <a:latin typeface="Sylfaen" panose="010A0502050306030303" pitchFamily="18" charset="0"/>
                          <a:cs typeface="Arial Unicode" pitchFamily="34" charset="0"/>
                        </a:rPr>
                        <a:t>PyTorch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21B6B"/>
                          </a:solidFill>
                          <a:effectLst/>
                          <a:latin typeface="Sylfaen" panose="010A0502050306030303" pitchFamily="18" charset="0"/>
                          <a:cs typeface="Arial Unicode" pitchFamily="34" charset="0"/>
                        </a:rPr>
                        <a:t>Matplotlib</a:t>
                      </a:r>
                    </a:p>
                  </a:txBody>
                  <a:tcPr marL="60690" marR="606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826402"/>
                  </a:ext>
                </a:extLst>
              </a:tr>
              <a:tr h="654050">
                <a:tc>
                  <a:txBody>
                    <a:bodyPr/>
                    <a:lstStyle>
                      <a:lvl1pPr>
                        <a:lnSpc>
                          <a:spcPct val="93000"/>
                        </a:lnSpc>
                        <a:spcBef>
                          <a:spcPts val="8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 sz="28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1pPr>
                      <a:lvl2pPr marL="457200">
                        <a:lnSpc>
                          <a:spcPct val="93000"/>
                        </a:lnSpc>
                        <a:spcBef>
                          <a:spcPts val="7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 sz="24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2pPr>
                      <a:lvl3pPr marL="914400">
                        <a:lnSpc>
                          <a:spcPct val="93000"/>
                        </a:lnSpc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 sz="20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3pPr>
                      <a:lvl4pPr marL="13716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4pPr>
                      <a:lvl5pPr marL="18288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5pPr>
                      <a:lvl6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6pPr>
                      <a:lvl7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7pPr>
                      <a:lvl8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8pPr>
                      <a:lvl9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939800" algn="l"/>
                        </a:tabLst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39800" algn="l"/>
                        </a:tabLst>
                      </a:pPr>
                      <a:r>
                        <a:rPr kumimoji="0" lang="hy-AM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21B6B"/>
                          </a:solidFill>
                          <a:effectLst/>
                          <a:latin typeface="Sylfaen" panose="010A0502050306030303" pitchFamily="18" charset="0"/>
                          <a:cs typeface="Arial Unicode" pitchFamily="34" charset="0"/>
                        </a:rPr>
                        <a:t>Մեքենայական ուսուցման տեսակը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321B6B"/>
                        </a:solidFill>
                        <a:effectLst/>
                        <a:latin typeface="Sylfaen" panose="010A0502050306030303" pitchFamily="18" charset="0"/>
                        <a:cs typeface="Arial Unicode" pitchFamily="34" charset="0"/>
                      </a:endParaRPr>
                    </a:p>
                  </a:txBody>
                  <a:tcPr marL="60690" marR="606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3000"/>
                        </a:lnSpc>
                        <a:spcBef>
                          <a:spcPts val="8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8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1pPr>
                      <a:lvl2pPr marL="457200">
                        <a:lnSpc>
                          <a:spcPct val="93000"/>
                        </a:lnSpc>
                        <a:spcBef>
                          <a:spcPts val="7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4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2pPr>
                      <a:lvl3pPr marL="914400">
                        <a:lnSpc>
                          <a:spcPct val="93000"/>
                        </a:lnSpc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3pPr>
                      <a:lvl4pPr marL="13716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4pPr>
                      <a:lvl5pPr marL="1828800">
                        <a:lnSpc>
                          <a:spcPct val="93000"/>
                        </a:lnSpc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5pPr>
                      <a:lvl6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6pPr>
                      <a:lvl7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7pPr>
                      <a:lvl8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8pPr>
                      <a:lvl9pPr indent="-228600" eaLnBrk="0" fontAlgn="base" hangingPunct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>
                          <a:solidFill>
                            <a:srgbClr val="16165D"/>
                          </a:solidFill>
                          <a:latin typeface="GHEA Grapalat" pitchFamily="50" charset="0"/>
                          <a:cs typeface="Arial Unicode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y-AM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21B6B"/>
                          </a:solidFill>
                          <a:effectLst/>
                          <a:latin typeface="Sylfaen" panose="010A0502050306030303" pitchFamily="18" charset="0"/>
                          <a:cs typeface="Arial Unicode" pitchFamily="34" charset="0"/>
                        </a:rPr>
                        <a:t>վերահսկվող</a:t>
                      </a:r>
                    </a:p>
                  </a:txBody>
                  <a:tcPr marL="60690" marR="6069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548322"/>
                  </a:ext>
                </a:extLst>
              </a:tr>
            </a:tbl>
          </a:graphicData>
        </a:graphic>
      </p:graphicFrame>
      <p:sp>
        <p:nvSpPr>
          <p:cNvPr id="19479" name="TextBox 6">
            <a:extLst>
              <a:ext uri="{FF2B5EF4-FFF2-40B4-BE49-F238E27FC236}">
                <a16:creationId xmlns:a16="http://schemas.microsoft.com/office/drawing/2014/main" id="{4B4C2287-8DEB-2E90-3A4E-294C92F18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908050"/>
            <a:ext cx="90725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hy-AM" altLang="en-US" dirty="0">
                <a:solidFill>
                  <a:schemeClr val="tx1"/>
                </a:solidFill>
                <a:latin typeface="Sylfaen" panose="010A0502050306030303" pitchFamily="18" charset="0"/>
              </a:rPr>
              <a:t>Փաթույթային նեյրոնային ցանցերի վրա հիմնված ծրագրային միջոցի մշակում</a:t>
            </a:r>
            <a:r>
              <a:rPr lang="en-US" altLang="en-US" dirty="0">
                <a:solidFill>
                  <a:schemeClr val="tx1"/>
                </a:solidFill>
                <a:latin typeface="Sylfaen" panose="010A0502050306030303" pitchFamily="18" charset="0"/>
              </a:rPr>
              <a:t> </a:t>
            </a:r>
            <a:r>
              <a:rPr lang="hy-AM" altLang="en-US" dirty="0">
                <a:solidFill>
                  <a:schemeClr val="tx1"/>
                </a:solidFill>
                <a:latin typeface="Sylfaen" panose="010A0502050306030303" pitchFamily="18" charset="0"/>
              </a:rPr>
              <a:t>օգտագործելով </a:t>
            </a:r>
            <a:r>
              <a:rPr lang="en-US" altLang="en-US" dirty="0" err="1">
                <a:solidFill>
                  <a:schemeClr val="tx1"/>
                </a:solidFill>
                <a:latin typeface="Sylfaen" panose="010A0502050306030303" pitchFamily="18" charset="0"/>
              </a:rPr>
              <a:t>RouteNet</a:t>
            </a:r>
            <a:r>
              <a:rPr lang="en-US" altLang="en-US" dirty="0">
                <a:solidFill>
                  <a:schemeClr val="tx1"/>
                </a:solidFill>
                <a:latin typeface="Sylfaen" panose="010A0502050306030303" pitchFamily="18" charset="0"/>
              </a:rPr>
              <a:t> </a:t>
            </a:r>
            <a:r>
              <a:rPr lang="hy-AM" altLang="en-US" dirty="0">
                <a:solidFill>
                  <a:schemeClr val="tx1"/>
                </a:solidFill>
                <a:latin typeface="Sylfaen" panose="010A0502050306030303" pitchFamily="18" charset="0"/>
              </a:rPr>
              <a:t>ճարտարապետությունը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y-AM" altLang="en-US" dirty="0">
                <a:solidFill>
                  <a:schemeClr val="tx1"/>
                </a:solidFill>
                <a:latin typeface="Sylfaen" panose="010A0502050306030303" pitchFamily="18" charset="0"/>
              </a:rPr>
              <a:t>Ստանալ ջերմային կետերով քարտեզ, որը կընդգծի ստացված պատկերի խնդրահարույց շրջանները</a:t>
            </a:r>
            <a:endParaRPr lang="en-US" altLang="en-US" dirty="0">
              <a:solidFill>
                <a:schemeClr val="tx1"/>
              </a:solidFill>
              <a:latin typeface="Sylfaen" panose="010A050205030603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3532D164-76A2-1EF3-9E1E-3660FE1E7F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4838" cy="561975"/>
          </a:xfrm>
        </p:spPr>
        <p:txBody>
          <a:bodyPr/>
          <a:lstStyle/>
          <a:p>
            <a:r>
              <a:rPr lang="hy-AM" altLang="en-US" b="1">
                <a:solidFill>
                  <a:srgbClr val="321B6B"/>
                </a:solidFill>
                <a:latin typeface="Sylfaen" panose="010A0502050306030303" pitchFamily="18" charset="0"/>
              </a:rPr>
              <a:t>Տեսական առնչություններ</a:t>
            </a:r>
            <a:endParaRPr lang="en-US" altLang="en-US" b="1">
              <a:solidFill>
                <a:srgbClr val="321B6B"/>
              </a:solidFill>
            </a:endParaRPr>
          </a:p>
        </p:txBody>
      </p:sp>
      <p:sp>
        <p:nvSpPr>
          <p:cNvPr id="21507" name="TextBox 1">
            <a:extLst>
              <a:ext uri="{FF2B5EF4-FFF2-40B4-BE49-F238E27FC236}">
                <a16:creationId xmlns:a16="http://schemas.microsoft.com/office/drawing/2014/main" id="{134B4A92-747A-D194-9262-DA15AACCF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837202"/>
            <a:ext cx="84963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hy-AM" altLang="en-US" sz="1000" dirty="0">
                <a:solidFill>
                  <a:srgbClr val="321B6B"/>
                </a:solidFill>
              </a:rPr>
              <a:t>Աղբյուրը ՝ </a:t>
            </a:r>
            <a:r>
              <a:rPr lang="en-US" altLang="en-US" sz="1000" dirty="0">
                <a:solidFill>
                  <a:srgbClr val="321B6B"/>
                </a:solidFill>
              </a:rPr>
              <a:t>https://www.geeksforgeeks.org/machine-learning/introduction-convolution-neural-network</a:t>
            </a:r>
            <a:r>
              <a:rPr lang="en-US" altLang="en-US" sz="1000" dirty="0">
                <a:solidFill>
                  <a:srgbClr val="321B6B"/>
                </a:solidFill>
                <a:hlinkClick r:id="rId3"/>
              </a:rPr>
              <a:t>/</a:t>
            </a:r>
            <a:endParaRPr lang="hy-AM" altLang="en-US" sz="1000" dirty="0">
              <a:solidFill>
                <a:srgbClr val="321B6B"/>
              </a:solidFill>
            </a:endParaRPr>
          </a:p>
          <a:p>
            <a:r>
              <a:rPr lang="en-US" altLang="en-US" sz="1000" dirty="0">
                <a:solidFill>
                  <a:srgbClr val="321B6B"/>
                </a:solidFill>
              </a:rPr>
              <a:t>https://research.nvidia.com/sites/default/files/pubs/2018-11_RouteNet:-routability-prediction/a80-xie.pdf </a:t>
            </a:r>
          </a:p>
        </p:txBody>
      </p:sp>
      <p:grpSp>
        <p:nvGrpSpPr>
          <p:cNvPr id="21508" name="Group 6">
            <a:extLst>
              <a:ext uri="{FF2B5EF4-FFF2-40B4-BE49-F238E27FC236}">
                <a16:creationId xmlns:a16="http://schemas.microsoft.com/office/drawing/2014/main" id="{D201B914-EF57-F086-558C-F2E9620B423C}"/>
              </a:ext>
            </a:extLst>
          </p:cNvPr>
          <p:cNvGrpSpPr>
            <a:grpSpLocks/>
          </p:cNvGrpSpPr>
          <p:nvPr/>
        </p:nvGrpSpPr>
        <p:grpSpPr bwMode="auto">
          <a:xfrm>
            <a:off x="1636713" y="908050"/>
            <a:ext cx="5865812" cy="2160588"/>
            <a:chOff x="90661" y="2420938"/>
            <a:chExt cx="5866334" cy="2160587"/>
          </a:xfrm>
        </p:grpSpPr>
        <p:pic>
          <p:nvPicPr>
            <p:cNvPr id="21514" name="Picture 3" descr="A diagram of a layer&#10;&#10;AI-generated content may be incorrect.">
              <a:extLst>
                <a:ext uri="{FF2B5EF4-FFF2-40B4-BE49-F238E27FC236}">
                  <a16:creationId xmlns:a16="http://schemas.microsoft.com/office/drawing/2014/main" id="{81AA54A8-0A1D-B7AF-F5D9-8F8DBBF295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4"/>
            <a:stretch>
              <a:fillRect/>
            </a:stretch>
          </p:blipFill>
          <p:spPr bwMode="auto">
            <a:xfrm>
              <a:off x="107950" y="2420938"/>
              <a:ext cx="5710238" cy="2160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15" name="TextBox 1">
              <a:extLst>
                <a:ext uri="{FF2B5EF4-FFF2-40B4-BE49-F238E27FC236}">
                  <a16:creationId xmlns:a16="http://schemas.microsoft.com/office/drawing/2014/main" id="{650E43BB-FF5F-CDD5-0393-7AAE36B68B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61" y="2964656"/>
              <a:ext cx="1096963" cy="4616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hy-AM" altLang="en-US" sz="1200" b="1">
                  <a:solidFill>
                    <a:srgbClr val="321B6B"/>
                  </a:solidFill>
                  <a:latin typeface="Sylfaen" panose="010A0502050306030303" pitchFamily="18" charset="0"/>
                </a:rPr>
                <a:t>Մուտքային շերտ</a:t>
              </a:r>
              <a:endParaRPr lang="en-US" altLang="en-US" sz="1200" b="1">
                <a:solidFill>
                  <a:srgbClr val="321B6B"/>
                </a:solidFill>
                <a:latin typeface="Sylfaen" panose="010A0502050306030303" pitchFamily="18" charset="0"/>
              </a:endParaRPr>
            </a:p>
          </p:txBody>
        </p:sp>
        <p:sp>
          <p:nvSpPr>
            <p:cNvPr id="21516" name="TextBox 1">
              <a:extLst>
                <a:ext uri="{FF2B5EF4-FFF2-40B4-BE49-F238E27FC236}">
                  <a16:creationId xmlns:a16="http://schemas.microsoft.com/office/drawing/2014/main" id="{71EB92E7-D191-10BC-58E5-FBC668461F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664" y="2492896"/>
              <a:ext cx="1224136" cy="4616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hy-AM" altLang="en-US" sz="1200" b="1">
                  <a:solidFill>
                    <a:srgbClr val="321B6B"/>
                  </a:solidFill>
                  <a:latin typeface="Sylfaen" panose="010A0502050306030303" pitchFamily="18" charset="0"/>
                </a:rPr>
                <a:t>Փաթույթային շերտ</a:t>
              </a:r>
              <a:endParaRPr lang="en-US" altLang="en-US" sz="1200" b="1">
                <a:solidFill>
                  <a:srgbClr val="321B6B"/>
                </a:solidFill>
                <a:latin typeface="Sylfaen" panose="010A0502050306030303" pitchFamily="18" charset="0"/>
              </a:endParaRPr>
            </a:p>
          </p:txBody>
        </p:sp>
        <p:sp>
          <p:nvSpPr>
            <p:cNvPr id="21517" name="TextBox 4">
              <a:extLst>
                <a:ext uri="{FF2B5EF4-FFF2-40B4-BE49-F238E27FC236}">
                  <a16:creationId xmlns:a16="http://schemas.microsoft.com/office/drawing/2014/main" id="{B30D0438-B6EA-8B70-4857-EFD13B8C8C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V="1">
              <a:off x="4108140" y="2480877"/>
              <a:ext cx="600818" cy="4512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endParaRPr lang="en-US" altLang="en-US" sz="1200" b="1">
                <a:solidFill>
                  <a:srgbClr val="321B6B"/>
                </a:solidFill>
                <a:latin typeface="Sylfaen" panose="010A0502050306030303" pitchFamily="18" charset="0"/>
              </a:endParaRPr>
            </a:p>
          </p:txBody>
        </p:sp>
        <p:sp>
          <p:nvSpPr>
            <p:cNvPr id="21518" name="TextBox 3">
              <a:extLst>
                <a:ext uri="{FF2B5EF4-FFF2-40B4-BE49-F238E27FC236}">
                  <a16:creationId xmlns:a16="http://schemas.microsoft.com/office/drawing/2014/main" id="{B2B0D6CF-4374-23F3-001B-EE3E7AB32D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9088" y="2508000"/>
              <a:ext cx="1037186" cy="4616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hy-AM" altLang="en-US" sz="1200" b="1">
                  <a:solidFill>
                    <a:srgbClr val="321B6B"/>
                  </a:solidFill>
                  <a:latin typeface="Sylfaen" panose="010A0502050306030303" pitchFamily="18" charset="0"/>
                </a:rPr>
                <a:t>Հարթեցման շերտ</a:t>
              </a:r>
              <a:endParaRPr lang="en-US" altLang="en-US" sz="1200" b="1">
                <a:solidFill>
                  <a:srgbClr val="321B6B"/>
                </a:solidFill>
                <a:latin typeface="Sylfaen" panose="010A0502050306030303" pitchFamily="18" charset="0"/>
              </a:endParaRPr>
            </a:p>
          </p:txBody>
        </p:sp>
        <p:sp>
          <p:nvSpPr>
            <p:cNvPr id="21519" name="TextBox 1">
              <a:extLst>
                <a:ext uri="{FF2B5EF4-FFF2-40B4-BE49-F238E27FC236}">
                  <a16:creationId xmlns:a16="http://schemas.microsoft.com/office/drawing/2014/main" id="{F60BE677-3D64-23C7-6708-FEB633ACB6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032" y="3039343"/>
              <a:ext cx="1096963" cy="4616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hy-AM" altLang="en-US" sz="1200" b="1">
                  <a:solidFill>
                    <a:srgbClr val="321B6B"/>
                  </a:solidFill>
                  <a:latin typeface="Sylfaen" panose="010A0502050306030303" pitchFamily="18" charset="0"/>
                </a:rPr>
                <a:t>Ելքային շերտ</a:t>
              </a:r>
              <a:endParaRPr lang="en-US" altLang="en-US" sz="1200" b="1">
                <a:solidFill>
                  <a:srgbClr val="321B6B"/>
                </a:solidFill>
                <a:latin typeface="Sylfaen" panose="010A0502050306030303" pitchFamily="18" charset="0"/>
              </a:endParaRPr>
            </a:p>
          </p:txBody>
        </p:sp>
        <p:sp>
          <p:nvSpPr>
            <p:cNvPr id="21520" name="TextBox 2">
              <a:extLst>
                <a:ext uri="{FF2B5EF4-FFF2-40B4-BE49-F238E27FC236}">
                  <a16:creationId xmlns:a16="http://schemas.microsoft.com/office/drawing/2014/main" id="{AD180ABA-9509-287E-289B-7678E14C42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4605" y="2515178"/>
              <a:ext cx="1368152" cy="4616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hy-AM" altLang="en-US" sz="1200" b="1">
                  <a:solidFill>
                    <a:srgbClr val="321B6B"/>
                  </a:solidFill>
                  <a:latin typeface="Sylfaen" panose="010A0502050306030303" pitchFamily="18" charset="0"/>
                </a:rPr>
                <a:t>Լիովին միացված շերտ</a:t>
              </a:r>
              <a:endParaRPr lang="en-US" altLang="en-US" sz="1200" b="1">
                <a:solidFill>
                  <a:srgbClr val="321B6B"/>
                </a:solidFill>
                <a:latin typeface="Sylfaen" panose="010A0502050306030303" pitchFamily="18" charset="0"/>
              </a:endParaRPr>
            </a:p>
          </p:txBody>
        </p:sp>
      </p:grpSp>
      <p:sp>
        <p:nvSpPr>
          <p:cNvPr id="21509" name="TextBox 8">
            <a:extLst>
              <a:ext uri="{FF2B5EF4-FFF2-40B4-BE49-F238E27FC236}">
                <a16:creationId xmlns:a16="http://schemas.microsoft.com/office/drawing/2014/main" id="{FBEE05CE-1B15-E025-67E3-432A84F20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3090863"/>
            <a:ext cx="806291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hy-AM" altLang="en-US" dirty="0">
                <a:solidFill>
                  <a:srgbClr val="321B6B"/>
                </a:solidFill>
                <a:latin typeface="Sylfaen" panose="010A0502050306030303" pitchFamily="18" charset="0"/>
              </a:rPr>
              <a:t>Փաթույթային նեյրոնային ցանցերի վրա հիմնված </a:t>
            </a:r>
            <a:r>
              <a:rPr lang="en-US" altLang="en-US" dirty="0" err="1">
                <a:solidFill>
                  <a:srgbClr val="321B6B"/>
                </a:solidFill>
                <a:latin typeface="Sylfaen" panose="010A0502050306030303" pitchFamily="18" charset="0"/>
              </a:rPr>
              <a:t>RouteNet</a:t>
            </a:r>
            <a:r>
              <a:rPr lang="en-US" altLang="en-US" dirty="0">
                <a:solidFill>
                  <a:srgbClr val="321B6B"/>
                </a:solidFill>
                <a:latin typeface="Sylfaen" panose="010A0502050306030303" pitchFamily="18" charset="0"/>
              </a:rPr>
              <a:t> </a:t>
            </a:r>
            <a:r>
              <a:rPr lang="hy-AM" altLang="en-US" dirty="0">
                <a:solidFill>
                  <a:srgbClr val="321B6B"/>
                </a:solidFill>
                <a:latin typeface="Sylfaen" panose="010A0502050306030303" pitchFamily="18" charset="0"/>
              </a:rPr>
              <a:t>մոդելի ստացած արդյունքները</a:t>
            </a:r>
          </a:p>
        </p:txBody>
      </p:sp>
      <p:sp>
        <p:nvSpPr>
          <p:cNvPr id="21511" name="TextBox 3">
            <a:extLst>
              <a:ext uri="{FF2B5EF4-FFF2-40B4-BE49-F238E27FC236}">
                <a16:creationId xmlns:a16="http://schemas.microsoft.com/office/drawing/2014/main" id="{7530802D-9F68-872A-3819-DD2086918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3550" y="2039938"/>
            <a:ext cx="903288" cy="277812"/>
          </a:xfrm>
          <a:prstGeom prst="rect">
            <a:avLst/>
          </a:prstGeom>
          <a:solidFill>
            <a:srgbClr val="DAE8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hy-AM" altLang="en-US" sz="1200" b="1">
                <a:solidFill>
                  <a:srgbClr val="321B6B"/>
                </a:solidFill>
                <a:latin typeface="Sylfaen" panose="010A0502050306030303" pitchFamily="18" charset="0"/>
              </a:rPr>
              <a:t>Պատկեր</a:t>
            </a:r>
            <a:endParaRPr lang="en-US" altLang="en-US" sz="1200" b="1">
              <a:solidFill>
                <a:srgbClr val="321B6B"/>
              </a:solidFill>
              <a:latin typeface="Sylfaen" panose="010A05020503060303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91DCA7-ADC5-476B-5447-B2F1BB586D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572" y="3870238"/>
            <a:ext cx="4857750" cy="18954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B8EDE73C-EF80-4681-8E26-910C72CB99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4838" cy="561975"/>
          </a:xfrm>
        </p:spPr>
        <p:txBody>
          <a:bodyPr/>
          <a:lstStyle/>
          <a:p>
            <a:r>
              <a:rPr lang="hy-AM" altLang="en-US" b="1">
                <a:solidFill>
                  <a:srgbClr val="321B6B"/>
                </a:solidFill>
                <a:latin typeface="Sylfaen" panose="010A0502050306030303" pitchFamily="18" charset="0"/>
              </a:rPr>
              <a:t>Տեսական առնչություններ</a:t>
            </a:r>
            <a:r>
              <a:rPr lang="en-US" altLang="en-US" b="1">
                <a:solidFill>
                  <a:srgbClr val="321B6B"/>
                </a:solidFill>
                <a:latin typeface="Sylfaen" panose="010A0502050306030303" pitchFamily="18" charset="0"/>
              </a:rPr>
              <a:t> (2)</a:t>
            </a:r>
            <a:endParaRPr lang="en-US" altLang="en-US" b="1">
              <a:solidFill>
                <a:srgbClr val="321B6B"/>
              </a:solidFill>
            </a:endParaRPr>
          </a:p>
        </p:txBody>
      </p:sp>
      <p:pic>
        <p:nvPicPr>
          <p:cNvPr id="23555" name="Picture 2">
            <a:extLst>
              <a:ext uri="{FF2B5EF4-FFF2-40B4-BE49-F238E27FC236}">
                <a16:creationId xmlns:a16="http://schemas.microsoft.com/office/drawing/2014/main" id="{92EFEF3B-CA4A-13CB-3D6A-919E4E796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3" y="1228725"/>
            <a:ext cx="8778875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1D21CB-AF9C-1C26-9913-CEB7E67F9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949280"/>
            <a:ext cx="84963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hy-AM" altLang="en-US" sz="1000" dirty="0">
                <a:solidFill>
                  <a:srgbClr val="321B6B"/>
                </a:solidFill>
              </a:rPr>
              <a:t>Աղբյուրը ՝ </a:t>
            </a:r>
            <a:r>
              <a:rPr lang="en-US" altLang="en-US" sz="1000" dirty="0">
                <a:solidFill>
                  <a:srgbClr val="321B6B"/>
                </a:solidFill>
              </a:rPr>
              <a:t>https://www.geeksforgeeks.org/machine-learning/introduction-convolution-neural-network/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E697C-AD2D-2E6A-E5D3-64EED646A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C82CC6D9-738A-7B9C-BA9C-8F7347162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4838" cy="561975"/>
          </a:xfrm>
        </p:spPr>
        <p:txBody>
          <a:bodyPr/>
          <a:lstStyle/>
          <a:p>
            <a:r>
              <a:rPr lang="hy-AM" altLang="en-US" b="1" dirty="0">
                <a:solidFill>
                  <a:srgbClr val="321B6B"/>
                </a:solidFill>
                <a:latin typeface="Sylfaen" panose="010A0502050306030303" pitchFamily="18" charset="0"/>
              </a:rPr>
              <a:t>Ծրագրային իրականացում</a:t>
            </a:r>
            <a:r>
              <a:rPr lang="en-US" altLang="en-US" b="1" dirty="0">
                <a:solidFill>
                  <a:srgbClr val="321B6B"/>
                </a:solidFill>
                <a:latin typeface="Sylfaen" panose="010A0502050306030303" pitchFamily="18" charset="0"/>
              </a:rPr>
              <a:t> </a:t>
            </a:r>
            <a:endParaRPr lang="en-US" altLang="en-US" b="1" dirty="0">
              <a:solidFill>
                <a:srgbClr val="321B6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4CF6BE-30F0-EE11-B87F-16A3D66783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13"/>
          <a:stretch>
            <a:fillRect/>
          </a:stretch>
        </p:blipFill>
        <p:spPr>
          <a:xfrm>
            <a:off x="1276215" y="856788"/>
            <a:ext cx="6586807" cy="18934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1AC65F-944B-4861-9A99-44B874FB14B9}"/>
              </a:ext>
            </a:extLst>
          </p:cNvPr>
          <p:cNvSpPr txBox="1"/>
          <p:nvPr/>
        </p:nvSpPr>
        <p:spPr>
          <a:xfrm>
            <a:off x="249138" y="2773732"/>
            <a:ext cx="4320480" cy="324755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y-AM" sz="1800" b="1" dirty="0">
                <a:solidFill>
                  <a:srgbClr val="321B6B"/>
                </a:solidFill>
              </a:rPr>
              <a:t>Առավելություններ</a:t>
            </a:r>
            <a:r>
              <a:rPr lang="hy-AM" sz="1600" dirty="0">
                <a:solidFill>
                  <a:srgbClr val="321B6B"/>
                </a:solidFill>
              </a:rPr>
              <a:t> 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y-AM" sz="1600" dirty="0">
                <a:solidFill>
                  <a:schemeClr val="tx1"/>
                </a:solidFill>
              </a:rPr>
              <a:t>Հաշվարկային արդյունավետություն գործնական տեղակայման համար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y-AM" sz="1600" dirty="0">
                <a:solidFill>
                  <a:schemeClr val="tx1"/>
                </a:solidFill>
              </a:rPr>
              <a:t>Անմիջական տարածական ջերմային քարտեզի ելք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y-AM" sz="1600" dirty="0">
                <a:solidFill>
                  <a:schemeClr val="tx1"/>
                </a:solidFill>
              </a:rPr>
              <a:t>Մակրոներով խառը չափերի նախագծման արդյունավետ մշակում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y-AM" sz="1600" dirty="0">
                <a:solidFill>
                  <a:schemeClr val="tx1"/>
                </a:solidFill>
              </a:rPr>
              <a:t>Ընդհանրացում ուսուցումից մինչև թեստավորման նախագծերը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66B30-8BC1-B09B-6A4A-8A0B5BDE68BF}"/>
              </a:ext>
            </a:extLst>
          </p:cNvPr>
          <p:cNvSpPr txBox="1"/>
          <p:nvPr/>
        </p:nvSpPr>
        <p:spPr>
          <a:xfrm>
            <a:off x="5076056" y="2777777"/>
            <a:ext cx="3962822" cy="290900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y-AM" sz="1800" b="1" dirty="0">
                <a:solidFill>
                  <a:srgbClr val="321B6B"/>
                </a:solidFill>
              </a:rPr>
              <a:t>Թերություններ</a:t>
            </a:r>
            <a:r>
              <a:rPr lang="hy-AM" sz="1600" dirty="0">
                <a:solidFill>
                  <a:srgbClr val="321B6B"/>
                </a:solidFill>
              </a:rPr>
              <a:t> 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y-AM" sz="1600" dirty="0">
                <a:solidFill>
                  <a:schemeClr val="tx1"/>
                </a:solidFill>
              </a:rPr>
              <a:t>Մեկ անգամ կապերի բաց թողնում կատարելը սահմանափակում է տարածական ճշգրտությունը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y-AM" sz="1600" dirty="0">
                <a:solidFill>
                  <a:schemeClr val="tx1"/>
                </a:solidFill>
              </a:rPr>
              <a:t>Չի կարող տարբերակել խախտումների տեսակները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y-AM" sz="1600" dirty="0">
                <a:solidFill>
                  <a:schemeClr val="tx1"/>
                </a:solidFill>
              </a:rPr>
              <a:t>Զգայուն է խմբաքանակի չափի նկատմամբ ուսուցման ժամանակ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A571D8-07D8-B798-D7D2-741977835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784" y="5989380"/>
            <a:ext cx="84963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hy-AM" altLang="en-US" sz="1000" dirty="0">
                <a:solidFill>
                  <a:srgbClr val="321B6B"/>
                </a:solidFill>
              </a:rPr>
              <a:t>Աղբյուրը ՝ </a:t>
            </a:r>
            <a:r>
              <a:rPr lang="en-US" altLang="en-US" sz="1000" dirty="0">
                <a:solidFill>
                  <a:srgbClr val="321B6B"/>
                </a:solidFill>
              </a:rPr>
              <a:t>https://research.nvidia.com/sites/default/files/pubs/2018-11_RouteNet:-routability-prediction/a80-xie.pdf</a:t>
            </a:r>
          </a:p>
        </p:txBody>
      </p:sp>
    </p:spTree>
    <p:extLst>
      <p:ext uri="{BB962C8B-B14F-4D97-AF65-F5344CB8AC3E}">
        <p14:creationId xmlns:p14="http://schemas.microsoft.com/office/powerpoint/2010/main" val="1772881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0A2EF285-3B5D-D02C-9021-F88DAE7D62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4838" cy="561975"/>
          </a:xfrm>
        </p:spPr>
        <p:txBody>
          <a:bodyPr/>
          <a:lstStyle/>
          <a:p>
            <a:r>
              <a:rPr lang="hy-AM" altLang="en-US" b="1">
                <a:solidFill>
                  <a:srgbClr val="321B6B"/>
                </a:solidFill>
                <a:latin typeface="Sylfaen" panose="010A0502050306030303" pitchFamily="18" charset="0"/>
              </a:rPr>
              <a:t>Գրաֆիկական ինտերֆեյս</a:t>
            </a:r>
            <a:endParaRPr lang="en-US" altLang="en-US" b="1">
              <a:solidFill>
                <a:srgbClr val="321B6B"/>
              </a:solidFill>
            </a:endParaRPr>
          </a:p>
        </p:txBody>
      </p:sp>
      <p:pic>
        <p:nvPicPr>
          <p:cNvPr id="27651" name="Picture 2">
            <a:extLst>
              <a:ext uri="{FF2B5EF4-FFF2-40B4-BE49-F238E27FC236}">
                <a16:creationId xmlns:a16="http://schemas.microsoft.com/office/drawing/2014/main" id="{034E9BCB-BE0C-8368-D3BF-D5A015EB5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3" y="1131888"/>
            <a:ext cx="8748712" cy="459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2F4E3344-174D-BDB0-17CF-4AC6CD04A9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4838" cy="561975"/>
          </a:xfrm>
        </p:spPr>
        <p:txBody>
          <a:bodyPr/>
          <a:lstStyle/>
          <a:p>
            <a:r>
              <a:rPr lang="hy-AM" altLang="en-US" b="1">
                <a:solidFill>
                  <a:srgbClr val="321B6B"/>
                </a:solidFill>
                <a:latin typeface="Sylfaen" panose="010A0502050306030303" pitchFamily="18" charset="0"/>
              </a:rPr>
              <a:t>Գրաֆիկական ինտերֆեյս </a:t>
            </a:r>
            <a:r>
              <a:rPr lang="en-US" altLang="en-US" b="1">
                <a:solidFill>
                  <a:srgbClr val="321B6B"/>
                </a:solidFill>
                <a:latin typeface="Sylfaen" panose="010A0502050306030303" pitchFamily="18" charset="0"/>
              </a:rPr>
              <a:t>(2)</a:t>
            </a:r>
            <a:endParaRPr lang="en-US" altLang="en-US" b="1">
              <a:solidFill>
                <a:srgbClr val="321B6B"/>
              </a:solidFill>
            </a:endParaRPr>
          </a:p>
        </p:txBody>
      </p:sp>
      <p:pic>
        <p:nvPicPr>
          <p:cNvPr id="29699" name="Picture 6">
            <a:extLst>
              <a:ext uri="{FF2B5EF4-FFF2-40B4-BE49-F238E27FC236}">
                <a16:creationId xmlns:a16="http://schemas.microsoft.com/office/drawing/2014/main" id="{64AA603A-45CA-0583-D628-EBFBAED9A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9" y="836612"/>
            <a:ext cx="8647193" cy="4536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4">
            <a:extLst>
              <a:ext uri="{FF2B5EF4-FFF2-40B4-BE49-F238E27FC236}">
                <a16:creationId xmlns:a16="http://schemas.microsoft.com/office/drawing/2014/main" id="{7C7F2612-130A-8FC7-C846-54DFFF82B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0226" y="3259823"/>
            <a:ext cx="3830755" cy="2761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3EC29C96-B0CE-0034-992F-7CE0E68C9B9A}"/>
              </a:ext>
            </a:extLst>
          </p:cNvPr>
          <p:cNvCxnSpPr>
            <a:cxnSpLocks/>
            <a:endCxn id="29700" idx="0"/>
          </p:cNvCxnSpPr>
          <p:nvPr/>
        </p:nvCxnSpPr>
        <p:spPr bwMode="auto">
          <a:xfrm>
            <a:off x="1403648" y="1412776"/>
            <a:ext cx="5811956" cy="1847047"/>
          </a:xfrm>
          <a:prstGeom prst="curvedConnector2">
            <a:avLst/>
          </a:prstGeom>
          <a:noFill/>
          <a:ln w="38100">
            <a:solidFill>
              <a:srgbClr val="321B6B"/>
            </a:solidFill>
            <a:miter lim="800000"/>
            <a:headEnd/>
            <a:tailEnd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447CFFD8-01EB-86B9-9C35-994C859447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4838" cy="561975"/>
          </a:xfrm>
        </p:spPr>
        <p:txBody>
          <a:bodyPr/>
          <a:lstStyle/>
          <a:p>
            <a:r>
              <a:rPr lang="hy-AM" altLang="en-US" b="1">
                <a:solidFill>
                  <a:srgbClr val="321B6B"/>
                </a:solidFill>
                <a:latin typeface="Sylfaen" panose="010A0502050306030303" pitchFamily="18" charset="0"/>
              </a:rPr>
              <a:t>Գրաֆիկական ինտերֆեյս</a:t>
            </a:r>
            <a:r>
              <a:rPr lang="en-US" altLang="en-US" b="1">
                <a:solidFill>
                  <a:srgbClr val="321B6B"/>
                </a:solidFill>
                <a:latin typeface="Sylfaen" panose="010A0502050306030303" pitchFamily="18" charset="0"/>
              </a:rPr>
              <a:t> (3)</a:t>
            </a:r>
            <a:endParaRPr lang="en-US" altLang="en-US" b="1">
              <a:solidFill>
                <a:srgbClr val="321B6B"/>
              </a:solidFill>
            </a:endParaRPr>
          </a:p>
        </p:txBody>
      </p:sp>
      <p:pic>
        <p:nvPicPr>
          <p:cNvPr id="31747" name="Picture 8">
            <a:extLst>
              <a:ext uri="{FF2B5EF4-FFF2-40B4-BE49-F238E27FC236}">
                <a16:creationId xmlns:a16="http://schemas.microsoft.com/office/drawing/2014/main" id="{C6B3570B-2AAA-B19C-03FD-2C976F5FB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8" y="1069975"/>
            <a:ext cx="8988425" cy="471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9F9BEEB0-5EAD-A2E2-289B-5D5C7445A6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4838" cy="561975"/>
          </a:xfrm>
        </p:spPr>
        <p:txBody>
          <a:bodyPr/>
          <a:lstStyle/>
          <a:p>
            <a:r>
              <a:rPr lang="hy-AM" altLang="en-US" b="1">
                <a:solidFill>
                  <a:srgbClr val="321B6B"/>
                </a:solidFill>
                <a:latin typeface="Sylfaen" panose="010A0502050306030303" pitchFamily="18" charset="0"/>
              </a:rPr>
              <a:t>Գրաֆիկական ինտերֆեյս</a:t>
            </a:r>
            <a:r>
              <a:rPr lang="en-US" altLang="en-US" b="1">
                <a:solidFill>
                  <a:srgbClr val="321B6B"/>
                </a:solidFill>
                <a:latin typeface="Sylfaen" panose="010A0502050306030303" pitchFamily="18" charset="0"/>
              </a:rPr>
              <a:t> (4)</a:t>
            </a:r>
            <a:endParaRPr lang="en-US" altLang="en-US" b="1">
              <a:solidFill>
                <a:srgbClr val="321B6B"/>
              </a:solidFill>
            </a:endParaRPr>
          </a:p>
        </p:txBody>
      </p:sp>
      <p:pic>
        <p:nvPicPr>
          <p:cNvPr id="33795" name="Picture 2">
            <a:extLst>
              <a:ext uri="{FF2B5EF4-FFF2-40B4-BE49-F238E27FC236}">
                <a16:creationId xmlns:a16="http://schemas.microsoft.com/office/drawing/2014/main" id="{FEB4E46A-04C4-8FAE-BCBB-8B4E39C5D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1077913"/>
            <a:ext cx="8963025" cy="470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2C742A60-E1A7-9C44-ABE3-1A8BCC7D6E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4838" cy="561975"/>
          </a:xfrm>
        </p:spPr>
        <p:txBody>
          <a:bodyPr/>
          <a:lstStyle/>
          <a:p>
            <a:r>
              <a:rPr lang="hy-AM" altLang="en-US" b="1">
                <a:solidFill>
                  <a:srgbClr val="321B6B"/>
                </a:solidFill>
                <a:latin typeface="Sylfaen" panose="010A0502050306030303" pitchFamily="18" charset="0"/>
              </a:rPr>
              <a:t>Փորձնական հետազոտություններ</a:t>
            </a:r>
            <a:endParaRPr lang="en-US" altLang="en-US" b="1">
              <a:solidFill>
                <a:srgbClr val="321B6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A2B8EE-176E-000A-BC4B-0C88C338E1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4" y="2492896"/>
            <a:ext cx="6739792" cy="33698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263D29-7B9E-F81D-57E0-321B3FA19C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31"/>
          <a:stretch>
            <a:fillRect/>
          </a:stretch>
        </p:blipFill>
        <p:spPr>
          <a:xfrm>
            <a:off x="5158408" y="1024431"/>
            <a:ext cx="3780420" cy="26998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7FCD4B-3CF7-F577-08D4-107533418BD9}"/>
              </a:ext>
            </a:extLst>
          </p:cNvPr>
          <p:cNvSpPr txBox="1"/>
          <p:nvPr/>
        </p:nvSpPr>
        <p:spPr>
          <a:xfrm>
            <a:off x="683568" y="1169457"/>
            <a:ext cx="4474840" cy="132343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hy-AM" dirty="0">
                <a:solidFill>
                  <a:srgbClr val="321B6B"/>
                </a:solidFill>
                <a:latin typeface="Sylfaen" panose="010A0502050306030303" pitchFamily="18" charset="0"/>
              </a:rPr>
              <a:t>Ստացված միջին քառակուսային սխալի կորստի կորը ՝ համեմատած </a:t>
            </a:r>
            <a:r>
              <a:rPr lang="en-US" dirty="0" err="1">
                <a:solidFill>
                  <a:srgbClr val="321B6B"/>
                </a:solidFill>
                <a:latin typeface="Sylfaen" panose="010A0502050306030303" pitchFamily="18" charset="0"/>
              </a:rPr>
              <a:t>CircuitNet</a:t>
            </a:r>
            <a:r>
              <a:rPr lang="en-US" dirty="0">
                <a:solidFill>
                  <a:srgbClr val="321B6B"/>
                </a:solidFill>
                <a:latin typeface="Sylfaen" panose="010A0502050306030303" pitchFamily="18" charset="0"/>
              </a:rPr>
              <a:t> </a:t>
            </a:r>
            <a:r>
              <a:rPr lang="hy-AM" dirty="0">
                <a:solidFill>
                  <a:srgbClr val="321B6B"/>
                </a:solidFill>
                <a:latin typeface="Sylfaen" panose="010A0502050306030303" pitchFamily="18" charset="0"/>
              </a:rPr>
              <a:t>կայքի ստացված կորի հետ։</a:t>
            </a:r>
            <a:endParaRPr lang="en-US" dirty="0">
              <a:solidFill>
                <a:srgbClr val="321B6B"/>
              </a:solidFill>
              <a:latin typeface="Sylfaen" panose="010A050205030603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5DE02F-C3E8-4945-0D29-C2AF1D0EE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5" y="5929220"/>
            <a:ext cx="84963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hy-AM" altLang="en-US" sz="1000" dirty="0">
                <a:solidFill>
                  <a:srgbClr val="321B6B"/>
                </a:solidFill>
              </a:rPr>
              <a:t>Աղբյուրը ՝ </a:t>
            </a:r>
            <a:r>
              <a:rPr lang="en-US" altLang="en-US" sz="1000" dirty="0">
                <a:solidFill>
                  <a:srgbClr val="321B6B"/>
                </a:solidFill>
              </a:rPr>
              <a:t>https://circuitnet.github.io/tutorial/experiment_tutorial.html#drc-violation-prediction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1E318CE7-7D64-A430-C1FE-31D9FBDBB0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4838" cy="461962"/>
          </a:xfrm>
        </p:spPr>
        <p:txBody>
          <a:bodyPr/>
          <a:lstStyle/>
          <a:p>
            <a:r>
              <a:rPr lang="hy-AM" altLang="en-US" b="1">
                <a:solidFill>
                  <a:srgbClr val="321B6B"/>
                </a:solidFill>
                <a:latin typeface="Sylfaen" panose="010A0502050306030303" pitchFamily="18" charset="0"/>
              </a:rPr>
              <a:t>Փորձնական հետազոտություններ</a:t>
            </a:r>
            <a:r>
              <a:rPr lang="en-US" altLang="en-US" b="1">
                <a:solidFill>
                  <a:srgbClr val="321B6B"/>
                </a:solidFill>
                <a:latin typeface="Sylfaen" panose="010A0502050306030303" pitchFamily="18" charset="0"/>
              </a:rPr>
              <a:t> (2)</a:t>
            </a:r>
            <a:endParaRPr lang="en-US" altLang="en-US" b="1">
              <a:solidFill>
                <a:srgbClr val="321B6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C30A5D-990C-C0D9-B539-949F0B8AA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33" r="66511"/>
          <a:stretch>
            <a:fillRect/>
          </a:stretch>
        </p:blipFill>
        <p:spPr>
          <a:xfrm>
            <a:off x="5739263" y="814625"/>
            <a:ext cx="3062213" cy="2614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35C6A6-D3E2-C00F-DFE8-7B7C35FD8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4" t="6421" r="1"/>
          <a:stretch>
            <a:fillRect/>
          </a:stretch>
        </p:blipFill>
        <p:spPr>
          <a:xfrm>
            <a:off x="683568" y="3429000"/>
            <a:ext cx="6119664" cy="26486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F627F0-BAE8-FA85-89DA-800A30715797}"/>
              </a:ext>
            </a:extLst>
          </p:cNvPr>
          <p:cNvSpPr txBox="1"/>
          <p:nvPr/>
        </p:nvSpPr>
        <p:spPr>
          <a:xfrm>
            <a:off x="755576" y="1501650"/>
            <a:ext cx="4680520" cy="132343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hy-AM" dirty="0">
                <a:solidFill>
                  <a:srgbClr val="321B6B"/>
                </a:solidFill>
                <a:latin typeface="Sylfaen" panose="010A0502050306030303" pitchFamily="18" charset="0"/>
              </a:rPr>
              <a:t>Ը</a:t>
            </a:r>
            <a:r>
              <a:rPr lang="en-US" dirty="0" err="1">
                <a:solidFill>
                  <a:srgbClr val="321B6B"/>
                </a:solidFill>
                <a:latin typeface="Sylfaen" panose="010A0502050306030303" pitchFamily="18" charset="0"/>
              </a:rPr>
              <a:t>նդունիչի</a:t>
            </a:r>
            <a:r>
              <a:rPr lang="en-US" dirty="0">
                <a:solidFill>
                  <a:srgbClr val="321B6B"/>
                </a:solidFill>
                <a:latin typeface="Sylfaen" panose="010A0502050306030303" pitchFamily="18" charset="0"/>
              </a:rPr>
              <a:t> </a:t>
            </a:r>
            <a:r>
              <a:rPr lang="en-US" dirty="0" err="1">
                <a:solidFill>
                  <a:srgbClr val="321B6B"/>
                </a:solidFill>
                <a:latin typeface="Sylfaen" panose="010A0502050306030303" pitchFamily="18" charset="0"/>
              </a:rPr>
              <a:t>շահագործման</a:t>
            </a:r>
            <a:r>
              <a:rPr lang="en-US" dirty="0">
                <a:solidFill>
                  <a:srgbClr val="321B6B"/>
                </a:solidFill>
                <a:latin typeface="Sylfaen" panose="010A0502050306030303" pitchFamily="18" charset="0"/>
              </a:rPr>
              <a:t> </a:t>
            </a:r>
            <a:r>
              <a:rPr lang="en-US" dirty="0" err="1">
                <a:solidFill>
                  <a:srgbClr val="321B6B"/>
                </a:solidFill>
                <a:latin typeface="Sylfaen" panose="010A0502050306030303" pitchFamily="18" charset="0"/>
              </a:rPr>
              <a:t>բնութագրի</a:t>
            </a:r>
            <a:r>
              <a:rPr lang="hy-AM" dirty="0">
                <a:solidFill>
                  <a:srgbClr val="321B6B"/>
                </a:solidFill>
                <a:latin typeface="Sylfaen" panose="010A0502050306030303" pitchFamily="18" charset="0"/>
              </a:rPr>
              <a:t> կորը, կորի տակ գտնվող մակերեսի ցուցանիշը և կառուցվածքային նմանության ինդեքսը</a:t>
            </a:r>
            <a:endParaRPr lang="en-US" sz="1600" dirty="0">
              <a:solidFill>
                <a:srgbClr val="321B6B"/>
              </a:solidFill>
              <a:latin typeface="Sylfaen" panose="010A0502050306030303" pitchFamily="18" charset="0"/>
            </a:endParaRP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F7CE23E6-A4CC-1DEF-85D2-F3AE0D8C78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4838" cy="461962"/>
          </a:xfrm>
        </p:spPr>
        <p:txBody>
          <a:bodyPr/>
          <a:lstStyle/>
          <a:p>
            <a:r>
              <a:rPr lang="hy-AM" altLang="en-US" b="1">
                <a:solidFill>
                  <a:srgbClr val="321B6B"/>
                </a:solidFill>
                <a:latin typeface="Sylfaen" panose="010A0502050306030303" pitchFamily="18" charset="0"/>
              </a:rPr>
              <a:t>Եզրակացություն</a:t>
            </a:r>
            <a:endParaRPr lang="en-US" altLang="en-US" b="1">
              <a:solidFill>
                <a:srgbClr val="321B6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87C18-26DD-831F-04B2-DDAE7F013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437" y="836712"/>
            <a:ext cx="8811126" cy="5339337"/>
          </a:xfrm>
        </p:spPr>
        <p:txBody>
          <a:bodyPr/>
          <a:lstStyle/>
          <a:p>
            <a:r>
              <a:rPr lang="hy-AM" sz="1600" dirty="0">
                <a:latin typeface="Sylfaen" panose="010A0502050306030303" pitchFamily="18" charset="0"/>
              </a:rPr>
              <a:t>Աշխատանքի հիմնական նպատակն էր ստեղծել մեքենայական ուսուցման վրա հիմնված գործիք, որը կարող է ճշգրիտ կերպով կանխատեսել նախագծման կանոնների խախտումների հավանականությունը ինտեգրալ սխեմաների նախագծման փուլում  ՝ նախքան երթուղավորման գործընթացի ավարտը, ինչը կնպաստի նախագծման ժամանակի զգալի կրճատմանը։</a:t>
            </a:r>
            <a:endParaRPr lang="en-US" sz="1600" dirty="0">
              <a:latin typeface="Sylfaen" panose="010A0502050306030303" pitchFamily="18" charset="0"/>
            </a:endParaRPr>
          </a:p>
          <a:p>
            <a:endParaRPr lang="en-US" sz="1600" dirty="0">
              <a:latin typeface="Sylfaen" panose="010A0502050306030303" pitchFamily="18" charset="0"/>
            </a:endParaRPr>
          </a:p>
          <a:p>
            <a:r>
              <a:rPr lang="hy-AM" sz="1600" dirty="0">
                <a:latin typeface="Sylfaen" panose="010A0502050306030303" pitchFamily="18" charset="0"/>
              </a:rPr>
              <a:t>Ուսուցման համար օգտագործվել է CircuitNet տվյալների հավաքածուն, որը պարունակում է 10,244 ինտեգրալ սխեմաների նախագծերի նախապես մշակված հատկանիշներ: Մոդելը ուսուցվել է 200 ուսուցման շրջափուլով` միջին քառակուսային սխալի (MSE) կորստի ֆունկցիայի և Adam օպտիմիզատորի կիրառմամբ, ինչի արդյունքում կորստի արժեքը նվազել է 0.045-ից մինչև  0.000224։</a:t>
            </a:r>
            <a:endParaRPr lang="en-US" sz="1600" dirty="0">
              <a:latin typeface="Sylfaen" panose="010A0502050306030303" pitchFamily="18" charset="0"/>
            </a:endParaRPr>
          </a:p>
          <a:p>
            <a:endParaRPr lang="en-US" sz="1600" dirty="0">
              <a:latin typeface="Sylfaen" panose="010A0502050306030303" pitchFamily="18" charset="0"/>
            </a:endParaRPr>
          </a:p>
          <a:p>
            <a:r>
              <a:rPr lang="hy-AM" sz="1600" dirty="0">
                <a:latin typeface="Sylfaen" panose="010A0502050306030303" pitchFamily="18" charset="0"/>
              </a:rPr>
              <a:t>Մոդելի գնահատումը իրականացվել է նորմալացված միջին քառակուսային  սխալի (NRMSE), կառուցվածքային նմանության ինդեքսի (SSIM) և ընդունիչի շահագործման բնութագրի (ROC) կորի չափանիշներով։ Ստացված արդյունքները ցույց են տվել հետևյալ արդյունքները ՝ NRMSE կազմել է 0.0195 (ըննդեմ հենանիշի 0.04-ի), SSIM կազմել է 0.7768 (ըննդեմ հենանիշի 0.80-ի), իսկ կորի տակ գտնվող մակերեսի (AUC) ցուցանիշը կազմել է 0.9976, ինչը նշանակում է, որ մոդելը ճշգրիտ կերպով հայտնաբերում է նախագծման կանոնների խախտումների հավանական տեղամասերը 99.76% արդյունավետությամբ։ </a:t>
            </a:r>
            <a:endParaRPr lang="en-US" sz="1600" dirty="0">
              <a:latin typeface="Sylfaen" panose="010A0502050306030303" pitchFamily="18" charset="0"/>
            </a:endParaRPr>
          </a:p>
          <a:p>
            <a:r>
              <a:rPr lang="en-US" sz="1600" dirty="0">
                <a:latin typeface="Sylfaen" panose="010A0502050306030303" pitchFamily="18" charset="0"/>
              </a:rPr>
              <a:t>	</a:t>
            </a: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>
            <a:extLst>
              <a:ext uri="{FF2B5EF4-FFF2-40B4-BE49-F238E27FC236}">
                <a16:creationId xmlns:a16="http://schemas.microsoft.com/office/drawing/2014/main" id="{11732445-4276-C4DC-A019-B63B3FCC5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0" y="260350"/>
            <a:ext cx="6540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800" b="1">
                <a:solidFill>
                  <a:srgbClr val="16165D"/>
                </a:solidFill>
                <a:latin typeface="Sylfaen" panose="010A0502050306030303" pitchFamily="18" charset="0"/>
              </a:rPr>
              <a:t>Գ</a:t>
            </a:r>
            <a:r>
              <a:rPr lang="hy-AM" altLang="en-US" sz="2800" b="1">
                <a:solidFill>
                  <a:srgbClr val="16165D"/>
                </a:solidFill>
                <a:latin typeface="Sylfaen" panose="010A0502050306030303" pitchFamily="18" charset="0"/>
              </a:rPr>
              <a:t>ր</a:t>
            </a:r>
            <a:r>
              <a:rPr lang="en-US" altLang="en-US" sz="2800" b="1">
                <a:solidFill>
                  <a:srgbClr val="16165D"/>
                </a:solidFill>
                <a:latin typeface="Sylfaen" panose="010A0502050306030303" pitchFamily="18" charset="0"/>
              </a:rPr>
              <a:t>ա</a:t>
            </a:r>
            <a:r>
              <a:rPr lang="hy-AM" altLang="en-US" sz="2800" b="1">
                <a:solidFill>
                  <a:srgbClr val="16165D"/>
                </a:solidFill>
                <a:latin typeface="Sylfaen" panose="010A0502050306030303" pitchFamily="18" charset="0"/>
              </a:rPr>
              <a:t>կ</a:t>
            </a:r>
            <a:r>
              <a:rPr lang="en-US" altLang="en-US" sz="2800" b="1">
                <a:solidFill>
                  <a:srgbClr val="16165D"/>
                </a:solidFill>
                <a:latin typeface="Sylfaen" panose="010A0502050306030303" pitchFamily="18" charset="0"/>
              </a:rPr>
              <a:t>ա</a:t>
            </a:r>
            <a:r>
              <a:rPr lang="hy-AM" altLang="en-US" sz="2800" b="1">
                <a:solidFill>
                  <a:srgbClr val="16165D"/>
                </a:solidFill>
                <a:latin typeface="Sylfaen" panose="010A0502050306030303" pitchFamily="18" charset="0"/>
              </a:rPr>
              <a:t>ն</a:t>
            </a:r>
            <a:r>
              <a:rPr lang="en-US" altLang="en-US" sz="2800" b="1">
                <a:solidFill>
                  <a:srgbClr val="16165D"/>
                </a:solidFill>
                <a:latin typeface="Sylfaen" panose="010A0502050306030303" pitchFamily="18" charset="0"/>
              </a:rPr>
              <a:t>ո</a:t>
            </a:r>
            <a:r>
              <a:rPr lang="hy-AM" altLang="en-US" sz="2800" b="1">
                <a:solidFill>
                  <a:srgbClr val="16165D"/>
                </a:solidFill>
                <a:latin typeface="Sylfaen" panose="010A0502050306030303" pitchFamily="18" charset="0"/>
              </a:rPr>
              <a:t>ւ</a:t>
            </a:r>
            <a:r>
              <a:rPr lang="en-US" altLang="en-US" sz="2800" b="1">
                <a:solidFill>
                  <a:srgbClr val="16165D"/>
                </a:solidFill>
                <a:latin typeface="Sylfaen" panose="010A0502050306030303" pitchFamily="18" charset="0"/>
              </a:rPr>
              <a:t>թ</a:t>
            </a:r>
            <a:r>
              <a:rPr lang="hy-AM" altLang="en-US" sz="2800" b="1">
                <a:solidFill>
                  <a:srgbClr val="16165D"/>
                </a:solidFill>
                <a:latin typeface="Sylfaen" panose="010A0502050306030303" pitchFamily="18" charset="0"/>
              </a:rPr>
              <a:t>յ</a:t>
            </a:r>
            <a:r>
              <a:rPr lang="en-US" altLang="en-US" sz="2800" b="1">
                <a:solidFill>
                  <a:srgbClr val="16165D"/>
                </a:solidFill>
                <a:latin typeface="Sylfaen" panose="010A0502050306030303" pitchFamily="18" charset="0"/>
              </a:rPr>
              <a:t>ա</a:t>
            </a:r>
            <a:r>
              <a:rPr lang="hy-AM" altLang="en-US" sz="2800" b="1">
                <a:solidFill>
                  <a:srgbClr val="16165D"/>
                </a:solidFill>
                <a:latin typeface="Sylfaen" panose="010A0502050306030303" pitchFamily="18" charset="0"/>
              </a:rPr>
              <a:t>ն</a:t>
            </a:r>
            <a:r>
              <a:rPr lang="en-US" altLang="en-US" sz="2800" b="1">
                <a:solidFill>
                  <a:srgbClr val="16165D"/>
                </a:solidFill>
                <a:latin typeface="Sylfaen" panose="010A0502050306030303" pitchFamily="18" charset="0"/>
              </a:rPr>
              <a:t> </a:t>
            </a:r>
            <a:r>
              <a:rPr lang="hy-AM" altLang="en-US" sz="2800" b="1">
                <a:solidFill>
                  <a:srgbClr val="16165D"/>
                </a:solidFill>
                <a:latin typeface="Sylfaen" panose="010A0502050306030303" pitchFamily="18" charset="0"/>
              </a:rPr>
              <a:t>ց</a:t>
            </a:r>
            <a:r>
              <a:rPr lang="en-US" altLang="en-US" sz="2800" b="1">
                <a:solidFill>
                  <a:srgbClr val="16165D"/>
                </a:solidFill>
                <a:latin typeface="Sylfaen" panose="010A0502050306030303" pitchFamily="18" charset="0"/>
              </a:rPr>
              <a:t>ա</a:t>
            </a:r>
            <a:r>
              <a:rPr lang="hy-AM" altLang="en-US" sz="2800" b="1">
                <a:solidFill>
                  <a:srgbClr val="16165D"/>
                </a:solidFill>
                <a:latin typeface="Sylfaen" panose="010A0502050306030303" pitchFamily="18" charset="0"/>
              </a:rPr>
              <a:t>ն</a:t>
            </a:r>
            <a:r>
              <a:rPr lang="en-US" altLang="en-US" sz="2800" b="1">
                <a:solidFill>
                  <a:srgbClr val="16165D"/>
                </a:solidFill>
                <a:latin typeface="Sylfaen" panose="010A0502050306030303" pitchFamily="18" charset="0"/>
              </a:rPr>
              <a:t>կ</a:t>
            </a:r>
            <a:endParaRPr lang="en-US" altLang="en-US" sz="2800" b="1">
              <a:latin typeface="Sylfaen" panose="010A0502050306030303" pitchFamily="18" charset="0"/>
            </a:endParaRPr>
          </a:p>
        </p:txBody>
      </p:sp>
      <p:sp>
        <p:nvSpPr>
          <p:cNvPr id="38915" name="TextBox 1">
            <a:extLst>
              <a:ext uri="{FF2B5EF4-FFF2-40B4-BE49-F238E27FC236}">
                <a16:creationId xmlns:a16="http://schemas.microsoft.com/office/drawing/2014/main" id="{76E10D1B-5D78-2BA1-7553-D05F33E9C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24544" y="850820"/>
            <a:ext cx="9289032" cy="587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Arial Unicode" pitchFamily="34" charset="0"/>
                <a:cs typeface="Arial Unicode" pitchFamily="34" charset="0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hy-AM" sz="1800" u="sng" dirty="0">
                <a:solidFill>
                  <a:srgbClr val="321B6B"/>
                </a:solidFill>
                <a:latin typeface="Sylfaen" panose="010A0502050306030303" pitchFamily="18" charset="0"/>
              </a:rPr>
              <a:t>https://www.mdpi.com/2076-3417/12/4/2192</a:t>
            </a:r>
            <a:endParaRPr lang="en-US" sz="1800" dirty="0">
              <a:solidFill>
                <a:srgbClr val="321B6B"/>
              </a:solidFill>
              <a:latin typeface="Sylfaen" panose="010A05020503060303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hy-AM" sz="1800" u="sng" dirty="0">
                <a:solidFill>
                  <a:srgbClr val="321B6B"/>
                </a:solidFill>
                <a:latin typeface="Sylfaen" panose="010A0502050306030303" pitchFamily="18" charset="0"/>
              </a:rPr>
              <a:t>https://www.researchgate.net/publication/323821745_Machine_Learning_Applications_in_Physical_Design_Recent_Results_and_Directions</a:t>
            </a:r>
            <a:endParaRPr lang="en-US" sz="1800" dirty="0">
              <a:solidFill>
                <a:srgbClr val="321B6B"/>
              </a:solidFill>
              <a:latin typeface="Sylfaen" panose="010A05020503060303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hy-AM" sz="1800" u="sng" dirty="0">
                <a:solidFill>
                  <a:srgbClr val="321B6B"/>
                </a:solidFill>
                <a:latin typeface="Sylfaen" panose="010A0502050306030303" pitchFamily="18" charset="0"/>
              </a:rPr>
              <a:t>https://research.nvidia.com/sites/default/files/pubs/2018-11_RouteNet:-routability-prediction/a80-xie.pdf</a:t>
            </a:r>
            <a:endParaRPr lang="en-US" sz="1800" dirty="0">
              <a:solidFill>
                <a:srgbClr val="321B6B"/>
              </a:solidFill>
              <a:latin typeface="Sylfaen" panose="010A05020503060303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hy-AM" sz="1800" u="sng" dirty="0">
                <a:solidFill>
                  <a:srgbClr val="321B6B"/>
                </a:solidFill>
                <a:latin typeface="Sylfaen" panose="010A0502050306030303" pitchFamily="18" charset="0"/>
              </a:rPr>
              <a:t>https://arxiv.org/abs/1505.04597</a:t>
            </a:r>
            <a:r>
              <a:rPr lang="hy-AM" sz="1800" dirty="0">
                <a:solidFill>
                  <a:srgbClr val="321B6B"/>
                </a:solidFill>
                <a:latin typeface="Sylfaen" panose="010A0502050306030303" pitchFamily="18" charset="0"/>
              </a:rPr>
              <a:t> </a:t>
            </a:r>
            <a:endParaRPr lang="en-US" sz="1800" dirty="0">
              <a:solidFill>
                <a:srgbClr val="321B6B"/>
              </a:solidFill>
              <a:latin typeface="Sylfaen" panose="010A05020503060303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hy-AM" sz="1800" u="sng" dirty="0">
                <a:solidFill>
                  <a:srgbClr val="321B6B"/>
                </a:solidFill>
                <a:latin typeface="Sylfaen" panose="010A0502050306030303" pitchFamily="18" charset="0"/>
              </a:rPr>
              <a:t>https://dl.acm.org/doi/10.1145/3694968</a:t>
            </a:r>
            <a:r>
              <a:rPr lang="hy-AM" sz="1800" dirty="0">
                <a:solidFill>
                  <a:srgbClr val="321B6B"/>
                </a:solidFill>
                <a:latin typeface="Sylfaen" panose="010A0502050306030303" pitchFamily="18" charset="0"/>
              </a:rPr>
              <a:t> </a:t>
            </a:r>
            <a:endParaRPr lang="en-US" sz="1800" dirty="0">
              <a:solidFill>
                <a:srgbClr val="321B6B"/>
              </a:solidFill>
              <a:latin typeface="Sylfaen" panose="010A05020503060303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321B6B"/>
                </a:solidFill>
                <a:latin typeface="Sylfaen" panose="010A0502050306030303" pitchFamily="18" charset="0"/>
              </a:rPr>
              <a:t>https://www.upgrad.com/blog/neural-network-architecture-components-algorithms/</a:t>
            </a:r>
            <a:endParaRPr lang="en-US" sz="1800" dirty="0">
              <a:solidFill>
                <a:srgbClr val="321B6B"/>
              </a:solidFill>
              <a:latin typeface="Sylfaen" panose="010A05020503060303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321B6B"/>
                </a:solidFill>
                <a:latin typeface="Sylfaen" panose="010A0502050306030303" pitchFamily="18" charset="0"/>
              </a:rPr>
              <a:t>Géron</a:t>
            </a:r>
            <a:r>
              <a:rPr lang="en-US" sz="1800" dirty="0">
                <a:solidFill>
                  <a:srgbClr val="321B6B"/>
                </a:solidFill>
                <a:latin typeface="Sylfaen" panose="010A0502050306030303" pitchFamily="18" charset="0"/>
              </a:rPr>
              <a:t> A. Hands-On Machine Learning with Scikit-Learn, </a:t>
            </a:r>
            <a:r>
              <a:rPr lang="en-US" sz="1800" dirty="0" err="1">
                <a:solidFill>
                  <a:srgbClr val="321B6B"/>
                </a:solidFill>
                <a:latin typeface="Sylfaen" panose="010A0502050306030303" pitchFamily="18" charset="0"/>
              </a:rPr>
              <a:t>Keras</a:t>
            </a:r>
            <a:r>
              <a:rPr lang="en-US" sz="1800" dirty="0">
                <a:solidFill>
                  <a:srgbClr val="321B6B"/>
                </a:solidFill>
                <a:latin typeface="Sylfaen" panose="010A0502050306030303" pitchFamily="18" charset="0"/>
              </a:rPr>
              <a:t>, and TensorFlow</a:t>
            </a:r>
            <a:r>
              <a:rPr lang="hy-AM" sz="1800" dirty="0">
                <a:solidFill>
                  <a:srgbClr val="321B6B"/>
                </a:solidFill>
                <a:latin typeface="Sylfaen" panose="010A0502050306030303" pitchFamily="18" charset="0"/>
              </a:rPr>
              <a:t>: </a:t>
            </a:r>
            <a:r>
              <a:rPr lang="en-US" sz="1800" dirty="0">
                <a:solidFill>
                  <a:srgbClr val="321B6B"/>
                </a:solidFill>
                <a:latin typeface="Sylfaen" panose="010A0502050306030303" pitchFamily="18" charset="0"/>
              </a:rPr>
              <a:t>O’Reilly Media, Inc., 1005 Gravenstein Highway North, Sebastopol, CA 95472, </a:t>
            </a:r>
            <a:r>
              <a:rPr lang="hy-AM" sz="1800" dirty="0">
                <a:solidFill>
                  <a:srgbClr val="321B6B"/>
                </a:solidFill>
                <a:latin typeface="Sylfaen" panose="010A0502050306030303" pitchFamily="18" charset="0"/>
              </a:rPr>
              <a:t>2023. -462-548p.</a:t>
            </a:r>
            <a:endParaRPr lang="en-US" sz="1800" dirty="0">
              <a:solidFill>
                <a:srgbClr val="321B6B"/>
              </a:solidFill>
              <a:latin typeface="Sylfaen" panose="010A05020503060303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hy-AM" sz="1800" u="sng" dirty="0">
                <a:solidFill>
                  <a:srgbClr val="321B6B"/>
                </a:solidFill>
                <a:latin typeface="Sylfaen" panose="010A0502050306030303" pitchFamily="18" charset="0"/>
              </a:rPr>
              <a:t>https://www.ibm.com/think/topics/regularization</a:t>
            </a:r>
            <a:endParaRPr lang="en-US" sz="1800" dirty="0">
              <a:solidFill>
                <a:srgbClr val="321B6B"/>
              </a:solidFill>
              <a:latin typeface="Sylfaen" panose="010A05020503060303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hy-AM" sz="1800" u="sng" dirty="0">
                <a:solidFill>
                  <a:srgbClr val="321B6B"/>
                </a:solidFill>
                <a:latin typeface="Sylfaen" panose="010A0502050306030303" pitchFamily="18" charset="0"/>
              </a:rPr>
              <a:t>https://www.geeksforgeeks.org/machine-learning/introduction-convolution-neural-network/</a:t>
            </a:r>
            <a:r>
              <a:rPr lang="hy-AM" sz="1800" dirty="0">
                <a:solidFill>
                  <a:srgbClr val="321B6B"/>
                </a:solidFill>
                <a:latin typeface="Sylfaen" panose="010A0502050306030303" pitchFamily="18" charset="0"/>
              </a:rPr>
              <a:t> </a:t>
            </a:r>
            <a:endParaRPr lang="en-US" sz="1800" dirty="0">
              <a:solidFill>
                <a:srgbClr val="321B6B"/>
              </a:solidFill>
              <a:latin typeface="Sylfaen" panose="010A05020503060303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hy-AM" sz="1800" u="sng" dirty="0">
                <a:solidFill>
                  <a:srgbClr val="321B6B"/>
                </a:solidFill>
                <a:latin typeface="Sylfaen" panose="010A0502050306030303" pitchFamily="18" charset="0"/>
              </a:rPr>
              <a:t>https://www.researchgate.net/publication/221339455_Fast_and_Accurate_Routing_Demand_Estimation_for_Efficient_Routability-driven_Placement</a:t>
            </a:r>
            <a:r>
              <a:rPr lang="hy-AM" sz="1800" dirty="0">
                <a:solidFill>
                  <a:srgbClr val="321B6B"/>
                </a:solidFill>
                <a:latin typeface="Sylfaen" panose="010A0502050306030303" pitchFamily="18" charset="0"/>
              </a:rPr>
              <a:t> </a:t>
            </a:r>
            <a:endParaRPr lang="en-US" sz="1800" dirty="0">
              <a:solidFill>
                <a:srgbClr val="321B6B"/>
              </a:solidFill>
              <a:latin typeface="Sylfaen" panose="010A05020503060303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hy-AM" sz="1800" u="sng" dirty="0">
                <a:solidFill>
                  <a:srgbClr val="321B6B"/>
                </a:solidFill>
                <a:latin typeface="Sylfaen" panose="010A0502050306030303" pitchFamily="18" charset="0"/>
              </a:rPr>
              <a:t>https://www.geeksforgeeks.org/deep-learning/neural-networks-a-beginners-guide/</a:t>
            </a:r>
            <a:r>
              <a:rPr lang="hy-AM" sz="1800" dirty="0">
                <a:solidFill>
                  <a:srgbClr val="321B6B"/>
                </a:solidFill>
                <a:latin typeface="Sylfaen" panose="010A0502050306030303" pitchFamily="18" charset="0"/>
              </a:rPr>
              <a:t> </a:t>
            </a:r>
            <a:endParaRPr lang="en-US" sz="1800" dirty="0">
              <a:solidFill>
                <a:srgbClr val="321B6B"/>
              </a:solidFill>
              <a:latin typeface="Sylfaen" panose="010A05020503060303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hy-AM" sz="1800" u="sng" dirty="0">
                <a:solidFill>
                  <a:srgbClr val="321B6B"/>
                </a:solidFill>
                <a:latin typeface="Sylfaen" panose="010A0502050306030303" pitchFamily="18" charset="0"/>
              </a:rPr>
              <a:t>https://circuitnet.github.io/tutorial/experiment_tutorial.html#drc-violation-prediction</a:t>
            </a:r>
            <a:r>
              <a:rPr lang="hy-AM" sz="1800" dirty="0">
                <a:solidFill>
                  <a:srgbClr val="321B6B"/>
                </a:solidFill>
                <a:latin typeface="Sylfaen" panose="010A0502050306030303" pitchFamily="18" charset="0"/>
              </a:rPr>
              <a:t> </a:t>
            </a:r>
            <a:endParaRPr lang="en-US" sz="1800" dirty="0">
              <a:solidFill>
                <a:srgbClr val="321B6B"/>
              </a:solidFill>
              <a:latin typeface="Sylfaen" panose="010A050205030603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321B6B"/>
              </a:solidFill>
              <a:latin typeface="Sylfaen" panose="010A050205030603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hy-AM" altLang="en-US" sz="1800" dirty="0">
              <a:solidFill>
                <a:srgbClr val="321B6B"/>
              </a:solidFill>
              <a:latin typeface="Sylfaen" panose="010A0502050306030303" pitchFamily="18" charset="0"/>
            </a:endParaRPr>
          </a:p>
          <a:p>
            <a:endParaRPr lang="en-US" altLang="en-US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hape 218">
            <a:extLst>
              <a:ext uri="{FF2B5EF4-FFF2-40B4-BE49-F238E27FC236}">
                <a16:creationId xmlns:a16="http://schemas.microsoft.com/office/drawing/2014/main" id="{E6E15E15-5CB7-87C1-96F9-1E669CE94B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0375" y="2859087"/>
            <a:ext cx="8223250" cy="1139825"/>
          </a:xfrm>
        </p:spPr>
        <p:txBody>
          <a:bodyPr/>
          <a:lstStyle/>
          <a:p>
            <a:pPr>
              <a:buSzPct val="25000"/>
            </a:pPr>
            <a:r>
              <a:rPr lang="en-US" altLang="en-US" sz="4600" b="1" dirty="0" err="1">
                <a:solidFill>
                  <a:srgbClr val="191966"/>
                </a:solidFill>
                <a:sym typeface="Arial" panose="020B0604020202020204" pitchFamily="34" charset="0"/>
              </a:rPr>
              <a:t>Շնորհակալություն</a:t>
            </a:r>
            <a:endParaRPr lang="en-US" altLang="en-US" sz="4600" b="1" dirty="0">
              <a:solidFill>
                <a:srgbClr val="191966"/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NOPSYS:STMTNUMBER" val="4"/>
</p:tagLst>
</file>

<file path=ppt/theme/theme1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 Unicode"/>
        <a:ea typeface="Arial Unicode"/>
        <a:cs typeface="Arial Unicode"/>
      </a:majorFont>
      <a:minorFont>
        <a:latin typeface="Arial Unicode"/>
        <a:ea typeface="Arial Unicode"/>
        <a:cs typeface="Arial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6">
              <a:lumMod val="75000"/>
            </a:schemeClr>
          </a:solidFill>
        </a:ln>
      </a:spPr>
      <a:bodyPr wrap="none" rtlCol="0" anchor="ctr">
        <a:spAutoFit/>
      </a:bodyPr>
      <a:lstStyle>
        <a:defPPr algn="ctr">
          <a:defRPr dirty="0" smtClean="0">
            <a:solidFill>
              <a:schemeClr val="tx1"/>
            </a:solidFill>
          </a:defRPr>
        </a:defPPr>
      </a:lstStyle>
    </a:spDef>
    <a:lnDef>
      <a:spPr bwMode="auto">
        <a:noFill/>
        <a:ln w="12700">
          <a:solidFill>
            <a:srgbClr val="537000"/>
          </a:solidFill>
          <a:miter lim="800000"/>
          <a:headEnd/>
          <a:tailEnd type="arrow"/>
        </a:ln>
      </a:spPr>
      <a:bodyPr/>
      <a:lstStyle/>
    </a:lnDef>
    <a:txDef>
      <a:spPr>
        <a:solidFill>
          <a:schemeClr val="bg1"/>
        </a:solidFill>
        <a:ln w="19050">
          <a:solidFill>
            <a:srgbClr val="321B6B"/>
          </a:solidFill>
        </a:ln>
      </a:spPr>
      <a:bodyPr wrap="square" rtlCol="0">
        <a:spAutoFit/>
      </a:bodyPr>
      <a:lstStyle>
        <a:defPPr algn="ctr">
          <a:defRPr sz="1600" dirty="0" smtClean="0">
            <a:solidFill>
              <a:srgbClr val="321B6B"/>
            </a:solidFill>
          </a:defRPr>
        </a:defPPr>
      </a:lstStyle>
    </a:tx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30878</TotalTime>
  <Words>3333</Words>
  <Application>Microsoft Office PowerPoint</Application>
  <PresentationFormat>On-screen Show (4:3)</PresentationFormat>
  <Paragraphs>220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Arial Armenian</vt:lpstr>
      <vt:lpstr>Arial Unicode</vt:lpstr>
      <vt:lpstr>Calibri</vt:lpstr>
      <vt:lpstr>Calibri Light</vt:lpstr>
      <vt:lpstr>GHEA Grapalat</vt:lpstr>
      <vt:lpstr>Sylfaen</vt:lpstr>
      <vt:lpstr>Times New Roman</vt:lpstr>
      <vt:lpstr>Wingdings</vt:lpstr>
      <vt:lpstr>1_Office Theme</vt:lpstr>
      <vt:lpstr>Custom Design</vt:lpstr>
      <vt:lpstr>Փաթույթային նեյրոնային ցանցերի միջոցով ինտեգրալ սխեմաների ֆիզիկական նախագծման կանոնների ավտոմատ ստուգման ծրագրային միջոցի մշակումը</vt:lpstr>
      <vt:lpstr>Բովանդակություն</vt:lpstr>
      <vt:lpstr>Ներածություն</vt:lpstr>
      <vt:lpstr>Ներածություն (2)</vt:lpstr>
      <vt:lpstr>Գրականության ակնարկ </vt:lpstr>
      <vt:lpstr>Գրականության ակնարկ (2)</vt:lpstr>
      <vt:lpstr>Խնդրի դրվածք</vt:lpstr>
      <vt:lpstr>Տեսական առնչություններ</vt:lpstr>
      <vt:lpstr>Տեսական առնչություններ (2)</vt:lpstr>
      <vt:lpstr>Ծրագրային իրականացում </vt:lpstr>
      <vt:lpstr>Գրաֆիկական ինտերֆեյս</vt:lpstr>
      <vt:lpstr>Գրաֆիկական ինտերֆեյս (2)</vt:lpstr>
      <vt:lpstr>Գրաֆիկական ինտերֆեյս (3)</vt:lpstr>
      <vt:lpstr>Գրաֆիկական ինտերֆեյս (4)</vt:lpstr>
      <vt:lpstr>Փորձնական հետազոտություններ</vt:lpstr>
      <vt:lpstr>Փորձնական հետազոտություններ (2)</vt:lpstr>
      <vt:lpstr>Եզրակացություն</vt:lpstr>
      <vt:lpstr>PowerPoint Presentation</vt:lpstr>
      <vt:lpstr>Շնորհակալություն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 նանոմետր տեխնոլոգիական գործընթացի համար MIPS պրոցեսորի նախագծումը</dc:title>
  <dc:creator>Mane Sharopetrosian</dc:creator>
  <cp:lastModifiedBy>Mane Sharopetrosian</cp:lastModifiedBy>
  <cp:revision>463</cp:revision>
  <dcterms:created xsi:type="dcterms:W3CDTF">2020-04-16T12:18:09Z</dcterms:created>
  <dcterms:modified xsi:type="dcterms:W3CDTF">2026-04-14T20:40:45Z</dcterms:modified>
</cp:coreProperties>
</file>